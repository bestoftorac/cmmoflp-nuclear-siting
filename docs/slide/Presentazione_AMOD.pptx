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embedTrueTypeFonts="1" saveSubsetFonts="1" autoCompressPictures="0">
  <p:sldMasterIdLst>
    <p:sldMasterId id="2147483648" r:id="rId4"/>
  </p:sldMasterIdLst>
  <p:notesMasterIdLst>
    <p:notesMasterId r:id="rId19"/>
  </p:notesMasterIdLst>
  <p:sldIdLst>
    <p:sldId id="404" r:id="rId5"/>
    <p:sldId id="257" r:id="rId6"/>
    <p:sldId id="256" r:id="rId7"/>
    <p:sldId id="409" r:id="rId8"/>
    <p:sldId id="410" r:id="rId9"/>
    <p:sldId id="411" r:id="rId10"/>
    <p:sldId id="412" r:id="rId11"/>
    <p:sldId id="413" r:id="rId12"/>
    <p:sldId id="414" r:id="rId13"/>
    <p:sldId id="415" r:id="rId14"/>
    <p:sldId id="416" r:id="rId15"/>
    <p:sldId id="417" r:id="rId16"/>
    <p:sldId id="418" r:id="rId17"/>
    <p:sldId id="401" r:id="rId18"/>
  </p:sldIdLst>
  <p:sldSz cx="12192000" cy="6858000"/>
  <p:notesSz cx="7104063" cy="10234613"/>
  <p:embeddedFontLst>
    <p:embeddedFont>
      <p:font typeface="Cambria Math" panose="02040503050406030204" pitchFamily="18" charset="0"/>
      <p:regular r:id="rId20"/>
    </p:embeddedFont>
    <p:embeddedFont>
      <p:font typeface="Wingdings 3" panose="05040102010807070707" pitchFamily="18" charset="2"/>
      <p:regular r:id="rId21"/>
    </p:embeddedFont>
  </p:embeddedFontLst>
  <p:custDataLst>
    <p:tags r:id="rId22"/>
  </p:custData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08922"/>
    <a:srgbClr val="1D8BC2"/>
    <a:srgbClr val="007D34"/>
    <a:srgbClr val="00843E"/>
    <a:srgbClr val="5165B4"/>
    <a:srgbClr val="FFFFFF"/>
    <a:srgbClr val="898989"/>
    <a:srgbClr val="79C25A"/>
    <a:srgbClr val="CB87BA"/>
    <a:srgbClr val="23498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6327" autoAdjust="0"/>
  </p:normalViewPr>
  <p:slideViewPr>
    <p:cSldViewPr snapToGrid="0">
      <p:cViewPr varScale="1">
        <p:scale>
          <a:sx n="108" d="100"/>
          <a:sy n="108" d="100"/>
        </p:scale>
        <p:origin x="1344" y="108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  <p:sldLst>
      <p:sld r:id="rId1" collapse="1"/>
    </p:sldLst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6708"/>
    </p:cViewPr>
  </p:sorterViewPr>
  <p:notesViewPr>
    <p:cSldViewPr snapToGrid="0">
      <p:cViewPr varScale="1">
        <p:scale>
          <a:sx n="50" d="100"/>
          <a:sy n="50" d="100"/>
        </p:scale>
        <p:origin x="2640" y="2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tableStyles" Target="tableStyles.xml"/><Relationship Id="rId3" Type="http://schemas.openxmlformats.org/officeDocument/2006/relationships/customXml" Target="../customXml/item3.xml"/><Relationship Id="rId21" Type="http://schemas.openxmlformats.org/officeDocument/2006/relationships/font" Target="fonts/font2.fntdata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font" Target="fonts/font1.fntdata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viewProps" Target="view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presProps" Target="presProps.xml"/><Relationship Id="rId10" Type="http://schemas.openxmlformats.org/officeDocument/2006/relationships/slide" Target="slides/slide6.xml"/><Relationship Id="rId19" Type="http://schemas.openxmlformats.org/officeDocument/2006/relationships/notesMaster" Target="notesMasters/notes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tags" Target="tags/tag1.xml"/></Relationships>
</file>

<file path=ppt/_rels/viewProps.xml.rels><?xml version="1.0" encoding="UTF-8" standalone="yes"?>
<Relationships xmlns="http://schemas.openxmlformats.org/package/2006/relationships"><Relationship Id="rId1" Type="http://schemas.openxmlformats.org/officeDocument/2006/relationships/slide" Target="slides/slid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ntestazione 1"/>
          <p:cNvSpPr>
            <a:spLocks noGrp="1"/>
          </p:cNvSpPr>
          <p:nvPr>
            <p:ph type="hdr" sz="quarter"/>
          </p:nvPr>
        </p:nvSpPr>
        <p:spPr>
          <a:xfrm>
            <a:off x="0" y="1"/>
            <a:ext cx="3078427" cy="513508"/>
          </a:xfrm>
          <a:prstGeom prst="rect">
            <a:avLst/>
          </a:prstGeom>
        </p:spPr>
        <p:txBody>
          <a:bodyPr vert="horz" lIns="95399" tIns="47700" rIns="95399" bIns="47700" rtlCol="0"/>
          <a:lstStyle>
            <a:lvl1pPr algn="l">
              <a:defRPr sz="1300">
                <a:latin typeface="Circe" panose="020B0502020203020203" pitchFamily="34" charset="0"/>
              </a:defRPr>
            </a:lvl1pPr>
          </a:lstStyle>
          <a:p>
            <a:endParaRPr lang="it-IT" dirty="0"/>
          </a:p>
        </p:txBody>
      </p:sp>
      <p:sp>
        <p:nvSpPr>
          <p:cNvPr id="3" name="Segnaposto data 2"/>
          <p:cNvSpPr>
            <a:spLocks noGrp="1"/>
          </p:cNvSpPr>
          <p:nvPr>
            <p:ph type="dt" idx="1"/>
          </p:nvPr>
        </p:nvSpPr>
        <p:spPr>
          <a:xfrm>
            <a:off x="4023992" y="1"/>
            <a:ext cx="3078427" cy="513508"/>
          </a:xfrm>
          <a:prstGeom prst="rect">
            <a:avLst/>
          </a:prstGeom>
        </p:spPr>
        <p:txBody>
          <a:bodyPr vert="horz" lIns="95399" tIns="47700" rIns="95399" bIns="47700" rtlCol="0"/>
          <a:lstStyle>
            <a:lvl1pPr algn="r">
              <a:defRPr sz="1300">
                <a:latin typeface="Circe" panose="020B0502020203020203" pitchFamily="34" charset="0"/>
              </a:defRPr>
            </a:lvl1pPr>
          </a:lstStyle>
          <a:p>
            <a:fld id="{0CB47BFB-69F5-4E79-99AD-82B75EF675AA}" type="datetimeFigureOut">
              <a:rPr lang="it-IT" smtClean="0"/>
              <a:pPr/>
              <a:t>21/07/2026</a:t>
            </a:fld>
            <a:endParaRPr lang="it-IT" dirty="0"/>
          </a:p>
        </p:txBody>
      </p:sp>
      <p:sp>
        <p:nvSpPr>
          <p:cNvPr id="4" name="Segnaposto immagin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481013" y="1279525"/>
            <a:ext cx="6142037" cy="34544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5399" tIns="47700" rIns="95399" bIns="47700" rtlCol="0" anchor="ctr"/>
          <a:lstStyle/>
          <a:p>
            <a:endParaRPr lang="it-IT" dirty="0"/>
          </a:p>
        </p:txBody>
      </p:sp>
      <p:sp>
        <p:nvSpPr>
          <p:cNvPr id="5" name="Segnaposto note 4"/>
          <p:cNvSpPr>
            <a:spLocks noGrp="1"/>
          </p:cNvSpPr>
          <p:nvPr>
            <p:ph type="body" sz="quarter" idx="3"/>
          </p:nvPr>
        </p:nvSpPr>
        <p:spPr>
          <a:xfrm>
            <a:off x="710407" y="4925408"/>
            <a:ext cx="5683250" cy="4029879"/>
          </a:xfrm>
          <a:prstGeom prst="rect">
            <a:avLst/>
          </a:prstGeom>
        </p:spPr>
        <p:txBody>
          <a:bodyPr vert="horz" lIns="95399" tIns="47700" rIns="95399" bIns="47700" rtlCol="0"/>
          <a:lstStyle/>
          <a:p>
            <a:pPr lvl="0"/>
            <a:r>
              <a:rPr lang="it-IT" dirty="0"/>
              <a:t>Fare clic per modificare stili del testo dello schema</a:t>
            </a:r>
          </a:p>
          <a:p>
            <a:pPr lvl="1"/>
            <a:r>
              <a:rPr lang="it-IT" dirty="0"/>
              <a:t>Secondo livello</a:t>
            </a:r>
          </a:p>
          <a:p>
            <a:pPr lvl="2"/>
            <a:r>
              <a:rPr lang="it-IT" dirty="0"/>
              <a:t>Terzo livello</a:t>
            </a:r>
          </a:p>
          <a:p>
            <a:pPr lvl="3"/>
            <a:r>
              <a:rPr lang="it-IT" dirty="0"/>
              <a:t>Quarto livello</a:t>
            </a:r>
          </a:p>
          <a:p>
            <a:pPr lvl="4"/>
            <a:r>
              <a:rPr lang="it-IT" dirty="0"/>
              <a:t>Quinto livello</a:t>
            </a:r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4"/>
          </p:nvPr>
        </p:nvSpPr>
        <p:spPr>
          <a:xfrm>
            <a:off x="0" y="9721107"/>
            <a:ext cx="3078427" cy="513507"/>
          </a:xfrm>
          <a:prstGeom prst="rect">
            <a:avLst/>
          </a:prstGeom>
        </p:spPr>
        <p:txBody>
          <a:bodyPr vert="horz" lIns="95399" tIns="47700" rIns="95399" bIns="47700" rtlCol="0" anchor="b"/>
          <a:lstStyle>
            <a:lvl1pPr algn="l">
              <a:defRPr sz="1300">
                <a:latin typeface="Circe" panose="020B0502020203020203" pitchFamily="34" charset="0"/>
              </a:defRPr>
            </a:lvl1pPr>
          </a:lstStyle>
          <a:p>
            <a:endParaRPr lang="it-IT" dirty="0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5"/>
          </p:nvPr>
        </p:nvSpPr>
        <p:spPr>
          <a:xfrm>
            <a:off x="4023992" y="9721107"/>
            <a:ext cx="3078427" cy="513507"/>
          </a:xfrm>
          <a:prstGeom prst="rect">
            <a:avLst/>
          </a:prstGeom>
        </p:spPr>
        <p:txBody>
          <a:bodyPr vert="horz" lIns="95399" tIns="47700" rIns="95399" bIns="47700" rtlCol="0" anchor="b"/>
          <a:lstStyle>
            <a:lvl1pPr algn="r">
              <a:defRPr sz="1300">
                <a:latin typeface="Circe" panose="020B0502020203020203" pitchFamily="34" charset="0"/>
              </a:defRPr>
            </a:lvl1pPr>
          </a:lstStyle>
          <a:p>
            <a:fld id="{8E985342-32E4-4B60-965B-BC36838A0356}" type="slidenum">
              <a:rPr lang="it-IT" smtClean="0"/>
              <a:pPr/>
              <a:t>‹N›</a:t>
            </a:fld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299932321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Circe" panose="020B0502020203020203" pitchFamily="34" charset="0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Circe" panose="020B0502020203020203" pitchFamily="34" charset="0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Circe" panose="020B0502020203020203" pitchFamily="34" charset="0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Circe" panose="020B0502020203020203" pitchFamily="34" charset="0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Circe" panose="020B0502020203020203" pitchFamily="34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E985342-32E4-4B60-965B-BC36838A0356}" type="slidenum">
              <a:rPr lang="it-IT" smtClean="0"/>
              <a:pPr/>
              <a:t>1</a:t>
            </a:fld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329843861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615100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691141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388822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945628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826755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093241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671763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822491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Fonti: README e docs/results.md del repository CMMOFLP-Nuclear-Siting.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294701891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636588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291247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560395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pertina princip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ttangolo 8">
            <a:extLst>
              <a:ext uri="{FF2B5EF4-FFF2-40B4-BE49-F238E27FC236}">
                <a16:creationId xmlns:a16="http://schemas.microsoft.com/office/drawing/2014/main" id="{1609C862-AF15-4379-8453-A7F385A7CAC6}"/>
              </a:ext>
            </a:extLst>
          </p:cNvPr>
          <p:cNvSpPr/>
          <p:nvPr userDrawn="1"/>
        </p:nvSpPr>
        <p:spPr>
          <a:xfrm>
            <a:off x="0" y="3316941"/>
            <a:ext cx="12192000" cy="3537284"/>
          </a:xfrm>
          <a:prstGeom prst="rect">
            <a:avLst/>
          </a:prstGeom>
          <a:solidFill>
            <a:srgbClr val="007D34"/>
          </a:solidFill>
          <a:ln>
            <a:solidFill>
              <a:srgbClr val="007C3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it-IT" noProof="1">
              <a:highlight>
                <a:srgbClr val="FFFF00"/>
              </a:highlight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142875" y="3392626"/>
            <a:ext cx="11210697" cy="1646302"/>
          </a:xfrm>
          <a:prstGeom prst="rect">
            <a:avLst/>
          </a:prstGeom>
        </p:spPr>
        <p:txBody>
          <a:bodyPr anchor="b">
            <a:noAutofit/>
          </a:bodyPr>
          <a:lstStyle>
            <a:lvl1pPr algn="r">
              <a:lnSpc>
                <a:spcPct val="80000"/>
              </a:lnSpc>
              <a:defRPr sz="5400">
                <a:solidFill>
                  <a:schemeClr val="bg1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defRPr>
            </a:lvl1pPr>
          </a:lstStyle>
          <a:p>
            <a:r>
              <a:rPr lang="it-IT" noProof="1"/>
              <a:t>Titolo copertina principale, </a:t>
            </a:r>
            <a:br>
              <a:rPr lang="it-IT" noProof="1"/>
            </a:br>
            <a:r>
              <a:rPr lang="it-IT" noProof="1"/>
              <a:t>iniziale maiuscola</a:t>
            </a:r>
          </a:p>
        </p:txBody>
      </p:sp>
      <p:sp>
        <p:nvSpPr>
          <p:cNvPr id="15" name="Segnaposto testo 14"/>
          <p:cNvSpPr>
            <a:spLocks noGrp="1"/>
          </p:cNvSpPr>
          <p:nvPr>
            <p:ph type="body" sz="quarter" idx="13" hasCustomPrompt="1"/>
          </p:nvPr>
        </p:nvSpPr>
        <p:spPr>
          <a:xfrm>
            <a:off x="115613" y="5815389"/>
            <a:ext cx="11237960" cy="598658"/>
          </a:xfrm>
        </p:spPr>
        <p:txBody>
          <a:bodyPr/>
          <a:lstStyle>
            <a:lvl1pPr marL="0" indent="0" algn="r">
              <a:spcBef>
                <a:spcPts val="0"/>
              </a:spcBef>
              <a:buFontTx/>
              <a:buNone/>
              <a:defRPr sz="1800" i="0">
                <a:solidFill>
                  <a:schemeClr val="bg1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it-IT" noProof="1"/>
              <a:t>Sommario copertina principale, </a:t>
            </a:r>
            <a:br>
              <a:rPr lang="it-IT" noProof="1"/>
            </a:br>
            <a:r>
              <a:rPr lang="it-IT" noProof="1"/>
              <a:t>iniziale maiuscola</a:t>
            </a:r>
          </a:p>
        </p:txBody>
      </p:sp>
      <p:sp>
        <p:nvSpPr>
          <p:cNvPr id="10" name="Rectangle 33">
            <a:extLst>
              <a:ext uri="{FF2B5EF4-FFF2-40B4-BE49-F238E27FC236}">
                <a16:creationId xmlns:a16="http://schemas.microsoft.com/office/drawing/2014/main" id="{1B765009-0D19-4168-ACF0-949EC4C4F709}"/>
              </a:ext>
            </a:extLst>
          </p:cNvPr>
          <p:cNvSpPr/>
          <p:nvPr userDrawn="1"/>
        </p:nvSpPr>
        <p:spPr>
          <a:xfrm>
            <a:off x="6871309" y="5010270"/>
            <a:ext cx="4455000" cy="59531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threePt" dir="t"/>
          </a:scene3d>
          <a:sp3d prstMaterial="matte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8405" tIns="19202" rIns="38405" bIns="19202" anchor="ctr"/>
          <a:lstStyle>
            <a:lvl1pPr>
              <a:defRPr sz="3600">
                <a:solidFill>
                  <a:schemeClr val="tx1"/>
                </a:solidFill>
                <a:latin typeface="Lato Light"/>
              </a:defRPr>
            </a:lvl1pPr>
            <a:lvl2pPr marL="742950" indent="-285750">
              <a:defRPr sz="3600">
                <a:solidFill>
                  <a:schemeClr val="tx1"/>
                </a:solidFill>
                <a:latin typeface="Lato Light"/>
              </a:defRPr>
            </a:lvl2pPr>
            <a:lvl3pPr marL="1143000" indent="-228600">
              <a:defRPr sz="3600">
                <a:solidFill>
                  <a:schemeClr val="tx1"/>
                </a:solidFill>
                <a:latin typeface="Lato Light"/>
              </a:defRPr>
            </a:lvl3pPr>
            <a:lvl4pPr marL="1600200" indent="-228600">
              <a:defRPr sz="3600">
                <a:solidFill>
                  <a:schemeClr val="tx1"/>
                </a:solidFill>
                <a:latin typeface="Lato Light"/>
              </a:defRPr>
            </a:lvl4pPr>
            <a:lvl5pPr marL="2057400" indent="-228600">
              <a:defRPr sz="3600">
                <a:solidFill>
                  <a:schemeClr val="tx1"/>
                </a:solidFill>
                <a:latin typeface="Lato Light"/>
              </a:defRPr>
            </a:lvl5pPr>
            <a:lvl6pPr marL="2514600" indent="-228600" defTabSz="1827213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Lato Light"/>
              </a:defRPr>
            </a:lvl6pPr>
            <a:lvl7pPr marL="2971800" indent="-228600" defTabSz="1827213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Lato Light"/>
              </a:defRPr>
            </a:lvl7pPr>
            <a:lvl8pPr marL="3429000" indent="-228600" defTabSz="1827213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Lato Light"/>
              </a:defRPr>
            </a:lvl8pPr>
            <a:lvl9pPr marL="3886200" indent="-228600" defTabSz="1827213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Lato Light"/>
              </a:defRPr>
            </a:lvl9pPr>
          </a:lstStyle>
          <a:p>
            <a:pPr algn="ctr" eaLnBrk="1" hangingPunct="1"/>
            <a:endParaRPr lang="it-IT" altLang="it-IT" dirty="0">
              <a:solidFill>
                <a:srgbClr val="494949"/>
              </a:solidFill>
              <a:latin typeface="Circe" panose="020B0502020203020203" pitchFamily="34" charset="0"/>
            </a:endParaRPr>
          </a:p>
        </p:txBody>
      </p:sp>
      <p:sp>
        <p:nvSpPr>
          <p:cNvPr id="5" name="Segnaposto testo 4">
            <a:extLst>
              <a:ext uri="{FF2B5EF4-FFF2-40B4-BE49-F238E27FC236}">
                <a16:creationId xmlns:a16="http://schemas.microsoft.com/office/drawing/2014/main" id="{5BD15BAD-D4DA-A848-F5D4-F933C99A6C8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15612" y="5192570"/>
            <a:ext cx="11210697" cy="500533"/>
          </a:xfrm>
        </p:spPr>
        <p:txBody>
          <a:bodyPr/>
          <a:lstStyle>
            <a:lvl1pPr marL="0" indent="0" algn="r">
              <a:buNone/>
              <a:defRPr sz="28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800"/>
            </a:lvl3pPr>
            <a:lvl4pPr marL="1371600" indent="0">
              <a:buNone/>
              <a:defRPr sz="2800"/>
            </a:lvl4pPr>
            <a:lvl5pPr marL="1828800" indent="0">
              <a:buNone/>
              <a:defRPr sz="2800"/>
            </a:lvl5pPr>
          </a:lstStyle>
          <a:p>
            <a:pPr lvl="0"/>
            <a:r>
              <a:rPr lang="it-IT" noProof="1"/>
              <a:t>Sottotitolo su una sola riga, iniziale maiuscola</a:t>
            </a:r>
          </a:p>
        </p:txBody>
      </p:sp>
      <p:pic>
        <p:nvPicPr>
          <p:cNvPr id="6" name="Immagine 5" descr="Immagine che contiene testo&#10;&#10;Descrizione generata automaticamente">
            <a:extLst>
              <a:ext uri="{FF2B5EF4-FFF2-40B4-BE49-F238E27FC236}">
                <a16:creationId xmlns:a16="http://schemas.microsoft.com/office/drawing/2014/main" id="{097F23D1-0394-23D3-AA26-676A7D7B1B85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533515" y="292697"/>
            <a:ext cx="4474983" cy="1065893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pertina alternativ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381000" y="2006714"/>
            <a:ext cx="10972572" cy="1646302"/>
          </a:xfrm>
          <a:prstGeom prst="rect">
            <a:avLst/>
          </a:prstGeom>
        </p:spPr>
        <p:txBody>
          <a:bodyPr anchor="b">
            <a:noAutofit/>
          </a:bodyPr>
          <a:lstStyle>
            <a:lvl1pPr algn="r">
              <a:defRPr sz="5400">
                <a:solidFill>
                  <a:srgbClr val="008236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defRPr>
            </a:lvl1pPr>
          </a:lstStyle>
          <a:p>
            <a:r>
              <a:rPr lang="it-IT" noProof="1"/>
              <a:t>Titolo copertina alternativa,</a:t>
            </a:r>
            <a:br>
              <a:rPr lang="it-IT" noProof="1"/>
            </a:br>
            <a:r>
              <a:rPr lang="it-IT" noProof="1"/>
              <a:t> iniziale maiuscola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381000" y="3653013"/>
            <a:ext cx="10972572" cy="1096899"/>
          </a:xfrm>
        </p:spPr>
        <p:txBody>
          <a:bodyPr anchor="t">
            <a:noAutofit/>
          </a:bodyPr>
          <a:lstStyle>
            <a:lvl1pPr marL="0" indent="0" algn="r">
              <a:buNone/>
              <a:defRPr sz="280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it-IT" noProof="1"/>
              <a:t>Sottotitolo copertina alternativa, </a:t>
            </a:r>
            <a:br>
              <a:rPr lang="it-IT" noProof="1"/>
            </a:br>
            <a:r>
              <a:rPr lang="it-IT" noProof="1"/>
              <a:t>iniziale maiuscola, anche su due righe</a:t>
            </a:r>
          </a:p>
        </p:txBody>
      </p:sp>
      <p:sp>
        <p:nvSpPr>
          <p:cNvPr id="15" name="Segnaposto testo 14"/>
          <p:cNvSpPr>
            <a:spLocks noGrp="1"/>
          </p:cNvSpPr>
          <p:nvPr>
            <p:ph type="body" sz="quarter" idx="13" hasCustomPrompt="1"/>
          </p:nvPr>
        </p:nvSpPr>
        <p:spPr>
          <a:xfrm>
            <a:off x="1042357" y="5208584"/>
            <a:ext cx="10327542" cy="598658"/>
          </a:xfrm>
        </p:spPr>
        <p:txBody>
          <a:bodyPr/>
          <a:lstStyle>
            <a:lvl1pPr marL="0" indent="0" algn="r">
              <a:spcBef>
                <a:spcPts val="0"/>
              </a:spcBef>
              <a:buFontTx/>
              <a:buNone/>
              <a:defRPr sz="1800" i="0">
                <a:solidFill>
                  <a:srgbClr val="7F7F7F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it-IT" noProof="1"/>
              <a:t>Sommario copertina alternativa, iniziale maiuscola</a:t>
            </a:r>
          </a:p>
        </p:txBody>
      </p:sp>
      <p:sp>
        <p:nvSpPr>
          <p:cNvPr id="9" name="Rettangolo 8">
            <a:extLst>
              <a:ext uri="{FF2B5EF4-FFF2-40B4-BE49-F238E27FC236}">
                <a16:creationId xmlns:a16="http://schemas.microsoft.com/office/drawing/2014/main" id="{1609C862-AF15-4379-8453-A7F385A7CAC6}"/>
              </a:ext>
            </a:extLst>
          </p:cNvPr>
          <p:cNvSpPr/>
          <p:nvPr userDrawn="1"/>
        </p:nvSpPr>
        <p:spPr>
          <a:xfrm>
            <a:off x="0" y="5988042"/>
            <a:ext cx="12192000" cy="902042"/>
          </a:xfrm>
          <a:prstGeom prst="rect">
            <a:avLst/>
          </a:prstGeom>
          <a:solidFill>
            <a:srgbClr val="007D34"/>
          </a:solidFill>
          <a:ln>
            <a:solidFill>
              <a:srgbClr val="007C3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GB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C59027B2-969D-4034-80E3-13F7D154C3BB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it-IT" noProof="1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69B1877A-0688-49A4-A239-A22CDC300E7E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it-IT" noProof="1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C4C7F8DC-574B-4826-BCB8-81E009A5A2A1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2E85A994-D622-47C4-BBB7-EA543E9BA793}" type="slidenum">
              <a:rPr lang="en-GB" smtClean="0"/>
              <a:pPr/>
              <a:t>‹N›</a:t>
            </a:fld>
            <a:endParaRPr lang="en-GB" dirty="0"/>
          </a:p>
        </p:txBody>
      </p:sp>
      <p:pic>
        <p:nvPicPr>
          <p:cNvPr id="10" name="Immagine 9" descr="Immagine che contiene testo&#10;&#10;Descrizione generata automaticamente">
            <a:extLst>
              <a:ext uri="{FF2B5EF4-FFF2-40B4-BE49-F238E27FC236}">
                <a16:creationId xmlns:a16="http://schemas.microsoft.com/office/drawing/2014/main" id="{8AA18942-FB69-168B-6136-5FABDD56BCD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90501" y="321756"/>
            <a:ext cx="4474983" cy="10658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125144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paratore di sezi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314321" y="2749672"/>
            <a:ext cx="10972572" cy="1646302"/>
          </a:xfrm>
          <a:prstGeom prst="rect">
            <a:avLst/>
          </a:prstGeom>
        </p:spPr>
        <p:txBody>
          <a:bodyPr anchor="b">
            <a:noAutofit/>
          </a:bodyPr>
          <a:lstStyle>
            <a:lvl1pPr algn="l">
              <a:defRPr sz="3600">
                <a:solidFill>
                  <a:srgbClr val="008236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defRPr>
            </a:lvl1pPr>
          </a:lstStyle>
          <a:p>
            <a:r>
              <a:rPr lang="it-IT" noProof="1"/>
              <a:t>Titolo sezione, iniziale maiuscola</a:t>
            </a:r>
          </a:p>
        </p:txBody>
      </p:sp>
      <p:sp>
        <p:nvSpPr>
          <p:cNvPr id="9" name="Rettangolo 8">
            <a:extLst>
              <a:ext uri="{FF2B5EF4-FFF2-40B4-BE49-F238E27FC236}">
                <a16:creationId xmlns:a16="http://schemas.microsoft.com/office/drawing/2014/main" id="{1609C862-AF15-4379-8453-A7F385A7CAC6}"/>
              </a:ext>
            </a:extLst>
          </p:cNvPr>
          <p:cNvSpPr/>
          <p:nvPr userDrawn="1"/>
        </p:nvSpPr>
        <p:spPr>
          <a:xfrm>
            <a:off x="0" y="5988042"/>
            <a:ext cx="12192000" cy="902042"/>
          </a:xfrm>
          <a:prstGeom prst="rect">
            <a:avLst/>
          </a:prstGeom>
          <a:solidFill>
            <a:srgbClr val="007C34"/>
          </a:solidFill>
          <a:ln>
            <a:solidFill>
              <a:srgbClr val="007C3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GB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3799A3DE-52BA-4601-9DF0-CEDC50E74B35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endParaRPr lang="it-IT" noProof="1"/>
          </a:p>
        </p:txBody>
      </p:sp>
      <p:sp>
        <p:nvSpPr>
          <p:cNvPr id="8" name="Rectangle 33">
            <a:extLst>
              <a:ext uri="{FF2B5EF4-FFF2-40B4-BE49-F238E27FC236}">
                <a16:creationId xmlns:a16="http://schemas.microsoft.com/office/drawing/2014/main" id="{4F428701-5455-4D8E-8C3C-08B05C8C13DB}"/>
              </a:ext>
            </a:extLst>
          </p:cNvPr>
          <p:cNvSpPr/>
          <p:nvPr userDrawn="1"/>
        </p:nvSpPr>
        <p:spPr>
          <a:xfrm>
            <a:off x="413351" y="4357806"/>
            <a:ext cx="4455000" cy="59531"/>
          </a:xfrm>
          <a:prstGeom prst="rect">
            <a:avLst/>
          </a:prstGeom>
          <a:solidFill>
            <a:srgbClr val="007D34"/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threePt" dir="t"/>
          </a:scene3d>
          <a:sp3d prstMaterial="matte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8405" tIns="19202" rIns="38405" bIns="19202" anchor="ctr"/>
          <a:lstStyle>
            <a:lvl1pPr>
              <a:defRPr sz="3600">
                <a:solidFill>
                  <a:schemeClr val="tx1"/>
                </a:solidFill>
                <a:latin typeface="Lato Light"/>
              </a:defRPr>
            </a:lvl1pPr>
            <a:lvl2pPr marL="742950" indent="-285750">
              <a:defRPr sz="3600">
                <a:solidFill>
                  <a:schemeClr val="tx1"/>
                </a:solidFill>
                <a:latin typeface="Lato Light"/>
              </a:defRPr>
            </a:lvl2pPr>
            <a:lvl3pPr marL="1143000" indent="-228600">
              <a:defRPr sz="3600">
                <a:solidFill>
                  <a:schemeClr val="tx1"/>
                </a:solidFill>
                <a:latin typeface="Lato Light"/>
              </a:defRPr>
            </a:lvl3pPr>
            <a:lvl4pPr marL="1600200" indent="-228600">
              <a:defRPr sz="3600">
                <a:solidFill>
                  <a:schemeClr val="tx1"/>
                </a:solidFill>
                <a:latin typeface="Lato Light"/>
              </a:defRPr>
            </a:lvl4pPr>
            <a:lvl5pPr marL="2057400" indent="-228600">
              <a:defRPr sz="3600">
                <a:solidFill>
                  <a:schemeClr val="tx1"/>
                </a:solidFill>
                <a:latin typeface="Lato Light"/>
              </a:defRPr>
            </a:lvl5pPr>
            <a:lvl6pPr marL="2514600" indent="-228600" defTabSz="1827213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Lato Light"/>
              </a:defRPr>
            </a:lvl6pPr>
            <a:lvl7pPr marL="2971800" indent="-228600" defTabSz="1827213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Lato Light"/>
              </a:defRPr>
            </a:lvl7pPr>
            <a:lvl8pPr marL="3429000" indent="-228600" defTabSz="1827213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Lato Light"/>
              </a:defRPr>
            </a:lvl8pPr>
            <a:lvl9pPr marL="3886200" indent="-228600" defTabSz="1827213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Lato Light"/>
              </a:defRPr>
            </a:lvl9pPr>
          </a:lstStyle>
          <a:p>
            <a:pPr algn="ctr" eaLnBrk="1" hangingPunct="1"/>
            <a:endParaRPr lang="it-IT" altLang="it-IT" dirty="0">
              <a:solidFill>
                <a:srgbClr val="494949"/>
              </a:solidFill>
              <a:latin typeface="Circe" panose="020B0502020203020203" pitchFamily="34" charset="0"/>
            </a:endParaRPr>
          </a:p>
        </p:txBody>
      </p:sp>
      <p:sp>
        <p:nvSpPr>
          <p:cNvPr id="10" name="Segnaposto testo 14">
            <a:extLst>
              <a:ext uri="{FF2B5EF4-FFF2-40B4-BE49-F238E27FC236}">
                <a16:creationId xmlns:a16="http://schemas.microsoft.com/office/drawing/2014/main" id="{3AE38998-11B5-4B18-B790-1B0A9F82DC2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23217" y="4446578"/>
            <a:ext cx="10327542" cy="598658"/>
          </a:xfrm>
        </p:spPr>
        <p:txBody>
          <a:bodyPr/>
          <a:lstStyle>
            <a:lvl1pPr marL="0" indent="0" algn="l">
              <a:spcBef>
                <a:spcPts val="0"/>
              </a:spcBef>
              <a:buFontTx/>
              <a:buNone/>
              <a:defRPr sz="1800" i="0">
                <a:solidFill>
                  <a:srgbClr val="7F7F7F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it-IT" noProof="1"/>
              <a:t>Sottotitolo sezione, iniziale maiuscola</a:t>
            </a:r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1CC72AFA-6C37-4A6C-92F8-7F74E28B8879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it-IT" noProof="1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9A06774F-8547-416A-88FE-7D8D7D48F2DE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2E85A994-D622-47C4-BBB7-EA543E9BA793}" type="slidenum">
              <a:rPr lang="en-GB" smtClean="0"/>
              <a:pPr/>
              <a:t>‹N›</a:t>
            </a:fld>
            <a:endParaRPr lang="en-GB" dirty="0"/>
          </a:p>
        </p:txBody>
      </p:sp>
      <p:pic>
        <p:nvPicPr>
          <p:cNvPr id="3" name="Immagine 2" descr="Immagine che contiene testo&#10;&#10;Descrizione generata automaticamente">
            <a:extLst>
              <a:ext uri="{FF2B5EF4-FFF2-40B4-BE49-F238E27FC236}">
                <a16:creationId xmlns:a16="http://schemas.microsoft.com/office/drawing/2014/main" id="{90F4F7D0-D604-5078-EB63-D2B3D082D79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90501" y="321756"/>
            <a:ext cx="4474983" cy="10658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266644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22858" y="313151"/>
            <a:ext cx="11750381" cy="926607"/>
          </a:xfrm>
          <a:prstGeom prst="rect">
            <a:avLst/>
          </a:prstGeom>
        </p:spPr>
        <p:txBody>
          <a:bodyPr anchor="b">
            <a:normAutofit/>
          </a:bodyPr>
          <a:lstStyle>
            <a:lvl1pPr>
              <a:defRPr sz="3600">
                <a:solidFill>
                  <a:srgbClr val="008236"/>
                </a:solidFill>
              </a:defRPr>
            </a:lvl1pPr>
          </a:lstStyle>
          <a:p>
            <a:r>
              <a:rPr lang="it-IT" noProof="1"/>
              <a:t>Titolo slide, iniziale maiuscola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/>
        <p:txBody>
          <a:bodyPr/>
          <a:lstStyle/>
          <a:p>
            <a:pPr lvl="0"/>
            <a:r>
              <a:rPr lang="it-IT" noProof="1"/>
              <a:t>Usare questo segnaposto per inserire il testo</a:t>
            </a:r>
          </a:p>
          <a:p>
            <a:pPr lvl="1"/>
            <a:r>
              <a:rPr lang="it-IT" noProof="1"/>
              <a:t>Secondo livello</a:t>
            </a:r>
          </a:p>
          <a:p>
            <a:pPr lvl="2"/>
            <a:r>
              <a:rPr lang="it-IT" noProof="1"/>
              <a:t>Terzo livello</a:t>
            </a:r>
          </a:p>
          <a:p>
            <a:pPr lvl="3"/>
            <a:r>
              <a:rPr lang="it-IT" noProof="1"/>
              <a:t>Quarto livello</a:t>
            </a:r>
          </a:p>
          <a:p>
            <a:pPr lvl="4"/>
            <a:r>
              <a:rPr lang="it-IT" noProof="1"/>
              <a:t>Quinto livello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5642F620-48F7-4BF4-AF7C-9BD8FE4100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it-IT" noProof="1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55D82E49-4AB8-44DF-BE90-CD599B3B74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 noProof="1"/>
          </a:p>
        </p:txBody>
      </p:sp>
      <p:sp>
        <p:nvSpPr>
          <p:cNvPr id="9" name="Segnaposto numero diapositiva 8">
            <a:extLst>
              <a:ext uri="{FF2B5EF4-FFF2-40B4-BE49-F238E27FC236}">
                <a16:creationId xmlns:a16="http://schemas.microsoft.com/office/drawing/2014/main" id="{2CE8861D-72D2-4A6B-B442-BA689AEFDA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85A994-D622-47C4-BBB7-EA543E9BA793}" type="slidenum">
              <a:rPr lang="en-GB" smtClean="0"/>
              <a:pPr/>
              <a:t>‹N›</a:t>
            </a:fld>
            <a:endParaRPr lang="en-GB" dirty="0"/>
          </a:p>
        </p:txBody>
      </p:sp>
      <p:sp>
        <p:nvSpPr>
          <p:cNvPr id="10" name="Rectangle 33">
            <a:extLst>
              <a:ext uri="{FF2B5EF4-FFF2-40B4-BE49-F238E27FC236}">
                <a16:creationId xmlns:a16="http://schemas.microsoft.com/office/drawing/2014/main" id="{2F917D6E-4485-410D-8608-488D7B0CF7A4}"/>
              </a:ext>
            </a:extLst>
          </p:cNvPr>
          <p:cNvSpPr/>
          <p:nvPr userDrawn="1"/>
        </p:nvSpPr>
        <p:spPr>
          <a:xfrm>
            <a:off x="413351" y="1190733"/>
            <a:ext cx="4455000" cy="59531"/>
          </a:xfrm>
          <a:prstGeom prst="rect">
            <a:avLst/>
          </a:prstGeom>
          <a:solidFill>
            <a:srgbClr val="007D34"/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threePt" dir="t"/>
          </a:scene3d>
          <a:sp3d prstMaterial="matte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8405" tIns="19202" rIns="38405" bIns="19202" anchor="ctr"/>
          <a:lstStyle>
            <a:lvl1pPr>
              <a:defRPr sz="3600">
                <a:solidFill>
                  <a:schemeClr val="tx1"/>
                </a:solidFill>
                <a:latin typeface="Lato Light"/>
              </a:defRPr>
            </a:lvl1pPr>
            <a:lvl2pPr marL="742950" indent="-285750">
              <a:defRPr sz="3600">
                <a:solidFill>
                  <a:schemeClr val="tx1"/>
                </a:solidFill>
                <a:latin typeface="Lato Light"/>
              </a:defRPr>
            </a:lvl2pPr>
            <a:lvl3pPr marL="1143000" indent="-228600">
              <a:defRPr sz="3600">
                <a:solidFill>
                  <a:schemeClr val="tx1"/>
                </a:solidFill>
                <a:latin typeface="Lato Light"/>
              </a:defRPr>
            </a:lvl3pPr>
            <a:lvl4pPr marL="1600200" indent="-228600">
              <a:defRPr sz="3600">
                <a:solidFill>
                  <a:schemeClr val="tx1"/>
                </a:solidFill>
                <a:latin typeface="Lato Light"/>
              </a:defRPr>
            </a:lvl4pPr>
            <a:lvl5pPr marL="2057400" indent="-228600">
              <a:defRPr sz="3600">
                <a:solidFill>
                  <a:schemeClr val="tx1"/>
                </a:solidFill>
                <a:latin typeface="Lato Light"/>
              </a:defRPr>
            </a:lvl5pPr>
            <a:lvl6pPr marL="2514600" indent="-228600" defTabSz="1827213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Lato Light"/>
              </a:defRPr>
            </a:lvl6pPr>
            <a:lvl7pPr marL="2971800" indent="-228600" defTabSz="1827213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Lato Light"/>
              </a:defRPr>
            </a:lvl7pPr>
            <a:lvl8pPr marL="3429000" indent="-228600" defTabSz="1827213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Lato Light"/>
              </a:defRPr>
            </a:lvl8pPr>
            <a:lvl9pPr marL="3886200" indent="-228600" defTabSz="1827213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Lato Light"/>
              </a:defRPr>
            </a:lvl9pPr>
          </a:lstStyle>
          <a:p>
            <a:pPr algn="ctr" eaLnBrk="1" hangingPunct="1"/>
            <a:endParaRPr lang="it-IT" altLang="it-IT" dirty="0">
              <a:solidFill>
                <a:srgbClr val="494949"/>
              </a:solidFill>
              <a:latin typeface="Circe" panose="020B0502020203020203" pitchFamily="34" charset="0"/>
            </a:endParaRPr>
          </a:p>
        </p:txBody>
      </p:sp>
      <p:pic>
        <p:nvPicPr>
          <p:cNvPr id="8" name="Immagine 7" descr="Immagine che contiene testo&#10;&#10;Descrizione generata automaticamente">
            <a:extLst>
              <a:ext uri="{FF2B5EF4-FFF2-40B4-BE49-F238E27FC236}">
                <a16:creationId xmlns:a16="http://schemas.microsoft.com/office/drawing/2014/main" id="{DD4355CE-43F3-E2F3-1E42-58F17107D76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041716" y="169031"/>
            <a:ext cx="2031523" cy="48388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inale con log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ttangolo 6">
            <a:extLst>
              <a:ext uri="{FF2B5EF4-FFF2-40B4-BE49-F238E27FC236}">
                <a16:creationId xmlns:a16="http://schemas.microsoft.com/office/drawing/2014/main" id="{28FA9BAE-5225-4915-B632-CD39F948C4D0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7D34"/>
          </a:solidFill>
          <a:ln>
            <a:solidFill>
              <a:srgbClr val="007C3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Segnaposto piè di pagina 2">
            <a:extLst>
              <a:ext uri="{FF2B5EF4-FFF2-40B4-BE49-F238E27FC236}">
                <a16:creationId xmlns:a16="http://schemas.microsoft.com/office/drawing/2014/main" id="{BB632E28-0F5F-4224-BFD4-B289347E61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 noProof="1"/>
          </a:p>
        </p:txBody>
      </p:sp>
      <p:pic>
        <p:nvPicPr>
          <p:cNvPr id="5" name="Immagine 4" descr="Immagine che contiene testo, logo&#10;&#10;Descrizione generata automaticamente">
            <a:extLst>
              <a:ext uri="{FF2B5EF4-FFF2-40B4-BE49-F238E27FC236}">
                <a16:creationId xmlns:a16="http://schemas.microsoft.com/office/drawing/2014/main" id="{DAD98857-7362-DDC3-F02A-55E15BA42A0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332653" y="2532611"/>
            <a:ext cx="7526694" cy="17927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56248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VG_MASTER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template_unzip/ppt/media/imag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89720" y="164592"/>
            <a:ext cx="2514600" cy="530352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411480" y="1179576"/>
            <a:ext cx="4480560" cy="54864"/>
          </a:xfrm>
          <a:prstGeom prst="rect">
            <a:avLst/>
          </a:prstGeom>
          <a:solidFill>
            <a:srgbClr val="007D34"/>
          </a:solidFill>
          <a:ln w="12700">
            <a:solidFill>
              <a:srgbClr val="007D34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4" name="Text 1"/>
          <p:cNvSpPr/>
          <p:nvPr/>
        </p:nvSpPr>
        <p:spPr>
          <a:xfrm>
            <a:off x="475488" y="6565392"/>
            <a:ext cx="43891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7F7F7F"/>
                </a:solidFill>
              </a:rPr>
              <a:t>Università degli Studi di Roma Tor Vergata</a:t>
            </a:r>
            <a:endParaRPr lang="en-US" sz="78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86032" y="653796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7F7F7F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517562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56711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 userDrawn="1">
            <p:ph type="body" idx="1"/>
          </p:nvPr>
        </p:nvSpPr>
        <p:spPr>
          <a:xfrm>
            <a:off x="651642" y="1487415"/>
            <a:ext cx="11421597" cy="4992043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it-IT" noProof="1"/>
              <a:t>Usare questo segnaposto per inserire il testo</a:t>
            </a:r>
          </a:p>
          <a:p>
            <a:pPr lvl="1"/>
            <a:r>
              <a:rPr lang="it-IT" noProof="1"/>
              <a:t>Secondo livello</a:t>
            </a:r>
          </a:p>
          <a:p>
            <a:pPr lvl="2"/>
            <a:r>
              <a:rPr lang="it-IT" noProof="1"/>
              <a:t>Terzo livello</a:t>
            </a:r>
          </a:p>
          <a:p>
            <a:pPr lvl="3"/>
            <a:r>
              <a:rPr lang="it-IT" noProof="1"/>
              <a:t>Quarto livello</a:t>
            </a:r>
          </a:p>
          <a:p>
            <a:pPr lvl="4"/>
            <a:r>
              <a:rPr lang="it-IT" noProof="1"/>
              <a:t>Quinto livello</a:t>
            </a:r>
          </a:p>
        </p:txBody>
      </p:sp>
      <p:sp>
        <p:nvSpPr>
          <p:cNvPr id="7" name="Rectangle 104">
            <a:extLst>
              <a:ext uri="{FF2B5EF4-FFF2-40B4-BE49-F238E27FC236}">
                <a16:creationId xmlns:a16="http://schemas.microsoft.com/office/drawing/2014/main" id="{96FC3130-6576-45EB-A2DA-6E884893F533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-2524715" y="-11113"/>
            <a:ext cx="2424702" cy="686911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lIns="180000" tIns="180000" rIns="180000" bIns="180000" anchor="ctr"/>
          <a:lstStyle>
            <a:lvl1pPr>
              <a:defRPr sz="2400">
                <a:solidFill>
                  <a:schemeClr val="tx1"/>
                </a:solidFill>
                <a:latin typeface="Trebuchet MS" pitchFamily="34" charset="0"/>
                <a:ea typeface="MS PGothic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rebuchet MS" pitchFamily="34" charset="0"/>
                <a:ea typeface="MS PGothic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rebuchet MS" pitchFamily="34" charset="0"/>
                <a:ea typeface="MS PGothic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rebuchet MS" pitchFamily="34" charset="0"/>
                <a:ea typeface="MS PGothic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rebuchet MS" pitchFamily="34" charset="0"/>
                <a:ea typeface="MS PGothic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rebuchet MS" pitchFamily="34" charset="0"/>
                <a:ea typeface="MS PGothic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rebuchet MS" pitchFamily="34" charset="0"/>
                <a:ea typeface="MS PGothic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rebuchet MS" pitchFamily="34" charset="0"/>
                <a:ea typeface="MS PGothic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rebuchet MS" pitchFamily="34" charset="0"/>
                <a:ea typeface="MS PGothic" pitchFamily="34" charset="-128"/>
              </a:defRPr>
            </a:lvl9pPr>
          </a:lstStyle>
          <a:p>
            <a:pPr eaLnBrk="1" hangingPunct="1">
              <a:defRPr/>
            </a:pPr>
            <a:endParaRPr lang="it-IT" altLang="it-IT" sz="1800" noProof="0">
              <a:latin typeface="Circe" panose="020B0502020203020203" pitchFamily="34" charset="0"/>
            </a:endParaRPr>
          </a:p>
        </p:txBody>
      </p:sp>
      <p:sp>
        <p:nvSpPr>
          <p:cNvPr id="8" name="Rectangle 106">
            <a:extLst>
              <a:ext uri="{FF2B5EF4-FFF2-40B4-BE49-F238E27FC236}">
                <a16:creationId xmlns:a16="http://schemas.microsoft.com/office/drawing/2014/main" id="{B5BBAA5C-0410-412E-B227-84F0C1004D67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-2199907" y="1086131"/>
            <a:ext cx="2143125" cy="25276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>
            <a:lvl1pPr>
              <a:defRPr sz="2400">
                <a:solidFill>
                  <a:schemeClr val="tx1"/>
                </a:solidFill>
                <a:latin typeface="Trebuchet MS" pitchFamily="34" charset="0"/>
                <a:ea typeface="MS PGothic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rebuchet MS" pitchFamily="34" charset="0"/>
                <a:ea typeface="MS PGothic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rebuchet MS" pitchFamily="34" charset="0"/>
                <a:ea typeface="MS PGothic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rebuchet MS" pitchFamily="34" charset="0"/>
                <a:ea typeface="MS PGothic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rebuchet MS" pitchFamily="34" charset="0"/>
                <a:ea typeface="MS PGothic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rebuchet MS" pitchFamily="34" charset="0"/>
                <a:ea typeface="MS PGothic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rebuchet MS" pitchFamily="34" charset="0"/>
                <a:ea typeface="MS PGothic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rebuchet MS" pitchFamily="34" charset="0"/>
                <a:ea typeface="MS PGothic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rebuchet MS" pitchFamily="34" charset="0"/>
                <a:ea typeface="MS PGothic" pitchFamily="34" charset="-128"/>
              </a:defRPr>
            </a:lvl9pPr>
          </a:lstStyle>
          <a:p>
            <a: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lang="it-IT" altLang="it-IT" sz="900" noProof="0" dirty="0">
                <a:latin typeface="Arial" panose="020B0604020202020204" pitchFamily="34" charset="0"/>
                <a:ea typeface="MS PGothic" pitchFamily="34" charset="-128"/>
                <a:cs typeface="Arial" panose="020B0604020202020204" pitchFamily="34" charset="0"/>
              </a:rPr>
              <a:t>VERDE TOR VERGATA</a:t>
            </a:r>
          </a:p>
          <a:p>
            <a: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lang="it-IT" altLang="it-IT" sz="900" noProof="0" dirty="0">
                <a:latin typeface="Arial" panose="020B0604020202020204" pitchFamily="34" charset="0"/>
                <a:ea typeface="MS PGothic" pitchFamily="34" charset="-128"/>
                <a:cs typeface="Arial" panose="020B0604020202020204" pitchFamily="34" charset="0"/>
              </a:rPr>
              <a:t>RGB 000,125,052 (#007D34)</a:t>
            </a:r>
          </a:p>
        </p:txBody>
      </p:sp>
      <p:sp>
        <p:nvSpPr>
          <p:cNvPr id="9" name="Rectangle 113">
            <a:extLst>
              <a:ext uri="{FF2B5EF4-FFF2-40B4-BE49-F238E27FC236}">
                <a16:creationId xmlns:a16="http://schemas.microsoft.com/office/drawing/2014/main" id="{72768C8E-BEAB-4BDC-A107-10ECAA1688AB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-2454354" y="819708"/>
            <a:ext cx="2179716" cy="1281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>
            <a:lvl1pPr>
              <a:defRPr sz="2400">
                <a:solidFill>
                  <a:schemeClr val="tx1"/>
                </a:solidFill>
                <a:latin typeface="Trebuchet MS" pitchFamily="34" charset="0"/>
                <a:ea typeface="MS PGothic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rebuchet MS" pitchFamily="34" charset="0"/>
                <a:ea typeface="MS PGothic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rebuchet MS" pitchFamily="34" charset="0"/>
                <a:ea typeface="MS PGothic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rebuchet MS" pitchFamily="34" charset="0"/>
                <a:ea typeface="MS PGothic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rebuchet MS" pitchFamily="34" charset="0"/>
                <a:ea typeface="MS PGothic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rebuchet MS" pitchFamily="34" charset="0"/>
                <a:ea typeface="MS PGothic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rebuchet MS" pitchFamily="34" charset="0"/>
                <a:ea typeface="MS PGothic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rebuchet MS" pitchFamily="34" charset="0"/>
                <a:ea typeface="MS PGothic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rebuchet MS" pitchFamily="34" charset="0"/>
                <a:ea typeface="MS PGothic" pitchFamily="34" charset="-128"/>
              </a:defRPr>
            </a:lvl9pPr>
          </a:lstStyle>
          <a:p>
            <a:pPr algn="l" eaLnBrk="1" hangingPunct="1">
              <a:lnSpc>
                <a:spcPct val="90000"/>
              </a:lnSpc>
              <a:spcBef>
                <a:spcPct val="20000"/>
              </a:spcBef>
              <a:spcAft>
                <a:spcPct val="20000"/>
              </a:spcAft>
              <a:defRPr/>
            </a:pPr>
            <a:r>
              <a:rPr lang="it-IT" altLang="it-IT" sz="900" b="1" noProof="0" dirty="0">
                <a:latin typeface="Arial" panose="020B0604020202020204" pitchFamily="34" charset="0"/>
                <a:cs typeface="Arial" panose="020B0604020202020204" pitchFamily="34" charset="0"/>
              </a:rPr>
              <a:t>FORMAT D'ATENEO 2023 (v.1)</a:t>
            </a:r>
          </a:p>
        </p:txBody>
      </p:sp>
      <p:sp>
        <p:nvSpPr>
          <p:cNvPr id="10" name="Rettangolo 9">
            <a:extLst>
              <a:ext uri="{FF2B5EF4-FFF2-40B4-BE49-F238E27FC236}">
                <a16:creationId xmlns:a16="http://schemas.microsoft.com/office/drawing/2014/main" id="{E15644E4-5B2F-4692-8863-858592A1CE69}"/>
              </a:ext>
            </a:extLst>
          </p:cNvPr>
          <p:cNvSpPr/>
          <p:nvPr userDrawn="1"/>
        </p:nvSpPr>
        <p:spPr bwMode="auto">
          <a:xfrm flipV="1">
            <a:off x="-2454354" y="1084711"/>
            <a:ext cx="185737" cy="199058"/>
          </a:xfrm>
          <a:prstGeom prst="rect">
            <a:avLst/>
          </a:prstGeom>
          <a:solidFill>
            <a:srgbClr val="007D3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it-IT" noProof="0" dirty="0">
              <a:latin typeface="Circe" panose="020B0502020203020203" pitchFamily="34" charset="0"/>
            </a:endParaRPr>
          </a:p>
        </p:txBody>
      </p:sp>
      <p:sp>
        <p:nvSpPr>
          <p:cNvPr id="11" name="Rectangle 113">
            <a:extLst>
              <a:ext uri="{FF2B5EF4-FFF2-40B4-BE49-F238E27FC236}">
                <a16:creationId xmlns:a16="http://schemas.microsoft.com/office/drawing/2014/main" id="{F0140D35-9F4F-4B9F-BC63-DB8E43D02735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-2453055" y="3213300"/>
            <a:ext cx="2143125" cy="3618298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>
            <a:spAutoFit/>
          </a:bodyPr>
          <a:lstStyle>
            <a:lvl1pPr>
              <a:defRPr sz="2400">
                <a:solidFill>
                  <a:schemeClr val="tx1"/>
                </a:solidFill>
                <a:latin typeface="Trebuchet MS" pitchFamily="34" charset="0"/>
                <a:ea typeface="MS PGothic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rebuchet MS" pitchFamily="34" charset="0"/>
                <a:ea typeface="MS PGothic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rebuchet MS" pitchFamily="34" charset="0"/>
                <a:ea typeface="MS PGothic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rebuchet MS" pitchFamily="34" charset="0"/>
                <a:ea typeface="MS PGothic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rebuchet MS" pitchFamily="34" charset="0"/>
                <a:ea typeface="MS PGothic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rebuchet MS" pitchFamily="34" charset="0"/>
                <a:ea typeface="MS PGothic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rebuchet MS" pitchFamily="34" charset="0"/>
                <a:ea typeface="MS PGothic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rebuchet MS" pitchFamily="34" charset="0"/>
                <a:ea typeface="MS PGothic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rebuchet MS" pitchFamily="34" charset="0"/>
                <a:ea typeface="MS PGothic" pitchFamily="34" charset="-128"/>
              </a:defRPr>
            </a:lvl9pPr>
          </a:lstStyle>
          <a:p>
            <a:pPr marL="0" marR="0" lvl="0" indent="0" algn="l" defTabSz="457200" rtl="0" eaLnBrk="1" fontAlgn="auto" latinLnBrk="0" hangingPunct="1">
              <a:lnSpc>
                <a:spcPct val="90000"/>
              </a:lnSpc>
              <a:spcBef>
                <a:spcPct val="20000"/>
              </a:spcBef>
              <a:spcAft>
                <a:spcPct val="20000"/>
              </a:spcAft>
              <a:buClrTx/>
              <a:buSzTx/>
              <a:buFontTx/>
              <a:buNone/>
              <a:tabLst/>
              <a:defRPr/>
            </a:pPr>
            <a:r>
              <a:rPr lang="it-IT" altLang="it-IT" sz="900" b="1" noProof="0" dirty="0">
                <a:latin typeface="Arial" panose="020B0604020202020204" pitchFamily="34" charset="0"/>
                <a:cs typeface="Arial" panose="020B0604020202020204" pitchFamily="34" charset="0"/>
              </a:rPr>
              <a:t>FONT TESTO: CIRCE REGULAR </a:t>
            </a:r>
            <a:br>
              <a:rPr lang="it-IT" altLang="it-IT" sz="900" b="1" noProof="0" dirty="0">
                <a:latin typeface="Arial" panose="020B0604020202020204" pitchFamily="34" charset="0"/>
                <a:cs typeface="Arial" panose="020B0604020202020204" pitchFamily="34" charset="0"/>
              </a:rPr>
            </a:br>
            <a:br>
              <a:rPr lang="it-IT" altLang="it-IT" sz="900" b="1" noProof="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it-IT" altLang="it-IT" sz="900" b="1" noProof="0" dirty="0">
                <a:latin typeface="Arial" panose="020B0604020202020204" pitchFamily="34" charset="0"/>
                <a:cs typeface="Arial" panose="020B0604020202020204" pitchFamily="34" charset="0"/>
              </a:rPr>
              <a:t>Copertina principale o alternativa</a:t>
            </a:r>
          </a:p>
          <a:p>
            <a:pPr algn="l" eaLnBrk="1" hangingPunct="1">
              <a:lnSpc>
                <a:spcPct val="90000"/>
              </a:lnSpc>
              <a:spcBef>
                <a:spcPct val="20000"/>
              </a:spcBef>
              <a:spcAft>
                <a:spcPct val="20000"/>
              </a:spcAft>
              <a:defRPr/>
            </a:pPr>
            <a:r>
              <a:rPr lang="it-IT" altLang="it-IT" sz="900" noProof="0" dirty="0">
                <a:latin typeface="Arial" panose="020B0604020202020204" pitchFamily="34" charset="0"/>
                <a:cs typeface="Arial" panose="020B0604020202020204" pitchFamily="34" charset="0"/>
              </a:rPr>
              <a:t>Titolo, </a:t>
            </a:r>
            <a:r>
              <a:rPr lang="it-IT" altLang="it-IT" sz="900" b="1" noProof="0" dirty="0">
                <a:solidFill>
                  <a:srgbClr val="007D3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VERDE TOR VERGATA</a:t>
            </a:r>
            <a:r>
              <a:rPr lang="it-IT" altLang="it-IT" sz="900" noProof="0" dirty="0">
                <a:latin typeface="Arial" panose="020B0604020202020204" pitchFamily="34" charset="0"/>
                <a:cs typeface="Arial" panose="020B0604020202020204" pitchFamily="34" charset="0"/>
              </a:rPr>
              <a:t>: corpo 54</a:t>
            </a:r>
            <a:br>
              <a:rPr lang="it-IT" altLang="it-IT" sz="900" noProof="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it-IT" altLang="it-IT" sz="900" noProof="0" dirty="0">
                <a:latin typeface="Arial" panose="020B0604020202020204" pitchFamily="34" charset="0"/>
                <a:cs typeface="Arial" panose="020B0604020202020204" pitchFamily="34" charset="0"/>
              </a:rPr>
              <a:t>Iniziale maiuscola</a:t>
            </a:r>
            <a:endParaRPr lang="it-IT" altLang="it-IT" sz="900" b="0" noProof="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marR="0" lvl="0" indent="0" algn="l" defTabSz="457200" rtl="0" eaLnBrk="1" fontAlgn="auto" latinLnBrk="0" hangingPunct="1">
              <a:lnSpc>
                <a:spcPct val="90000"/>
              </a:lnSpc>
              <a:spcBef>
                <a:spcPct val="20000"/>
              </a:spcBef>
              <a:spcAft>
                <a:spcPct val="20000"/>
              </a:spcAft>
              <a:buClrTx/>
              <a:buSzTx/>
              <a:buFontTx/>
              <a:buNone/>
              <a:tabLst/>
              <a:defRPr/>
            </a:pPr>
            <a:r>
              <a:rPr lang="it-IT" altLang="it-IT" sz="900" noProof="0" dirty="0">
                <a:latin typeface="Arial" panose="020B0604020202020204" pitchFamily="34" charset="0"/>
                <a:cs typeface="Arial" panose="020B0604020202020204" pitchFamily="34" charset="0"/>
              </a:rPr>
              <a:t>Sottotitolo, </a:t>
            </a:r>
            <a:r>
              <a:rPr lang="it-IT" altLang="it-IT" sz="900" b="1" noProof="0" dirty="0">
                <a:solidFill>
                  <a:srgbClr val="7F7F7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GRIGIO o BIANCO</a:t>
            </a:r>
            <a:r>
              <a:rPr lang="it-IT" altLang="it-IT" sz="900" b="1" noProof="0" dirty="0"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  <a:r>
              <a:rPr lang="it-IT" altLang="it-IT" sz="900" noProof="0" dirty="0">
                <a:latin typeface="Arial" panose="020B0604020202020204" pitchFamily="34" charset="0"/>
                <a:cs typeface="Arial" panose="020B0604020202020204" pitchFamily="34" charset="0"/>
              </a:rPr>
              <a:t> corpo 28 </a:t>
            </a:r>
            <a:br>
              <a:rPr lang="it-IT" altLang="it-IT" sz="900" noProof="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it-IT" altLang="it-IT" sz="900" noProof="0" dirty="0">
                <a:latin typeface="Arial" panose="020B0604020202020204" pitchFamily="34" charset="0"/>
                <a:cs typeface="Arial" panose="020B0604020202020204" pitchFamily="34" charset="0"/>
              </a:rPr>
              <a:t>Iniziale maiuscola </a:t>
            </a:r>
          </a:p>
          <a:p>
            <a:pPr marL="0" marR="0" lvl="0" indent="0" algn="l" defTabSz="457200" rtl="0" eaLnBrk="1" fontAlgn="auto" latinLnBrk="0" hangingPunct="1">
              <a:lnSpc>
                <a:spcPct val="90000"/>
              </a:lnSpc>
              <a:spcBef>
                <a:spcPct val="20000"/>
              </a:spcBef>
              <a:spcAft>
                <a:spcPct val="20000"/>
              </a:spcAft>
              <a:buClrTx/>
              <a:buSzTx/>
              <a:buFontTx/>
              <a:buNone/>
              <a:tabLst/>
              <a:defRPr/>
            </a:pPr>
            <a:r>
              <a:rPr lang="it-IT" altLang="it-IT" sz="900" noProof="0" dirty="0">
                <a:latin typeface="Arial" panose="020B0604020202020204" pitchFamily="34" charset="0"/>
                <a:cs typeface="Arial" panose="020B0604020202020204" pitchFamily="34" charset="0"/>
              </a:rPr>
              <a:t>Sommario, </a:t>
            </a:r>
            <a:r>
              <a:rPr lang="it-IT" altLang="it-IT" sz="900" b="1" noProof="0" dirty="0">
                <a:solidFill>
                  <a:srgbClr val="7F7F7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GRIGIO o BIANCO</a:t>
            </a:r>
            <a:r>
              <a:rPr lang="it-IT" altLang="it-IT" sz="900" b="1" noProof="0" dirty="0"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  <a:r>
              <a:rPr lang="it-IT" altLang="it-IT" sz="900" noProof="0" dirty="0">
                <a:latin typeface="Arial" panose="020B0604020202020204" pitchFamily="34" charset="0"/>
                <a:cs typeface="Arial" panose="020B0604020202020204" pitchFamily="34" charset="0"/>
              </a:rPr>
              <a:t> corpo 18 </a:t>
            </a:r>
            <a:br>
              <a:rPr lang="it-IT" altLang="it-IT" sz="900" noProof="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it-IT" altLang="it-IT" sz="900" noProof="0" dirty="0">
                <a:latin typeface="Arial" panose="020B0604020202020204" pitchFamily="34" charset="0"/>
                <a:cs typeface="Arial" panose="020B0604020202020204" pitchFamily="34" charset="0"/>
              </a:rPr>
              <a:t>Iniziale maiuscola</a:t>
            </a:r>
            <a:br>
              <a:rPr lang="it-IT" altLang="it-IT" sz="900" noProof="0" dirty="0">
                <a:latin typeface="Arial" panose="020B0604020202020204" pitchFamily="34" charset="0"/>
                <a:cs typeface="Arial" panose="020B0604020202020204" pitchFamily="34" charset="0"/>
              </a:rPr>
            </a:br>
            <a:br>
              <a:rPr lang="it-IT" altLang="it-IT" sz="900" noProof="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it-IT" altLang="it-IT" sz="900" b="1" noProof="0" dirty="0">
                <a:latin typeface="Arial" panose="020B0604020202020204" pitchFamily="34" charset="0"/>
                <a:cs typeface="Arial" panose="020B0604020202020204" pitchFamily="34" charset="0"/>
              </a:rPr>
              <a:t>Slide di contenuto</a:t>
            </a:r>
          </a:p>
          <a:p>
            <a:pPr algn="l" eaLnBrk="1" hangingPunct="1">
              <a:lnSpc>
                <a:spcPct val="90000"/>
              </a:lnSpc>
              <a:spcBef>
                <a:spcPct val="20000"/>
              </a:spcBef>
              <a:spcAft>
                <a:spcPct val="20000"/>
              </a:spcAft>
              <a:defRPr/>
            </a:pPr>
            <a:r>
              <a:rPr lang="it-IT" altLang="it-IT" sz="900" noProof="0" dirty="0">
                <a:latin typeface="Arial" panose="020B0604020202020204" pitchFamily="34" charset="0"/>
                <a:cs typeface="Arial" panose="020B0604020202020204" pitchFamily="34" charset="0"/>
              </a:rPr>
              <a:t>Titolo, </a:t>
            </a:r>
            <a:r>
              <a:rPr lang="it-IT" altLang="it-IT" sz="900" b="1" noProof="0" dirty="0">
                <a:solidFill>
                  <a:srgbClr val="007D3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VERDE TOR VERGATA </a:t>
            </a:r>
            <a:r>
              <a:rPr lang="it-IT" altLang="it-IT" sz="900" noProof="0" dirty="0">
                <a:latin typeface="Arial" panose="020B0604020202020204" pitchFamily="34" charset="0"/>
                <a:cs typeface="Arial" panose="020B0604020202020204" pitchFamily="34" charset="0"/>
              </a:rPr>
              <a:t>: corpo 36</a:t>
            </a:r>
            <a:br>
              <a:rPr lang="it-IT" altLang="it-IT" sz="900" noProof="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it-IT" altLang="it-IT" sz="900" noProof="0" dirty="0">
                <a:latin typeface="Arial" panose="020B0604020202020204" pitchFamily="34" charset="0"/>
                <a:cs typeface="Arial" panose="020B0604020202020204" pitchFamily="34" charset="0"/>
              </a:rPr>
              <a:t>Iniziale maiuscola, allineato a sinistra</a:t>
            </a:r>
            <a:endParaRPr lang="it-IT" altLang="it-IT" sz="900" b="0" noProof="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marR="0" lvl="0" indent="0" algn="l" defTabSz="457200" rtl="0" eaLnBrk="1" fontAlgn="auto" latinLnBrk="0" hangingPunct="1">
              <a:lnSpc>
                <a:spcPct val="90000"/>
              </a:lnSpc>
              <a:spcBef>
                <a:spcPct val="20000"/>
              </a:spcBef>
              <a:spcAft>
                <a:spcPct val="20000"/>
              </a:spcAft>
              <a:buClrTx/>
              <a:buSzTx/>
              <a:buFontTx/>
              <a:buNone/>
              <a:tabLst/>
              <a:defRPr/>
            </a:pPr>
            <a:r>
              <a:rPr lang="it-IT" altLang="it-IT" sz="900" noProof="0" dirty="0">
                <a:latin typeface="Arial" panose="020B0604020202020204" pitchFamily="34" charset="0"/>
                <a:cs typeface="Arial" panose="020B0604020202020204" pitchFamily="34" charset="0"/>
              </a:rPr>
              <a:t>Testo, </a:t>
            </a:r>
            <a:r>
              <a:rPr lang="it-IT" altLang="it-IT" sz="900" b="1" noProof="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NERO</a:t>
            </a:r>
            <a:r>
              <a:rPr lang="it-IT" altLang="it-IT" sz="900" b="1" noProof="0" dirty="0"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  <a:r>
              <a:rPr lang="it-IT" altLang="it-IT" sz="900" noProof="0" dirty="0">
                <a:latin typeface="Arial" panose="020B0604020202020204" pitchFamily="34" charset="0"/>
                <a:cs typeface="Arial" panose="020B0604020202020204" pitchFamily="34" charset="0"/>
              </a:rPr>
              <a:t> corpo 20 </a:t>
            </a:r>
            <a:br>
              <a:rPr lang="it-IT" altLang="it-IT" sz="900" noProof="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it-IT" altLang="it-IT" sz="900" noProof="0" dirty="0">
                <a:latin typeface="Arial" panose="020B0604020202020204" pitchFamily="34" charset="0"/>
                <a:cs typeface="Arial" panose="020B0604020202020204" pitchFamily="34" charset="0"/>
              </a:rPr>
              <a:t>Iniziale maiuscola, allineato a sinistra</a:t>
            </a:r>
            <a:endParaRPr lang="it-IT" altLang="it-IT" sz="900" b="1" noProof="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marR="0" lvl="0" indent="0" algn="l" defTabSz="457200" rtl="0" eaLnBrk="1" fontAlgn="auto" latinLnBrk="0" hangingPunct="1">
              <a:lnSpc>
                <a:spcPct val="90000"/>
              </a:lnSpc>
              <a:spcBef>
                <a:spcPct val="20000"/>
              </a:spcBef>
              <a:spcAft>
                <a:spcPct val="20000"/>
              </a:spcAft>
              <a:buClrTx/>
              <a:buSzTx/>
              <a:buFontTx/>
              <a:buNone/>
              <a:tabLst/>
              <a:defRPr/>
            </a:pPr>
            <a:r>
              <a:rPr lang="it-IT" altLang="it-IT" sz="900" noProof="0" dirty="0">
                <a:latin typeface="Arial" panose="020B0604020202020204" pitchFamily="34" charset="0"/>
                <a:cs typeface="Arial" panose="020B0604020202020204" pitchFamily="34" charset="0"/>
              </a:rPr>
              <a:t>Piè pagina </a:t>
            </a:r>
            <a:r>
              <a:rPr lang="it-IT" altLang="it-IT" sz="900" b="1" noProof="0" dirty="0">
                <a:solidFill>
                  <a:srgbClr val="89898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GRIGIO</a:t>
            </a:r>
            <a:r>
              <a:rPr lang="it-IT" altLang="it-IT" sz="900" b="1" noProof="0" dirty="0"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  <a:r>
              <a:rPr lang="it-IT" altLang="it-IT" sz="900" noProof="0" dirty="0">
                <a:latin typeface="Arial" panose="020B0604020202020204" pitchFamily="34" charset="0"/>
                <a:cs typeface="Arial" panose="020B0604020202020204" pitchFamily="34" charset="0"/>
              </a:rPr>
              <a:t> corpo 9 </a:t>
            </a:r>
            <a:br>
              <a:rPr lang="it-IT" altLang="it-IT" sz="900" noProof="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it-IT" altLang="it-IT" sz="900" noProof="0" dirty="0">
                <a:latin typeface="Arial" panose="020B0604020202020204" pitchFamily="34" charset="0"/>
                <a:cs typeface="Arial" panose="020B0604020202020204" pitchFamily="34" charset="0"/>
              </a:rPr>
              <a:t>Note allineate a destra</a:t>
            </a:r>
            <a:br>
              <a:rPr lang="it-IT" altLang="it-IT" sz="900" noProof="0" dirty="0">
                <a:latin typeface="Arial" panose="020B0604020202020204" pitchFamily="34" charset="0"/>
                <a:cs typeface="Arial" panose="020B0604020202020204" pitchFamily="34" charset="0"/>
              </a:rPr>
            </a:br>
            <a:br>
              <a:rPr lang="it-IT" altLang="it-IT" sz="900" noProof="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it-IT" altLang="it-IT" sz="900" b="1" noProof="0" dirty="0">
                <a:latin typeface="Arial" panose="020B0604020202020204" pitchFamily="34" charset="0"/>
                <a:cs typeface="Arial" panose="020B0604020202020204" pitchFamily="34" charset="0"/>
              </a:rPr>
              <a:t>Separatore di sezione</a:t>
            </a:r>
          </a:p>
          <a:p>
            <a:pPr algn="l" eaLnBrk="1" hangingPunct="1">
              <a:lnSpc>
                <a:spcPct val="90000"/>
              </a:lnSpc>
              <a:spcBef>
                <a:spcPct val="20000"/>
              </a:spcBef>
              <a:spcAft>
                <a:spcPct val="20000"/>
              </a:spcAft>
              <a:defRPr/>
            </a:pPr>
            <a:r>
              <a:rPr lang="it-IT" altLang="it-IT" sz="900" noProof="0" dirty="0">
                <a:latin typeface="Arial" panose="020B0604020202020204" pitchFamily="34" charset="0"/>
                <a:cs typeface="Arial" panose="020B0604020202020204" pitchFamily="34" charset="0"/>
              </a:rPr>
              <a:t>Titolo, </a:t>
            </a:r>
            <a:r>
              <a:rPr lang="it-IT" altLang="it-IT" sz="900" b="1" noProof="0" dirty="0">
                <a:solidFill>
                  <a:srgbClr val="007D3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VERDE TOR VERGATA </a:t>
            </a:r>
            <a:r>
              <a:rPr lang="it-IT" altLang="it-IT" sz="900" noProof="0" dirty="0">
                <a:latin typeface="Arial" panose="020B0604020202020204" pitchFamily="34" charset="0"/>
                <a:cs typeface="Arial" panose="020B0604020202020204" pitchFamily="34" charset="0"/>
              </a:rPr>
              <a:t>: corpo 36</a:t>
            </a:r>
            <a:br>
              <a:rPr lang="it-IT" altLang="it-IT" sz="900" noProof="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it-IT" altLang="it-IT" sz="900" noProof="0" dirty="0">
                <a:latin typeface="Arial" panose="020B0604020202020204" pitchFamily="34" charset="0"/>
                <a:cs typeface="Arial" panose="020B0604020202020204" pitchFamily="34" charset="0"/>
              </a:rPr>
              <a:t>Iniziale maiuscola, allineato a sinistra</a:t>
            </a:r>
            <a:endParaRPr lang="it-IT" altLang="it-IT" sz="900" b="0" noProof="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marR="0" lvl="0" indent="0" algn="l" defTabSz="457200" rtl="0" eaLnBrk="1" fontAlgn="auto" latinLnBrk="0" hangingPunct="1">
              <a:lnSpc>
                <a:spcPct val="90000"/>
              </a:lnSpc>
              <a:spcBef>
                <a:spcPct val="20000"/>
              </a:spcBef>
              <a:spcAft>
                <a:spcPct val="20000"/>
              </a:spcAft>
              <a:buClrTx/>
              <a:buSzTx/>
              <a:buFontTx/>
              <a:buNone/>
              <a:tabLst/>
              <a:defRPr/>
            </a:pPr>
            <a:r>
              <a:rPr lang="it-IT" altLang="it-IT" sz="900" noProof="0" dirty="0">
                <a:latin typeface="Arial" panose="020B0604020202020204" pitchFamily="34" charset="0"/>
                <a:cs typeface="Arial" panose="020B0604020202020204" pitchFamily="34" charset="0"/>
              </a:rPr>
              <a:t>Sottotitolo, </a:t>
            </a:r>
            <a:r>
              <a:rPr lang="it-IT" altLang="it-IT" sz="900" b="1" noProof="0" dirty="0">
                <a:solidFill>
                  <a:srgbClr val="7F7F7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GRIGIO:</a:t>
            </a:r>
            <a:r>
              <a:rPr lang="it-IT" altLang="it-IT" sz="900" noProof="0" dirty="0">
                <a:latin typeface="Arial" panose="020B0604020202020204" pitchFamily="34" charset="0"/>
                <a:cs typeface="Arial" panose="020B0604020202020204" pitchFamily="34" charset="0"/>
              </a:rPr>
              <a:t> corpo 18 </a:t>
            </a:r>
            <a:br>
              <a:rPr lang="it-IT" altLang="it-IT" sz="900" noProof="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it-IT" altLang="it-IT" sz="900" noProof="0" dirty="0">
                <a:latin typeface="Arial" panose="020B0604020202020204" pitchFamily="34" charset="0"/>
                <a:cs typeface="Arial" panose="020B0604020202020204" pitchFamily="34" charset="0"/>
              </a:rPr>
              <a:t>Iniziale maiuscola</a:t>
            </a:r>
          </a:p>
          <a:p>
            <a:pPr marL="0" marR="0" lvl="0" indent="0" algn="l" defTabSz="457200" rtl="0" eaLnBrk="1" fontAlgn="auto" latinLnBrk="0" hangingPunct="1">
              <a:lnSpc>
                <a:spcPct val="90000"/>
              </a:lnSpc>
              <a:spcBef>
                <a:spcPct val="20000"/>
              </a:spcBef>
              <a:spcAft>
                <a:spcPct val="20000"/>
              </a:spcAft>
              <a:buClrTx/>
              <a:buSzTx/>
              <a:buFontTx/>
              <a:buNone/>
              <a:tabLst/>
              <a:defRPr/>
            </a:pPr>
            <a:r>
              <a:rPr lang="it-IT" altLang="it-IT" sz="900" noProof="0" dirty="0">
                <a:latin typeface="Arial" panose="020B0604020202020204" pitchFamily="34" charset="0"/>
                <a:cs typeface="Arial" panose="020B0604020202020204" pitchFamily="34" charset="0"/>
              </a:rPr>
              <a:t>Piè pagina </a:t>
            </a:r>
            <a:r>
              <a:rPr lang="it-IT" altLang="it-IT" sz="900" b="1" noProof="0" dirty="0">
                <a:solidFill>
                  <a:srgbClr val="89898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GRIGIO</a:t>
            </a:r>
            <a:r>
              <a:rPr lang="it-IT" altLang="it-IT" sz="900" b="1" noProof="0" dirty="0"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  <a:r>
              <a:rPr lang="it-IT" altLang="it-IT" sz="900" noProof="0" dirty="0">
                <a:latin typeface="Arial" panose="020B0604020202020204" pitchFamily="34" charset="0"/>
                <a:cs typeface="Arial" panose="020B0604020202020204" pitchFamily="34" charset="0"/>
              </a:rPr>
              <a:t> corpo 9 </a:t>
            </a:r>
            <a:br>
              <a:rPr lang="it-IT" altLang="it-IT" sz="900" noProof="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it-IT" altLang="it-IT" sz="900" noProof="0" dirty="0">
                <a:latin typeface="Arial" panose="020B0604020202020204" pitchFamily="34" charset="0"/>
                <a:cs typeface="Arial" panose="020B0604020202020204" pitchFamily="34" charset="0"/>
              </a:rPr>
              <a:t>Note allineate a destra</a:t>
            </a:r>
          </a:p>
        </p:txBody>
      </p:sp>
      <p:sp>
        <p:nvSpPr>
          <p:cNvPr id="2" name="Segnaposto titolo 1">
            <a:extLst>
              <a:ext uri="{FF2B5EF4-FFF2-40B4-BE49-F238E27FC236}">
                <a16:creationId xmlns:a16="http://schemas.microsoft.com/office/drawing/2014/main" id="{0B237DD8-AB42-4727-B5A5-641CAE81AF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0312" y="314744"/>
            <a:ext cx="11752927" cy="926493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it-IT" noProof="1"/>
              <a:t>Titolo slide, iniziale maiuscola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51654FB1-1B2B-4523-8EC4-AF5994DC6AD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290501" y="6494469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898989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it-IT" dirty="0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393C0C68-300B-4A9E-A840-068AD62D433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494469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rgbClr val="898989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it-IT" dirty="0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D4EF45B2-2BE5-4BDC-A13A-D8A97C0CA82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182108" y="6494469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rgbClr val="898989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2E85A994-D622-47C4-BBB7-EA543E9BA793}" type="slidenum">
              <a:rPr lang="en-GB" smtClean="0"/>
              <a:pPr/>
              <a:t>‹N›</a:t>
            </a:fld>
            <a:endParaRPr lang="en-GB"/>
          </a:p>
        </p:txBody>
      </p:sp>
      <p:sp>
        <p:nvSpPr>
          <p:cNvPr id="13" name="Rettangolo 12">
            <a:extLst>
              <a:ext uri="{FF2B5EF4-FFF2-40B4-BE49-F238E27FC236}">
                <a16:creationId xmlns:a16="http://schemas.microsoft.com/office/drawing/2014/main" id="{E8CD2E83-C4AC-4B8F-E456-2395EA48143D}"/>
              </a:ext>
            </a:extLst>
          </p:cNvPr>
          <p:cNvSpPr/>
          <p:nvPr userDrawn="1"/>
        </p:nvSpPr>
        <p:spPr>
          <a:xfrm>
            <a:off x="-2454354" y="1437071"/>
            <a:ext cx="185737" cy="176213"/>
          </a:xfrm>
          <a:prstGeom prst="rect">
            <a:avLst/>
          </a:prstGeom>
          <a:solidFill>
            <a:srgbClr val="ED212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latin typeface="+mj-lt"/>
            </a:endParaRPr>
          </a:p>
        </p:txBody>
      </p:sp>
      <p:sp>
        <p:nvSpPr>
          <p:cNvPr id="14" name="Rettangolo 13">
            <a:extLst>
              <a:ext uri="{FF2B5EF4-FFF2-40B4-BE49-F238E27FC236}">
                <a16:creationId xmlns:a16="http://schemas.microsoft.com/office/drawing/2014/main" id="{3E838E11-BA94-3B3E-5FC4-D218A010BD17}"/>
              </a:ext>
            </a:extLst>
          </p:cNvPr>
          <p:cNvSpPr/>
          <p:nvPr userDrawn="1"/>
        </p:nvSpPr>
        <p:spPr>
          <a:xfrm>
            <a:off x="-2454354" y="1766586"/>
            <a:ext cx="185737" cy="176213"/>
          </a:xfrm>
          <a:prstGeom prst="rect">
            <a:avLst/>
          </a:prstGeom>
          <a:solidFill>
            <a:srgbClr val="961A3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latin typeface="+mj-lt"/>
            </a:endParaRPr>
          </a:p>
        </p:txBody>
      </p:sp>
      <p:sp>
        <p:nvSpPr>
          <p:cNvPr id="15" name="Rettangolo 14">
            <a:extLst>
              <a:ext uri="{FF2B5EF4-FFF2-40B4-BE49-F238E27FC236}">
                <a16:creationId xmlns:a16="http://schemas.microsoft.com/office/drawing/2014/main" id="{4FB06648-DE8B-D73A-C816-48EBC4A6ADBB}"/>
              </a:ext>
            </a:extLst>
          </p:cNvPr>
          <p:cNvSpPr/>
          <p:nvPr userDrawn="1"/>
        </p:nvSpPr>
        <p:spPr>
          <a:xfrm>
            <a:off x="-2454354" y="2096101"/>
            <a:ext cx="185737" cy="176213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latin typeface="+mj-lt"/>
            </a:endParaRPr>
          </a:p>
        </p:txBody>
      </p:sp>
      <p:sp>
        <p:nvSpPr>
          <p:cNvPr id="21" name="Rettangolo 20">
            <a:extLst>
              <a:ext uri="{FF2B5EF4-FFF2-40B4-BE49-F238E27FC236}">
                <a16:creationId xmlns:a16="http://schemas.microsoft.com/office/drawing/2014/main" id="{EC4B6C0A-E016-4175-4017-0FF3567E8C77}"/>
              </a:ext>
            </a:extLst>
          </p:cNvPr>
          <p:cNvSpPr/>
          <p:nvPr userDrawn="1"/>
        </p:nvSpPr>
        <p:spPr>
          <a:xfrm>
            <a:off x="-1381492" y="1437071"/>
            <a:ext cx="185737" cy="176213"/>
          </a:xfrm>
          <a:prstGeom prst="rect">
            <a:avLst/>
          </a:prstGeom>
          <a:solidFill>
            <a:srgbClr val="23498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latin typeface="+mj-lt"/>
            </a:endParaRPr>
          </a:p>
        </p:txBody>
      </p:sp>
      <p:sp>
        <p:nvSpPr>
          <p:cNvPr id="22" name="Rettangolo 21">
            <a:extLst>
              <a:ext uri="{FF2B5EF4-FFF2-40B4-BE49-F238E27FC236}">
                <a16:creationId xmlns:a16="http://schemas.microsoft.com/office/drawing/2014/main" id="{AE255BF4-5586-EFC1-128A-FCE0930EB64C}"/>
              </a:ext>
            </a:extLst>
          </p:cNvPr>
          <p:cNvSpPr/>
          <p:nvPr userDrawn="1"/>
        </p:nvSpPr>
        <p:spPr>
          <a:xfrm>
            <a:off x="-1381492" y="1766586"/>
            <a:ext cx="185737" cy="176213"/>
          </a:xfrm>
          <a:prstGeom prst="rect">
            <a:avLst/>
          </a:prstGeom>
          <a:solidFill>
            <a:srgbClr val="CB87B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latin typeface="+mj-lt"/>
            </a:endParaRPr>
          </a:p>
        </p:txBody>
      </p:sp>
      <p:sp>
        <p:nvSpPr>
          <p:cNvPr id="23" name="Rettangolo 22">
            <a:extLst>
              <a:ext uri="{FF2B5EF4-FFF2-40B4-BE49-F238E27FC236}">
                <a16:creationId xmlns:a16="http://schemas.microsoft.com/office/drawing/2014/main" id="{D05A80B9-920B-604D-3AAD-EBC8EE9AFE9E}"/>
              </a:ext>
            </a:extLst>
          </p:cNvPr>
          <p:cNvSpPr/>
          <p:nvPr userDrawn="1"/>
        </p:nvSpPr>
        <p:spPr>
          <a:xfrm>
            <a:off x="-1381492" y="2096101"/>
            <a:ext cx="185737" cy="176213"/>
          </a:xfrm>
          <a:prstGeom prst="rect">
            <a:avLst/>
          </a:prstGeom>
          <a:solidFill>
            <a:srgbClr val="79C25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latin typeface="+mj-lt"/>
            </a:endParaRPr>
          </a:p>
        </p:txBody>
      </p:sp>
      <p:sp>
        <p:nvSpPr>
          <p:cNvPr id="24" name="Rectangle 112">
            <a:extLst>
              <a:ext uri="{FF2B5EF4-FFF2-40B4-BE49-F238E27FC236}">
                <a16:creationId xmlns:a16="http://schemas.microsoft.com/office/drawing/2014/main" id="{1EFFC4CE-0356-333F-532B-E42DF6D8110C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-2218971" y="1420654"/>
            <a:ext cx="999831" cy="25276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>
            <a:lvl1pPr>
              <a:defRPr sz="2400">
                <a:solidFill>
                  <a:schemeClr val="tx1"/>
                </a:solidFill>
                <a:latin typeface="Trebuchet MS" pitchFamily="34" charset="0"/>
                <a:ea typeface="MS PGothic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rebuchet MS" pitchFamily="34" charset="0"/>
                <a:ea typeface="MS PGothic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rebuchet MS" pitchFamily="34" charset="0"/>
                <a:ea typeface="MS PGothic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rebuchet MS" pitchFamily="34" charset="0"/>
                <a:ea typeface="MS PGothic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rebuchet MS" pitchFamily="34" charset="0"/>
                <a:ea typeface="MS PGothic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rebuchet MS" pitchFamily="34" charset="0"/>
                <a:ea typeface="MS PGothic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rebuchet MS" pitchFamily="34" charset="0"/>
                <a:ea typeface="MS PGothic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rebuchet MS" pitchFamily="34" charset="0"/>
                <a:ea typeface="MS PGothic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rebuchet MS" pitchFamily="34" charset="0"/>
                <a:ea typeface="MS PGothic" pitchFamily="34" charset="-128"/>
              </a:defRPr>
            </a:lvl9pPr>
          </a:lstStyle>
          <a:p>
            <a:pPr algn="l" eaLnBrk="1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it-IT" altLang="it-IT" sz="900" noProof="0" dirty="0">
                <a:latin typeface="Arial" panose="020B0604020202020204" pitchFamily="34" charset="0"/>
                <a:cs typeface="Arial" panose="020B0604020202020204" pitchFamily="34" charset="0"/>
              </a:rPr>
              <a:t>MEDICINA</a:t>
            </a:r>
          </a:p>
          <a:p>
            <a:pPr algn="l" eaLnBrk="1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it-IT" altLang="it-IT" sz="900" noProof="0" dirty="0">
                <a:latin typeface="Arial" panose="020B0604020202020204" pitchFamily="34" charset="0"/>
                <a:cs typeface="Arial" panose="020B0604020202020204" pitchFamily="34" charset="0"/>
              </a:rPr>
              <a:t>RGB 237,33,39</a:t>
            </a:r>
          </a:p>
        </p:txBody>
      </p:sp>
      <p:sp>
        <p:nvSpPr>
          <p:cNvPr id="25" name="Rectangle 112">
            <a:extLst>
              <a:ext uri="{FF2B5EF4-FFF2-40B4-BE49-F238E27FC236}">
                <a16:creationId xmlns:a16="http://schemas.microsoft.com/office/drawing/2014/main" id="{E6473F2D-EEF1-DAA0-A5A9-03ED9884934B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-2218971" y="1755177"/>
            <a:ext cx="999831" cy="25276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>
            <a:lvl1pPr>
              <a:defRPr sz="2400">
                <a:solidFill>
                  <a:schemeClr val="tx1"/>
                </a:solidFill>
                <a:latin typeface="Trebuchet MS" pitchFamily="34" charset="0"/>
                <a:ea typeface="MS PGothic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rebuchet MS" pitchFamily="34" charset="0"/>
                <a:ea typeface="MS PGothic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rebuchet MS" pitchFamily="34" charset="0"/>
                <a:ea typeface="MS PGothic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rebuchet MS" pitchFamily="34" charset="0"/>
                <a:ea typeface="MS PGothic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rebuchet MS" pitchFamily="34" charset="0"/>
                <a:ea typeface="MS PGothic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rebuchet MS" pitchFamily="34" charset="0"/>
                <a:ea typeface="MS PGothic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rebuchet MS" pitchFamily="34" charset="0"/>
                <a:ea typeface="MS PGothic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rebuchet MS" pitchFamily="34" charset="0"/>
                <a:ea typeface="MS PGothic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rebuchet MS" pitchFamily="34" charset="0"/>
                <a:ea typeface="MS PGothic" pitchFamily="34" charset="-128"/>
              </a:defRPr>
            </a:lvl9pPr>
          </a:lstStyle>
          <a:p>
            <a:pPr algn="l" eaLnBrk="1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it-IT" altLang="it-IT" sz="900" noProof="0">
                <a:latin typeface="Arial" panose="020B0604020202020204" pitchFamily="34" charset="0"/>
                <a:cs typeface="Arial" panose="020B0604020202020204" pitchFamily="34" charset="0"/>
              </a:rPr>
              <a:t>ECONOMIA</a:t>
            </a:r>
            <a:endParaRPr lang="it-IT" altLang="it-IT" sz="900" noProof="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l" eaLnBrk="1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it-IT" altLang="it-IT" sz="900" noProof="0">
                <a:latin typeface="Arial" panose="020B0604020202020204" pitchFamily="34" charset="0"/>
                <a:cs typeface="Arial" panose="020B0604020202020204" pitchFamily="34" charset="0"/>
              </a:rPr>
              <a:t>RGB 150,26,58</a:t>
            </a:r>
            <a:endParaRPr lang="it-IT" altLang="it-IT" sz="900" noProof="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6" name="Rectangle 112">
            <a:extLst>
              <a:ext uri="{FF2B5EF4-FFF2-40B4-BE49-F238E27FC236}">
                <a16:creationId xmlns:a16="http://schemas.microsoft.com/office/drawing/2014/main" id="{6BCC4544-4D16-0247-C90E-EC8817ADF979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-2218971" y="2089700"/>
            <a:ext cx="999831" cy="25276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>
            <a:lvl1pPr>
              <a:defRPr sz="2400">
                <a:solidFill>
                  <a:schemeClr val="tx1"/>
                </a:solidFill>
                <a:latin typeface="Trebuchet MS" pitchFamily="34" charset="0"/>
                <a:ea typeface="MS PGothic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rebuchet MS" pitchFamily="34" charset="0"/>
                <a:ea typeface="MS PGothic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rebuchet MS" pitchFamily="34" charset="0"/>
                <a:ea typeface="MS PGothic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rebuchet MS" pitchFamily="34" charset="0"/>
                <a:ea typeface="MS PGothic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rebuchet MS" pitchFamily="34" charset="0"/>
                <a:ea typeface="MS PGothic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rebuchet MS" pitchFamily="34" charset="0"/>
                <a:ea typeface="MS PGothic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rebuchet MS" pitchFamily="34" charset="0"/>
                <a:ea typeface="MS PGothic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rebuchet MS" pitchFamily="34" charset="0"/>
                <a:ea typeface="MS PGothic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rebuchet MS" pitchFamily="34" charset="0"/>
                <a:ea typeface="MS PGothic" pitchFamily="34" charset="-128"/>
              </a:defRPr>
            </a:lvl9pPr>
          </a:lstStyle>
          <a:p>
            <a:pPr algn="l" eaLnBrk="1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it-IT" altLang="it-IT" sz="900" noProof="0">
                <a:latin typeface="Arial" panose="020B0604020202020204" pitchFamily="34" charset="0"/>
                <a:cs typeface="Arial" panose="020B0604020202020204" pitchFamily="34" charset="0"/>
              </a:rPr>
              <a:t>INGEGNERIA</a:t>
            </a:r>
          </a:p>
          <a:p>
            <a:pPr algn="l" eaLnBrk="1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it-IT" altLang="it-IT" sz="900" noProof="0">
                <a:latin typeface="Arial" panose="020B0604020202020204" pitchFamily="34" charset="0"/>
                <a:cs typeface="Arial" panose="020B0604020202020204" pitchFamily="34" charset="0"/>
              </a:rPr>
              <a:t>RGB 0, 0, 0</a:t>
            </a:r>
            <a:endParaRPr lang="it-IT" altLang="it-IT" sz="900" noProof="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7" name="Rectangle 112">
            <a:extLst>
              <a:ext uri="{FF2B5EF4-FFF2-40B4-BE49-F238E27FC236}">
                <a16:creationId xmlns:a16="http://schemas.microsoft.com/office/drawing/2014/main" id="{ABDF39C8-792F-A952-3152-A0694263BE84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-1151167" y="1420654"/>
            <a:ext cx="1063786" cy="25276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>
            <a:lvl1pPr>
              <a:defRPr sz="2400">
                <a:solidFill>
                  <a:schemeClr val="tx1"/>
                </a:solidFill>
                <a:latin typeface="Trebuchet MS" pitchFamily="34" charset="0"/>
                <a:ea typeface="MS PGothic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rebuchet MS" pitchFamily="34" charset="0"/>
                <a:ea typeface="MS PGothic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rebuchet MS" pitchFamily="34" charset="0"/>
                <a:ea typeface="MS PGothic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rebuchet MS" pitchFamily="34" charset="0"/>
                <a:ea typeface="MS PGothic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rebuchet MS" pitchFamily="34" charset="0"/>
                <a:ea typeface="MS PGothic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rebuchet MS" pitchFamily="34" charset="0"/>
                <a:ea typeface="MS PGothic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rebuchet MS" pitchFamily="34" charset="0"/>
                <a:ea typeface="MS PGothic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rebuchet MS" pitchFamily="34" charset="0"/>
                <a:ea typeface="MS PGothic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rebuchet MS" pitchFamily="34" charset="0"/>
                <a:ea typeface="MS PGothic" pitchFamily="34" charset="-128"/>
              </a:defRPr>
            </a:lvl9pPr>
          </a:lstStyle>
          <a:p>
            <a:pPr algn="l" eaLnBrk="1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it-IT" altLang="it-IT" sz="900" noProof="0">
                <a:latin typeface="Arial" panose="020B0604020202020204" pitchFamily="34" charset="0"/>
                <a:cs typeface="Arial" panose="020B0604020202020204" pitchFamily="34" charset="0"/>
              </a:rPr>
              <a:t>GIURISPRUDENZA</a:t>
            </a:r>
          </a:p>
          <a:p>
            <a:pPr algn="l" eaLnBrk="1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it-IT" altLang="it-IT" sz="900" noProof="0">
                <a:latin typeface="Arial" panose="020B0604020202020204" pitchFamily="34" charset="0"/>
                <a:cs typeface="Arial" panose="020B0604020202020204" pitchFamily="34" charset="0"/>
              </a:rPr>
              <a:t>RGB 35,73,139</a:t>
            </a:r>
            <a:endParaRPr lang="it-IT" altLang="it-IT" sz="900" noProof="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8" name="Rectangle 112">
            <a:extLst>
              <a:ext uri="{FF2B5EF4-FFF2-40B4-BE49-F238E27FC236}">
                <a16:creationId xmlns:a16="http://schemas.microsoft.com/office/drawing/2014/main" id="{52D45312-9748-7C0A-AC9B-C346984E7C93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-1151167" y="1755177"/>
            <a:ext cx="1094385" cy="25276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>
            <a:lvl1pPr>
              <a:defRPr sz="2400">
                <a:solidFill>
                  <a:schemeClr val="tx1"/>
                </a:solidFill>
                <a:latin typeface="Trebuchet MS" pitchFamily="34" charset="0"/>
                <a:ea typeface="MS PGothic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rebuchet MS" pitchFamily="34" charset="0"/>
                <a:ea typeface="MS PGothic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rebuchet MS" pitchFamily="34" charset="0"/>
                <a:ea typeface="MS PGothic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rebuchet MS" pitchFamily="34" charset="0"/>
                <a:ea typeface="MS PGothic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rebuchet MS" pitchFamily="34" charset="0"/>
                <a:ea typeface="MS PGothic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rebuchet MS" pitchFamily="34" charset="0"/>
                <a:ea typeface="MS PGothic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rebuchet MS" pitchFamily="34" charset="0"/>
                <a:ea typeface="MS PGothic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rebuchet MS" pitchFamily="34" charset="0"/>
                <a:ea typeface="MS PGothic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rebuchet MS" pitchFamily="34" charset="0"/>
                <a:ea typeface="MS PGothic" pitchFamily="34" charset="-128"/>
              </a:defRPr>
            </a:lvl9pPr>
          </a:lstStyle>
          <a:p>
            <a:pPr algn="l" eaLnBrk="1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it-IT" altLang="it-IT" sz="900" noProof="0">
                <a:latin typeface="Arial" panose="020B0604020202020204" pitchFamily="34" charset="0"/>
                <a:cs typeface="Arial" panose="020B0604020202020204" pitchFamily="34" charset="0"/>
              </a:rPr>
              <a:t>LETTERE</a:t>
            </a:r>
          </a:p>
          <a:p>
            <a:pPr algn="l" eaLnBrk="1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it-IT" altLang="it-IT" sz="900" noProof="0">
                <a:latin typeface="Arial" panose="020B0604020202020204" pitchFamily="34" charset="0"/>
                <a:cs typeface="Arial" panose="020B0604020202020204" pitchFamily="34" charset="0"/>
              </a:rPr>
              <a:t>RGB 203,135,186</a:t>
            </a:r>
            <a:endParaRPr lang="it-IT" altLang="it-IT" sz="900" noProof="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9" name="Rectangle 112">
            <a:extLst>
              <a:ext uri="{FF2B5EF4-FFF2-40B4-BE49-F238E27FC236}">
                <a16:creationId xmlns:a16="http://schemas.microsoft.com/office/drawing/2014/main" id="{B2AE4D98-AC7A-D9A5-A6A2-9B83BEB59485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-1151167" y="2089700"/>
            <a:ext cx="999831" cy="25276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>
            <a:lvl1pPr>
              <a:defRPr sz="2400">
                <a:solidFill>
                  <a:schemeClr val="tx1"/>
                </a:solidFill>
                <a:latin typeface="Trebuchet MS" pitchFamily="34" charset="0"/>
                <a:ea typeface="MS PGothic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rebuchet MS" pitchFamily="34" charset="0"/>
                <a:ea typeface="MS PGothic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rebuchet MS" pitchFamily="34" charset="0"/>
                <a:ea typeface="MS PGothic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rebuchet MS" pitchFamily="34" charset="0"/>
                <a:ea typeface="MS PGothic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rebuchet MS" pitchFamily="34" charset="0"/>
                <a:ea typeface="MS PGothic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rebuchet MS" pitchFamily="34" charset="0"/>
                <a:ea typeface="MS PGothic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rebuchet MS" pitchFamily="34" charset="0"/>
                <a:ea typeface="MS PGothic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rebuchet MS" pitchFamily="34" charset="0"/>
                <a:ea typeface="MS PGothic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rebuchet MS" pitchFamily="34" charset="0"/>
                <a:ea typeface="MS PGothic" pitchFamily="34" charset="-128"/>
              </a:defRPr>
            </a:lvl9pPr>
          </a:lstStyle>
          <a:p>
            <a:pPr algn="l" eaLnBrk="1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it-IT" altLang="it-IT" sz="900" noProof="0">
                <a:latin typeface="Arial" panose="020B0604020202020204" pitchFamily="34" charset="0"/>
                <a:cs typeface="Arial" panose="020B0604020202020204" pitchFamily="34" charset="0"/>
              </a:rPr>
              <a:t>SCIENZE</a:t>
            </a:r>
            <a:endParaRPr lang="it-IT" altLang="it-IT" sz="900" noProof="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l" eaLnBrk="1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it-IT" altLang="it-IT" sz="900" noProof="0">
                <a:latin typeface="Arial" panose="020B0604020202020204" pitchFamily="34" charset="0"/>
                <a:cs typeface="Arial" panose="020B0604020202020204" pitchFamily="34" charset="0"/>
              </a:rPr>
              <a:t>RGB 121,194,90</a:t>
            </a:r>
            <a:endParaRPr lang="it-IT" altLang="it-IT" sz="900" noProof="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" name="Rectangle 111">
            <a:extLst>
              <a:ext uri="{FF2B5EF4-FFF2-40B4-BE49-F238E27FC236}">
                <a16:creationId xmlns:a16="http://schemas.microsoft.com/office/drawing/2014/main" id="{CC0C08EF-29D7-0650-C582-86E39DA6C423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-2453976" y="2425616"/>
            <a:ext cx="185359" cy="196510"/>
          </a:xfrm>
          <a:prstGeom prst="rect">
            <a:avLst/>
          </a:prstGeom>
          <a:solidFill>
            <a:srgbClr val="898989"/>
          </a:solidFill>
          <a:ln>
            <a:noFill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Trebuchet MS" pitchFamily="34" charset="0"/>
                <a:ea typeface="MS PGothic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rebuchet MS" pitchFamily="34" charset="0"/>
                <a:ea typeface="MS PGothic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rebuchet MS" pitchFamily="34" charset="0"/>
                <a:ea typeface="MS PGothic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rebuchet MS" pitchFamily="34" charset="0"/>
                <a:ea typeface="MS PGothic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rebuchet MS" pitchFamily="34" charset="0"/>
                <a:ea typeface="MS PGothic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rebuchet MS" pitchFamily="34" charset="0"/>
                <a:ea typeface="MS PGothic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rebuchet MS" pitchFamily="34" charset="0"/>
                <a:ea typeface="MS PGothic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rebuchet MS" pitchFamily="34" charset="0"/>
                <a:ea typeface="MS PGothic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rebuchet MS" pitchFamily="34" charset="0"/>
                <a:ea typeface="MS PGothic" pitchFamily="34" charset="-128"/>
              </a:defRPr>
            </a:lvl9pPr>
          </a:lstStyle>
          <a:p>
            <a:pPr eaLnBrk="1" hangingPunct="1">
              <a:defRPr/>
            </a:pPr>
            <a:endParaRPr lang="it-IT" altLang="it-IT" sz="1800" noProof="0">
              <a:latin typeface="Circe" panose="020B0502020203020203" pitchFamily="34" charset="0"/>
            </a:endParaRPr>
          </a:p>
        </p:txBody>
      </p:sp>
      <p:sp>
        <p:nvSpPr>
          <p:cNvPr id="17" name="Rectangle 106">
            <a:extLst>
              <a:ext uri="{FF2B5EF4-FFF2-40B4-BE49-F238E27FC236}">
                <a16:creationId xmlns:a16="http://schemas.microsoft.com/office/drawing/2014/main" id="{45719105-1E99-8A29-D547-FF9690AC2CDE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-2199907" y="2424223"/>
            <a:ext cx="2143125" cy="25276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>
            <a:lvl1pPr>
              <a:defRPr sz="2400">
                <a:solidFill>
                  <a:schemeClr val="tx1"/>
                </a:solidFill>
                <a:latin typeface="Trebuchet MS" pitchFamily="34" charset="0"/>
                <a:ea typeface="MS PGothic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rebuchet MS" pitchFamily="34" charset="0"/>
                <a:ea typeface="MS PGothic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rebuchet MS" pitchFamily="34" charset="0"/>
                <a:ea typeface="MS PGothic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rebuchet MS" pitchFamily="34" charset="0"/>
                <a:ea typeface="MS PGothic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rebuchet MS" pitchFamily="34" charset="0"/>
                <a:ea typeface="MS PGothic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rebuchet MS" pitchFamily="34" charset="0"/>
                <a:ea typeface="MS PGothic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rebuchet MS" pitchFamily="34" charset="0"/>
                <a:ea typeface="MS PGothic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rebuchet MS" pitchFamily="34" charset="0"/>
                <a:ea typeface="MS PGothic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rebuchet MS" pitchFamily="34" charset="0"/>
                <a:ea typeface="MS PGothic" pitchFamily="34" charset="-128"/>
              </a:defRPr>
            </a:lvl9pPr>
          </a:lstStyle>
          <a:p>
            <a: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lang="it-IT" altLang="it-IT" sz="900" noProof="0">
                <a:latin typeface="Arial" panose="020B0604020202020204" pitchFamily="34" charset="0"/>
                <a:ea typeface="MS PGothic" pitchFamily="34" charset="-128"/>
                <a:cs typeface="Arial" panose="020B0604020202020204" pitchFamily="34" charset="0"/>
              </a:rPr>
              <a:t>GRIGIO GRAFICA</a:t>
            </a:r>
            <a:br>
              <a:rPr lang="it-IT" altLang="it-IT" sz="900" noProof="0">
                <a:latin typeface="Arial" panose="020B0604020202020204" pitchFamily="34" charset="0"/>
                <a:ea typeface="MS PGothic" pitchFamily="34" charset="-128"/>
                <a:cs typeface="Arial" panose="020B0604020202020204" pitchFamily="34" charset="0"/>
              </a:rPr>
            </a:br>
            <a:r>
              <a:rPr lang="it-IT" altLang="it-IT" sz="900" noProof="0">
                <a:latin typeface="Arial" panose="020B0604020202020204" pitchFamily="34" charset="0"/>
                <a:ea typeface="MS PGothic" pitchFamily="34" charset="-128"/>
                <a:cs typeface="Arial" panose="020B0604020202020204" pitchFamily="34" charset="0"/>
              </a:rPr>
              <a:t>RGB 127,127,127</a:t>
            </a:r>
            <a:endParaRPr lang="it-IT" altLang="it-IT" sz="900" noProof="0" dirty="0">
              <a:latin typeface="Arial" panose="020B0604020202020204" pitchFamily="34" charset="0"/>
              <a:ea typeface="MS PGothic" pitchFamily="34" charset="-128"/>
              <a:cs typeface="Arial" panose="020B0604020202020204" pitchFamily="34" charset="0"/>
            </a:endParaRPr>
          </a:p>
        </p:txBody>
      </p:sp>
      <p:sp>
        <p:nvSpPr>
          <p:cNvPr id="18" name="Rectangle 111">
            <a:extLst>
              <a:ext uri="{FF2B5EF4-FFF2-40B4-BE49-F238E27FC236}">
                <a16:creationId xmlns:a16="http://schemas.microsoft.com/office/drawing/2014/main" id="{666785DB-059D-FC2C-963B-ADFABA731A8D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-2454354" y="2775429"/>
            <a:ext cx="185359" cy="196510"/>
          </a:xfrm>
          <a:prstGeom prst="rect">
            <a:avLst/>
          </a:prstGeom>
          <a:solidFill>
            <a:srgbClr val="F08922"/>
          </a:solidFill>
          <a:ln>
            <a:noFill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Trebuchet MS" pitchFamily="34" charset="0"/>
                <a:ea typeface="MS PGothic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rebuchet MS" pitchFamily="34" charset="0"/>
                <a:ea typeface="MS PGothic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rebuchet MS" pitchFamily="34" charset="0"/>
                <a:ea typeface="MS PGothic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rebuchet MS" pitchFamily="34" charset="0"/>
                <a:ea typeface="MS PGothic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rebuchet MS" pitchFamily="34" charset="0"/>
                <a:ea typeface="MS PGothic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rebuchet MS" pitchFamily="34" charset="0"/>
                <a:ea typeface="MS PGothic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rebuchet MS" pitchFamily="34" charset="0"/>
                <a:ea typeface="MS PGothic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rebuchet MS" pitchFamily="34" charset="0"/>
                <a:ea typeface="MS PGothic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rebuchet MS" pitchFamily="34" charset="0"/>
                <a:ea typeface="MS PGothic" pitchFamily="34" charset="-128"/>
              </a:defRPr>
            </a:lvl9pPr>
          </a:lstStyle>
          <a:p>
            <a:pPr eaLnBrk="1" hangingPunct="1">
              <a:defRPr/>
            </a:pPr>
            <a:endParaRPr lang="it-IT" altLang="it-IT" sz="1800" noProof="0">
              <a:latin typeface="Circe" panose="020B0502020203020203" pitchFamily="34" charset="0"/>
            </a:endParaRPr>
          </a:p>
        </p:txBody>
      </p:sp>
      <p:sp>
        <p:nvSpPr>
          <p:cNvPr id="20" name="Rectangle 106">
            <a:extLst>
              <a:ext uri="{FF2B5EF4-FFF2-40B4-BE49-F238E27FC236}">
                <a16:creationId xmlns:a16="http://schemas.microsoft.com/office/drawing/2014/main" id="{7F765AF5-466A-E30F-67A0-D5E9D2598A60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-2200285" y="2758746"/>
            <a:ext cx="2143125" cy="25276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>
            <a:lvl1pPr>
              <a:defRPr sz="2400">
                <a:solidFill>
                  <a:schemeClr val="tx1"/>
                </a:solidFill>
                <a:latin typeface="Trebuchet MS" pitchFamily="34" charset="0"/>
                <a:ea typeface="MS PGothic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rebuchet MS" pitchFamily="34" charset="0"/>
                <a:ea typeface="MS PGothic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rebuchet MS" pitchFamily="34" charset="0"/>
                <a:ea typeface="MS PGothic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rebuchet MS" pitchFamily="34" charset="0"/>
                <a:ea typeface="MS PGothic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rebuchet MS" pitchFamily="34" charset="0"/>
                <a:ea typeface="MS PGothic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rebuchet MS" pitchFamily="34" charset="0"/>
                <a:ea typeface="MS PGothic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rebuchet MS" pitchFamily="34" charset="0"/>
                <a:ea typeface="MS PGothic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rebuchet MS" pitchFamily="34" charset="0"/>
                <a:ea typeface="MS PGothic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rebuchet MS" pitchFamily="34" charset="0"/>
                <a:ea typeface="MS PGothic" pitchFamily="34" charset="-128"/>
              </a:defRPr>
            </a:lvl9pPr>
          </a:lstStyle>
          <a:p>
            <a: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lang="it-IT" altLang="it-IT" sz="900" noProof="0">
                <a:latin typeface="Arial" panose="020B0604020202020204" pitchFamily="34" charset="0"/>
                <a:ea typeface="MS PGothic" pitchFamily="34" charset="-128"/>
                <a:cs typeface="Arial" panose="020B0604020202020204" pitchFamily="34" charset="0"/>
              </a:rPr>
              <a:t>ARANCIONE</a:t>
            </a:r>
            <a:br>
              <a:rPr lang="it-IT" altLang="it-IT" sz="900" noProof="0">
                <a:latin typeface="Arial" panose="020B0604020202020204" pitchFamily="34" charset="0"/>
                <a:ea typeface="MS PGothic" pitchFamily="34" charset="-128"/>
                <a:cs typeface="Arial" panose="020B0604020202020204" pitchFamily="34" charset="0"/>
              </a:rPr>
            </a:br>
            <a:r>
              <a:rPr lang="it-IT" altLang="it-IT" sz="900" noProof="0">
                <a:latin typeface="Arial" panose="020B0604020202020204" pitchFamily="34" charset="0"/>
                <a:ea typeface="MS PGothic" pitchFamily="34" charset="-128"/>
                <a:cs typeface="Arial" panose="020B0604020202020204" pitchFamily="34" charset="0"/>
              </a:rPr>
              <a:t>RGB 240,137,34</a:t>
            </a:r>
            <a:endParaRPr lang="it-IT" altLang="it-IT" sz="900" noProof="0" dirty="0">
              <a:latin typeface="Arial" panose="020B0604020202020204" pitchFamily="34" charset="0"/>
              <a:ea typeface="MS PGothic" pitchFamily="34" charset="-128"/>
              <a:cs typeface="Arial" panose="020B0604020202020204" pitchFamily="34" charset="0"/>
            </a:endParaRPr>
          </a:p>
        </p:txBody>
      </p:sp>
      <p:sp>
        <p:nvSpPr>
          <p:cNvPr id="31" name="Rectangle 111">
            <a:extLst>
              <a:ext uri="{FF2B5EF4-FFF2-40B4-BE49-F238E27FC236}">
                <a16:creationId xmlns:a16="http://schemas.microsoft.com/office/drawing/2014/main" id="{9B864F56-2B1E-7E67-5CA5-AC78971E754C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-1357422" y="2778240"/>
            <a:ext cx="185359" cy="196510"/>
          </a:xfrm>
          <a:prstGeom prst="rect">
            <a:avLst/>
          </a:prstGeom>
          <a:solidFill>
            <a:srgbClr val="1D8BC2"/>
          </a:solidFill>
          <a:ln>
            <a:noFill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Trebuchet MS" pitchFamily="34" charset="0"/>
                <a:ea typeface="MS PGothic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rebuchet MS" pitchFamily="34" charset="0"/>
                <a:ea typeface="MS PGothic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rebuchet MS" pitchFamily="34" charset="0"/>
                <a:ea typeface="MS PGothic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rebuchet MS" pitchFamily="34" charset="0"/>
                <a:ea typeface="MS PGothic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rebuchet MS" pitchFamily="34" charset="0"/>
                <a:ea typeface="MS PGothic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rebuchet MS" pitchFamily="34" charset="0"/>
                <a:ea typeface="MS PGothic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rebuchet MS" pitchFamily="34" charset="0"/>
                <a:ea typeface="MS PGothic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rebuchet MS" pitchFamily="34" charset="0"/>
                <a:ea typeface="MS PGothic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rebuchet MS" pitchFamily="34" charset="0"/>
                <a:ea typeface="MS PGothic" pitchFamily="34" charset="-128"/>
              </a:defRPr>
            </a:lvl9pPr>
          </a:lstStyle>
          <a:p>
            <a:pPr eaLnBrk="1" hangingPunct="1">
              <a:defRPr/>
            </a:pPr>
            <a:endParaRPr lang="it-IT" altLang="it-IT" sz="1800" noProof="0">
              <a:latin typeface="Circe" panose="020B0502020203020203" pitchFamily="34" charset="0"/>
            </a:endParaRPr>
          </a:p>
        </p:txBody>
      </p:sp>
      <p:sp>
        <p:nvSpPr>
          <p:cNvPr id="32" name="Rectangle 106">
            <a:extLst>
              <a:ext uri="{FF2B5EF4-FFF2-40B4-BE49-F238E27FC236}">
                <a16:creationId xmlns:a16="http://schemas.microsoft.com/office/drawing/2014/main" id="{4D7CB1D1-CACB-867D-010A-A8B962029386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-1103353" y="2760152"/>
            <a:ext cx="932793" cy="25276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>
            <a:lvl1pPr>
              <a:defRPr sz="2400">
                <a:solidFill>
                  <a:schemeClr val="tx1"/>
                </a:solidFill>
                <a:latin typeface="Trebuchet MS" pitchFamily="34" charset="0"/>
                <a:ea typeface="MS PGothic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rebuchet MS" pitchFamily="34" charset="0"/>
                <a:ea typeface="MS PGothic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rebuchet MS" pitchFamily="34" charset="0"/>
                <a:ea typeface="MS PGothic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rebuchet MS" pitchFamily="34" charset="0"/>
                <a:ea typeface="MS PGothic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rebuchet MS" pitchFamily="34" charset="0"/>
                <a:ea typeface="MS PGothic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rebuchet MS" pitchFamily="34" charset="0"/>
                <a:ea typeface="MS PGothic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rebuchet MS" pitchFamily="34" charset="0"/>
                <a:ea typeface="MS PGothic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rebuchet MS" pitchFamily="34" charset="0"/>
                <a:ea typeface="MS PGothic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rebuchet MS" pitchFamily="34" charset="0"/>
                <a:ea typeface="MS PGothic" pitchFamily="34" charset="-128"/>
              </a:defRPr>
            </a:lvl9pPr>
          </a:lstStyle>
          <a:p>
            <a: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lang="it-IT" altLang="it-IT" sz="900" noProof="0">
                <a:latin typeface="+mj-lt"/>
                <a:ea typeface="MS PGothic" pitchFamily="34" charset="-128"/>
                <a:cs typeface="Tahoma" pitchFamily="34" charset="0"/>
              </a:rPr>
              <a:t>AZZURRO</a:t>
            </a:r>
            <a:br>
              <a:rPr lang="it-IT" altLang="it-IT" sz="900" noProof="0">
                <a:latin typeface="+mj-lt"/>
                <a:ea typeface="MS PGothic" pitchFamily="34" charset="-128"/>
                <a:cs typeface="Tahoma" pitchFamily="34" charset="0"/>
              </a:rPr>
            </a:br>
            <a:r>
              <a:rPr lang="it-IT" altLang="it-IT" sz="900" noProof="0">
                <a:latin typeface="+mj-lt"/>
                <a:ea typeface="MS PGothic" pitchFamily="34" charset="-128"/>
                <a:cs typeface="Tahoma" pitchFamily="34" charset="0"/>
              </a:rPr>
              <a:t>RGB 29,139,194</a:t>
            </a:r>
            <a:endParaRPr lang="it-IT" altLang="it-IT" sz="900" noProof="0" dirty="0">
              <a:latin typeface="+mj-lt"/>
              <a:ea typeface="MS PGothic" pitchFamily="34" charset="-128"/>
              <a:cs typeface="Tahoma" pitchFamily="34" charset="0"/>
            </a:endParaRPr>
          </a:p>
        </p:txBody>
      </p:sp>
      <p:pic>
        <p:nvPicPr>
          <p:cNvPr id="19" name="Immagine 18" descr="Immagine che contiene testo&#10;&#10;Descrizione generata automaticamente">
            <a:extLst>
              <a:ext uri="{FF2B5EF4-FFF2-40B4-BE49-F238E27FC236}">
                <a16:creationId xmlns:a16="http://schemas.microsoft.com/office/drawing/2014/main" id="{E5186588-4AA5-0C4D-4A78-BDC4513AE071}"/>
              </a:ext>
            </a:extLst>
          </p:cNvPr>
          <p:cNvPicPr>
            <a:picLocks noChangeAspect="1"/>
          </p:cNvPicPr>
          <p:nvPr userDrawn="1"/>
        </p:nvPicPr>
        <p:blipFill>
          <a:blip r:embed="rId9"/>
          <a:stretch>
            <a:fillRect/>
          </a:stretch>
        </p:blipFill>
        <p:spPr>
          <a:xfrm>
            <a:off x="-2473016" y="69845"/>
            <a:ext cx="2308454" cy="549849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3" r:id="rId2"/>
    <p:sldLayoutId id="2147483652" r:id="rId3"/>
    <p:sldLayoutId id="2147483650" r:id="rId4"/>
    <p:sldLayoutId id="2147483651" r:id="rId5"/>
    <p:sldLayoutId id="2147483654" r:id="rId6"/>
    <p:sldLayoutId id="2147483655" r:id="rId7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/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rgbClr val="007D34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rgbClr val="34893B"/>
        </a:buClr>
        <a:buSzPct val="80000"/>
        <a:buFont typeface="Wingdings 3" charset="2"/>
        <a:buChar char=""/>
        <a:defRPr sz="20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rgbClr val="34893B"/>
        </a:buClr>
        <a:buSzPct val="80000"/>
        <a:buFont typeface="Wingdings 3" charset="2"/>
        <a:buChar char=""/>
        <a:defRPr sz="1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rgbClr val="34893B"/>
        </a:buClr>
        <a:buSzPct val="80000"/>
        <a:buFont typeface="Wingdings 3" charset="2"/>
        <a:buChar char=""/>
        <a:defRPr sz="16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rgbClr val="34893B"/>
        </a:buClr>
        <a:buSzPct val="80000"/>
        <a:buFont typeface="Wingdings 3" charset="2"/>
        <a:buChar char=""/>
        <a:defRPr sz="14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rgbClr val="34893B"/>
        </a:buClr>
        <a:buSzPct val="80000"/>
        <a:buFont typeface="Wingdings 3" charset="2"/>
        <a:buChar char=""/>
        <a:defRPr sz="14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7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76912B06-7B10-E1DC-5947-FA274C6919F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2875" y="3401862"/>
            <a:ext cx="11210697" cy="1646302"/>
          </a:xfrm>
        </p:spPr>
        <p:txBody>
          <a:bodyPr/>
          <a:lstStyle/>
          <a:p>
            <a:pPr>
              <a:defRPr sz="4200" b="1">
                <a:solidFill>
                  <a:srgbClr val="FFFFFF"/>
                </a:solidFill>
                <a:latin typeface="Arial"/>
              </a:defRPr>
            </a:pPr>
            <a:r>
              <a:rPr lang="it-IT" dirty="0"/>
              <a:t>CMMOFLP </a:t>
            </a:r>
            <a:r>
              <a:rPr lang="it-IT" dirty="0" err="1"/>
              <a:t>Nuclear</a:t>
            </a:r>
            <a:r>
              <a:rPr lang="it-IT" dirty="0"/>
              <a:t> </a:t>
            </a:r>
            <a:r>
              <a:rPr lang="it-IT" dirty="0" err="1"/>
              <a:t>Siting</a:t>
            </a:r>
            <a:endParaRPr lang="it-IT" dirty="0"/>
          </a:p>
        </p:txBody>
      </p:sp>
      <p:sp>
        <p:nvSpPr>
          <p:cNvPr id="5" name="Segnaposto testo 4">
            <a:extLst>
              <a:ext uri="{FF2B5EF4-FFF2-40B4-BE49-F238E27FC236}">
                <a16:creationId xmlns:a16="http://schemas.microsoft.com/office/drawing/2014/main" id="{F0702E66-3615-B9DD-315E-A2695AB43B5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it-IT" sz="2400" b="1" dirty="0" err="1"/>
              <a:t>Capacitated</a:t>
            </a:r>
            <a:r>
              <a:rPr lang="it-IT" sz="2400" b="1" dirty="0"/>
              <a:t> Multiple Maximin </a:t>
            </a:r>
            <a:r>
              <a:rPr lang="it-IT" sz="2400" b="1" dirty="0" err="1"/>
              <a:t>Obnoxious</a:t>
            </a:r>
            <a:r>
              <a:rPr lang="it-IT" sz="2400" b="1" dirty="0"/>
              <a:t> Facility Location </a:t>
            </a:r>
            <a:r>
              <a:rPr lang="it-IT" sz="2400" b="1" dirty="0" err="1"/>
              <a:t>Problem</a:t>
            </a:r>
            <a:endParaRPr lang="en-GB" sz="2400" dirty="0"/>
          </a:p>
        </p:txBody>
      </p:sp>
      <p:sp>
        <p:nvSpPr>
          <p:cNvPr id="8" name="Segnaposto testo 7">
            <a:extLst>
              <a:ext uri="{FF2B5EF4-FFF2-40B4-BE49-F238E27FC236}">
                <a16:creationId xmlns:a16="http://schemas.microsoft.com/office/drawing/2014/main" id="{58A74CE6-0F60-FCBF-0D41-1C167491343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15612" y="5788756"/>
            <a:ext cx="11237960" cy="598658"/>
          </a:xfrm>
        </p:spPr>
        <p:txBody>
          <a:bodyPr/>
          <a:lstStyle/>
          <a:p>
            <a:pPr>
              <a:defRPr sz="1350">
                <a:solidFill>
                  <a:srgbClr val="FFFFFF"/>
                </a:solidFill>
                <a:latin typeface="Arial"/>
              </a:defRPr>
            </a:pPr>
            <a:r>
              <a:rPr lang="it-IT" dirty="0"/>
              <a:t>Valerio Torac · Ali </a:t>
            </a:r>
            <a:r>
              <a:rPr lang="it-IT" dirty="0" err="1"/>
              <a:t>Shalby</a:t>
            </a:r>
            <a:r>
              <a:rPr lang="it-IT" dirty="0"/>
              <a:t>  |  Algoritmi e modelli per l’ottimizzazione discreta  |  A.A. 2025/2026</a:t>
            </a:r>
          </a:p>
        </p:txBody>
      </p:sp>
      <p:pic>
        <p:nvPicPr>
          <p:cNvPr id="4" name="Picture 2" descr="cmmoflp_cover_visual.png">
            <a:extLst>
              <a:ext uri="{FF2B5EF4-FFF2-40B4-BE49-F238E27FC236}">
                <a16:creationId xmlns:a16="http://schemas.microsoft.com/office/drawing/2014/main" id="{42893071-93EF-548B-3B5B-D224D22165F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7618" y="339058"/>
            <a:ext cx="6812280" cy="2679192"/>
          </a:xfrm>
          <a:prstGeom prst="rect">
            <a:avLst/>
          </a:prstGeom>
        </p:spPr>
      </p:pic>
      <p:sp>
        <p:nvSpPr>
          <p:cNvPr id="7" name="TextBox 3">
            <a:extLst>
              <a:ext uri="{FF2B5EF4-FFF2-40B4-BE49-F238E27FC236}">
                <a16:creationId xmlns:a16="http://schemas.microsoft.com/office/drawing/2014/main" id="{65477F66-4D8C-08A3-8976-957446A3F177}"/>
              </a:ext>
            </a:extLst>
          </p:cNvPr>
          <p:cNvSpPr txBox="1"/>
          <p:nvPr/>
        </p:nvSpPr>
        <p:spPr>
          <a:xfrm>
            <a:off x="909962" y="2669834"/>
            <a:ext cx="888064" cy="23083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1500" b="1" dirty="0" err="1">
                <a:solidFill>
                  <a:srgbClr val="007D34"/>
                </a:solidFill>
                <a:latin typeface="Arial"/>
              </a:rPr>
              <a:t>Sicurezza</a:t>
            </a:r>
            <a:endParaRPr sz="1500" b="1" dirty="0">
              <a:solidFill>
                <a:srgbClr val="F08922"/>
              </a:solidFill>
              <a:latin typeface="Arial"/>
            </a:endParaRPr>
          </a:p>
        </p:txBody>
      </p:sp>
      <p:sp>
        <p:nvSpPr>
          <p:cNvPr id="10" name="CasellaDiTesto 9">
            <a:extLst>
              <a:ext uri="{FF2B5EF4-FFF2-40B4-BE49-F238E27FC236}">
                <a16:creationId xmlns:a16="http://schemas.microsoft.com/office/drawing/2014/main" id="{4CB9AF81-B145-4283-9DB9-9834C439BC41}"/>
              </a:ext>
            </a:extLst>
          </p:cNvPr>
          <p:cNvSpPr txBox="1"/>
          <p:nvPr/>
        </p:nvSpPr>
        <p:spPr>
          <a:xfrm>
            <a:off x="1806606" y="2623668"/>
            <a:ext cx="7359588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sz="1500" b="1" dirty="0">
                <a:solidFill>
                  <a:srgbClr val="1D8BC2"/>
                </a:solidFill>
                <a:latin typeface="Arial"/>
              </a:rPr>
              <a:t>Equità</a:t>
            </a:r>
            <a:endParaRPr lang="it-IT" dirty="0">
              <a:solidFill>
                <a:srgbClr val="1D8BC2"/>
              </a:solidFill>
            </a:endParaRPr>
          </a:p>
        </p:txBody>
      </p:sp>
      <p:sp>
        <p:nvSpPr>
          <p:cNvPr id="12" name="CasellaDiTesto 11">
            <a:extLst>
              <a:ext uri="{FF2B5EF4-FFF2-40B4-BE49-F238E27FC236}">
                <a16:creationId xmlns:a16="http://schemas.microsoft.com/office/drawing/2014/main" id="{C941E7CC-BDA1-677D-803B-127957005F0B}"/>
              </a:ext>
            </a:extLst>
          </p:cNvPr>
          <p:cNvSpPr txBox="1"/>
          <p:nvPr/>
        </p:nvSpPr>
        <p:spPr>
          <a:xfrm>
            <a:off x="2694373" y="2605706"/>
            <a:ext cx="7359588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sz="1500" b="1" dirty="0">
                <a:solidFill>
                  <a:srgbClr val="F08922"/>
                </a:solidFill>
                <a:latin typeface="Arial"/>
              </a:rPr>
              <a:t>Capacità</a:t>
            </a:r>
            <a:endParaRPr lang="it-IT" dirty="0">
              <a:solidFill>
                <a:srgbClr val="F0892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791412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1417320"/>
            <a:ext cx="5760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300" b="1" dirty="0">
                <a:solidFill>
                  <a:srgbClr val="007D34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Perché questo problema conta</a:t>
            </a:r>
            <a:endParaRPr lang="en-US" sz="3300" dirty="0"/>
          </a:p>
        </p:txBody>
      </p:sp>
      <p:sp>
        <p:nvSpPr>
          <p:cNvPr id="3" name="Text 1"/>
          <p:cNvSpPr/>
          <p:nvPr/>
        </p:nvSpPr>
        <p:spPr>
          <a:xfrm>
            <a:off x="685800" y="2084832"/>
            <a:ext cx="5486400" cy="78638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fontScale="77500" lnSpcReduction="20000"/>
          </a:bodyPr>
          <a:lstStyle/>
          <a:p>
            <a:r>
              <a:rPr lang="it-IT" sz="2000" dirty="0"/>
              <a:t>L’obiettivo non è indicare un sito reale, ma mostrare come criteri espliciti e verificabili possano rendere queste decisioni più responsabili, trasparenti ed eque per le comunità coinvolte.</a:t>
            </a:r>
            <a:endParaRPr lang="en-US" sz="1850" dirty="0"/>
          </a:p>
        </p:txBody>
      </p:sp>
      <p:sp>
        <p:nvSpPr>
          <p:cNvPr id="4" name="Shape 2"/>
          <p:cNvSpPr/>
          <p:nvPr/>
        </p:nvSpPr>
        <p:spPr>
          <a:xfrm>
            <a:off x="749808" y="3209544"/>
            <a:ext cx="109728" cy="109728"/>
          </a:xfrm>
          <a:prstGeom prst="ellipse">
            <a:avLst/>
          </a:prstGeom>
          <a:solidFill>
            <a:srgbClr val="007D34"/>
          </a:solidFill>
          <a:ln w="12700">
            <a:solidFill>
              <a:srgbClr val="007D34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5" name="Text 3"/>
          <p:cNvSpPr/>
          <p:nvPr/>
        </p:nvSpPr>
        <p:spPr>
          <a:xfrm>
            <a:off x="969264" y="3163824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1620" dirty="0">
                <a:solidFill>
                  <a:srgbClr val="1F1F1F"/>
                </a:solidFill>
              </a:rPr>
              <a:t>Proteggere persone e territori: massimizzare la distanza minima dalle comunità.</a:t>
            </a:r>
            <a:endParaRPr lang="en-US" sz="1620" dirty="0"/>
          </a:p>
        </p:txBody>
      </p:sp>
      <p:sp>
        <p:nvSpPr>
          <p:cNvPr id="6" name="Shape 4"/>
          <p:cNvSpPr/>
          <p:nvPr/>
        </p:nvSpPr>
        <p:spPr>
          <a:xfrm>
            <a:off x="749808" y="3886200"/>
            <a:ext cx="109728" cy="109728"/>
          </a:xfrm>
          <a:prstGeom prst="ellipse">
            <a:avLst/>
          </a:prstGeom>
          <a:solidFill>
            <a:srgbClr val="007D34"/>
          </a:solidFill>
          <a:ln w="12700">
            <a:solidFill>
              <a:srgbClr val="007D34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7" name="Text 5"/>
          <p:cNvSpPr/>
          <p:nvPr/>
        </p:nvSpPr>
        <p:spPr>
          <a:xfrm>
            <a:off x="969264" y="384048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1620" dirty="0">
                <a:solidFill>
                  <a:srgbClr val="1F1F1F"/>
                </a:solidFill>
              </a:rPr>
              <a:t>Esplicitare i compromessi: costo, capacità e distribuzione spaziale dei siti.</a:t>
            </a:r>
            <a:endParaRPr lang="en-US" sz="1620" dirty="0"/>
          </a:p>
        </p:txBody>
      </p:sp>
      <p:sp>
        <p:nvSpPr>
          <p:cNvPr id="8" name="Shape 6"/>
          <p:cNvSpPr/>
          <p:nvPr/>
        </p:nvSpPr>
        <p:spPr>
          <a:xfrm>
            <a:off x="749808" y="4562856"/>
            <a:ext cx="109728" cy="109728"/>
          </a:xfrm>
          <a:prstGeom prst="ellipse">
            <a:avLst/>
          </a:prstGeom>
          <a:solidFill>
            <a:srgbClr val="007D34"/>
          </a:solidFill>
          <a:ln w="12700">
            <a:solidFill>
              <a:srgbClr val="007D34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9" name="Text 7"/>
          <p:cNvSpPr/>
          <p:nvPr/>
        </p:nvSpPr>
        <p:spPr>
          <a:xfrm>
            <a:off x="969264" y="4517136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1620" dirty="0">
                <a:solidFill>
                  <a:srgbClr val="1F1F1F"/>
                </a:solidFill>
              </a:rPr>
              <a:t>Confrontare approcci: modelli esatti per certificare, euristiche per scalare.</a:t>
            </a:r>
            <a:endParaRPr lang="en-US" sz="1620" dirty="0"/>
          </a:p>
        </p:txBody>
      </p:sp>
      <p:sp>
        <p:nvSpPr>
          <p:cNvPr id="10" name="Shape 8"/>
          <p:cNvSpPr/>
          <p:nvPr/>
        </p:nvSpPr>
        <p:spPr>
          <a:xfrm>
            <a:off x="685800" y="5449824"/>
            <a:ext cx="5806440" cy="658368"/>
          </a:xfrm>
          <a:prstGeom prst="roundRect">
            <a:avLst>
              <a:gd name="adj" fmla="val 8333"/>
            </a:avLst>
          </a:prstGeom>
          <a:solidFill>
            <a:srgbClr val="E9F5EE"/>
          </a:solidFill>
          <a:ln w="12700">
            <a:solidFill>
              <a:srgbClr val="D4E8DA">
                <a:alpha val="9500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1" name="Text 9"/>
          <p:cNvSpPr/>
          <p:nvPr/>
        </p:nvSpPr>
        <p:spPr>
          <a:xfrm>
            <a:off x="896112" y="5614416"/>
            <a:ext cx="5349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85000" lnSpcReduction="20000"/>
          </a:bodyPr>
          <a:lstStyle/>
          <a:p>
            <a:pPr marL="0" indent="0">
              <a:buNone/>
            </a:pPr>
            <a:r>
              <a:rPr lang="en-US" sz="1420" b="1" dirty="0">
                <a:solidFill>
                  <a:srgbClr val="007D34"/>
                </a:solidFill>
              </a:rPr>
              <a:t>Motivo etico: usare l’ottimizzazione per rendere espliciti i compromessi, non per nasconderli.</a:t>
            </a:r>
            <a:endParaRPr lang="en-US" sz="1420" dirty="0"/>
          </a:p>
        </p:txBody>
      </p:sp>
      <p:pic>
        <p:nvPicPr>
          <p:cNvPr id="12" name="Image 0" descr="/mnt/data/nuclear_siting_visual_cro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86600" y="1444752"/>
            <a:ext cx="4617720" cy="4434840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7315200" y="5943600"/>
            <a:ext cx="40050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7F7F7F"/>
                </a:solidFill>
              </a:rPr>
              <a:t>Dal contesto reale al modello</a:t>
            </a:r>
            <a:endParaRPr lang="en-US" sz="1250" dirty="0"/>
          </a:p>
        </p:txBody>
      </p:sp>
      <p:sp>
        <p:nvSpPr>
          <p:cNvPr id="14" name="Text 11"/>
          <p:cNvSpPr/>
          <p:nvPr/>
        </p:nvSpPr>
        <p:spPr>
          <a:xfrm>
            <a:off x="7909560" y="6547104"/>
            <a:ext cx="34290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80" dirty="0">
                <a:solidFill>
                  <a:srgbClr val="7F7F7F"/>
                </a:solidFill>
              </a:rPr>
              <a:t>AMOD · CMMOFLP Nuclear Siting</a:t>
            </a:r>
            <a:endParaRPr lang="en-US" sz="78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86032" y="653796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7F7F7F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564131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1389888"/>
            <a:ext cx="6400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>
              <a:buNone/>
            </a:pPr>
            <a:r>
              <a:rPr lang="en-US" sz="3200" b="1" dirty="0">
                <a:solidFill>
                  <a:srgbClr val="007D34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Dal caso reale al modello matematico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85800" y="1901952"/>
            <a:ext cx="5212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62500" lnSpcReduction="20000"/>
          </a:bodyPr>
          <a:lstStyle/>
          <a:p>
            <a:pPr marL="0" indent="0">
              <a:buNone/>
            </a:pPr>
            <a:r>
              <a:rPr lang="en-US" sz="1520" dirty="0">
                <a:solidFill>
                  <a:srgbClr val="7F7F7F"/>
                </a:solidFill>
              </a:rPr>
              <a:t>Il problema territoriale viene tradotto in dati, variabili decisionali, vincoli e funzione obiettivo.</a:t>
            </a:r>
            <a:endParaRPr lang="en-US" sz="1520" dirty="0"/>
          </a:p>
        </p:txBody>
      </p:sp>
      <p:sp>
        <p:nvSpPr>
          <p:cNvPr id="4" name="Shape 2"/>
          <p:cNvSpPr/>
          <p:nvPr/>
        </p:nvSpPr>
        <p:spPr>
          <a:xfrm>
            <a:off x="676656" y="2450592"/>
            <a:ext cx="5074920" cy="2788920"/>
          </a:xfrm>
          <a:prstGeom prst="roundRect">
            <a:avLst>
              <a:gd name="adj" fmla="val 1967"/>
            </a:avLst>
          </a:prstGeom>
          <a:solidFill>
            <a:srgbClr val="F4F6F4"/>
          </a:solidFill>
          <a:ln w="12700">
            <a:solidFill>
              <a:srgbClr val="D9DED9">
                <a:alpha val="9000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5" name="Shape 3"/>
          <p:cNvSpPr/>
          <p:nvPr/>
        </p:nvSpPr>
        <p:spPr>
          <a:xfrm>
            <a:off x="932688" y="2788920"/>
            <a:ext cx="256032" cy="256032"/>
          </a:xfrm>
          <a:prstGeom prst="ellipse">
            <a:avLst/>
          </a:prstGeom>
          <a:solidFill>
            <a:srgbClr val="007D34"/>
          </a:solidFill>
          <a:ln w="12700">
            <a:solidFill>
              <a:srgbClr val="007D34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6" name="Text 4"/>
          <p:cNvSpPr/>
          <p:nvPr/>
        </p:nvSpPr>
        <p:spPr>
          <a:xfrm>
            <a:off x="992124" y="2858171"/>
            <a:ext cx="1371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1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316736" y="2752344"/>
            <a:ext cx="41422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>
              <a:buNone/>
            </a:pPr>
            <a:r>
              <a:rPr lang="en-US" sz="1470" b="1" dirty="0">
                <a:solidFill>
                  <a:srgbClr val="1F1F1F"/>
                </a:solidFill>
              </a:rPr>
              <a:t>Realtà osservata</a:t>
            </a:r>
            <a:endParaRPr lang="en-US" sz="1470" dirty="0"/>
          </a:p>
        </p:txBody>
      </p:sp>
      <p:sp>
        <p:nvSpPr>
          <p:cNvPr id="8" name="Text 6"/>
          <p:cNvSpPr/>
          <p:nvPr/>
        </p:nvSpPr>
        <p:spPr>
          <a:xfrm>
            <a:off x="1316736" y="3008376"/>
            <a:ext cx="4142232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60" dirty="0">
                <a:solidFill>
                  <a:srgbClr val="7F7F7F"/>
                </a:solidFill>
              </a:rPr>
              <a:t>Comunità, domanda energetica, siti candidati e distanze sul territorio.</a:t>
            </a:r>
            <a:endParaRPr lang="en-US" sz="1260" dirty="0"/>
          </a:p>
        </p:txBody>
      </p:sp>
      <p:sp>
        <p:nvSpPr>
          <p:cNvPr id="9" name="Shape 7"/>
          <p:cNvSpPr/>
          <p:nvPr/>
        </p:nvSpPr>
        <p:spPr>
          <a:xfrm>
            <a:off x="932688" y="3547872"/>
            <a:ext cx="256032" cy="256032"/>
          </a:xfrm>
          <a:prstGeom prst="ellipse">
            <a:avLst/>
          </a:prstGeom>
          <a:solidFill>
            <a:srgbClr val="007D34"/>
          </a:solidFill>
          <a:ln w="12700">
            <a:solidFill>
              <a:srgbClr val="007D34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0" name="Text 8"/>
          <p:cNvSpPr/>
          <p:nvPr/>
        </p:nvSpPr>
        <p:spPr>
          <a:xfrm>
            <a:off x="992124" y="3617123"/>
            <a:ext cx="1371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2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316736" y="3511296"/>
            <a:ext cx="41422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>
              <a:buNone/>
            </a:pPr>
            <a:r>
              <a:rPr lang="en-US" sz="1470" b="1" dirty="0">
                <a:solidFill>
                  <a:srgbClr val="1F1F1F"/>
                </a:solidFill>
              </a:rPr>
              <a:t>Astrazione dei dati</a:t>
            </a:r>
            <a:endParaRPr lang="en-US" sz="1470" dirty="0"/>
          </a:p>
        </p:txBody>
      </p:sp>
      <p:sp>
        <p:nvSpPr>
          <p:cNvPr id="12" name="Text 10"/>
          <p:cNvSpPr/>
          <p:nvPr/>
        </p:nvSpPr>
        <p:spPr>
          <a:xfrm>
            <a:off x="1316736" y="3767328"/>
            <a:ext cx="4142232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60" dirty="0">
                <a:solidFill>
                  <a:srgbClr val="7F7F7F"/>
                </a:solidFill>
              </a:rPr>
              <a:t>Insiemi I e J, distanza dᵢⱼ, capacità capⱼ, costo fⱼ e numero p di siti.</a:t>
            </a:r>
            <a:endParaRPr lang="en-US" sz="1260" dirty="0"/>
          </a:p>
        </p:txBody>
      </p:sp>
      <p:sp>
        <p:nvSpPr>
          <p:cNvPr id="13" name="Shape 11"/>
          <p:cNvSpPr/>
          <p:nvPr/>
        </p:nvSpPr>
        <p:spPr>
          <a:xfrm>
            <a:off x="932688" y="4306824"/>
            <a:ext cx="256032" cy="256032"/>
          </a:xfrm>
          <a:prstGeom prst="ellipse">
            <a:avLst/>
          </a:prstGeom>
          <a:solidFill>
            <a:srgbClr val="007D34"/>
          </a:solidFill>
          <a:ln w="12700">
            <a:solidFill>
              <a:srgbClr val="007D34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4" name="Text 12"/>
          <p:cNvSpPr/>
          <p:nvPr/>
        </p:nvSpPr>
        <p:spPr>
          <a:xfrm>
            <a:off x="992124" y="4376075"/>
            <a:ext cx="1371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3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316736" y="4270248"/>
            <a:ext cx="41422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>
              <a:buNone/>
            </a:pPr>
            <a:r>
              <a:rPr lang="en-US" sz="1470" b="1" dirty="0">
                <a:solidFill>
                  <a:srgbClr val="1F1F1F"/>
                </a:solidFill>
              </a:rPr>
              <a:t>Decisioni del modello</a:t>
            </a:r>
            <a:endParaRPr lang="en-US" sz="1470" dirty="0"/>
          </a:p>
        </p:txBody>
      </p:sp>
      <p:sp>
        <p:nvSpPr>
          <p:cNvPr id="16" name="Text 14"/>
          <p:cNvSpPr/>
          <p:nvPr/>
        </p:nvSpPr>
        <p:spPr>
          <a:xfrm>
            <a:off x="1316736" y="4526280"/>
            <a:ext cx="4142232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60" dirty="0">
                <a:solidFill>
                  <a:srgbClr val="7F7F7F"/>
                </a:solidFill>
              </a:rPr>
              <a:t>Aprire esattamente p centrali e assegnare ogni comunità a un sito aperto.</a:t>
            </a:r>
            <a:endParaRPr lang="en-US" sz="1260" dirty="0"/>
          </a:p>
        </p:txBody>
      </p:sp>
      <p:sp>
        <p:nvSpPr>
          <p:cNvPr id="17" name="Shape 15"/>
          <p:cNvSpPr/>
          <p:nvPr/>
        </p:nvSpPr>
        <p:spPr>
          <a:xfrm>
            <a:off x="685800" y="5504688"/>
            <a:ext cx="5074920" cy="512064"/>
          </a:xfrm>
          <a:prstGeom prst="roundRect">
            <a:avLst>
              <a:gd name="adj" fmla="val 8929"/>
            </a:avLst>
          </a:prstGeom>
          <a:solidFill>
            <a:srgbClr val="EAF5EE"/>
          </a:solidFill>
          <a:ln w="12700">
            <a:solidFill>
              <a:srgbClr val="CFE6D6">
                <a:alpha val="9500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8" name="Text 16"/>
          <p:cNvSpPr/>
          <p:nvPr/>
        </p:nvSpPr>
        <p:spPr>
          <a:xfrm>
            <a:off x="932688" y="5660136"/>
            <a:ext cx="460857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70000" lnSpcReduction="20000"/>
          </a:bodyPr>
          <a:lstStyle/>
          <a:p>
            <a:pPr marL="0" indent="0">
              <a:buNone/>
            </a:pPr>
            <a:r>
              <a:rPr lang="en-US" sz="1280" b="1" dirty="0">
                <a:solidFill>
                  <a:srgbClr val="007D34"/>
                </a:solidFill>
              </a:rPr>
              <a:t>Idea chiave: trasformare un conflitto territoriale in una scelta confrontabile e riproducibile.</a:t>
            </a:r>
            <a:endParaRPr lang="en-US" sz="1280" dirty="0"/>
          </a:p>
        </p:txBody>
      </p:sp>
      <p:pic>
        <p:nvPicPr>
          <p:cNvPr id="19" name="Image 0" descr="/mnt/data/wide_clean_infographic_slide_like_scene_on_a_whi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44768" y="2359152"/>
            <a:ext cx="5440680" cy="3063240"/>
          </a:xfrm>
          <a:prstGeom prst="rect">
            <a:avLst/>
          </a:prstGeom>
        </p:spPr>
      </p:pic>
      <p:sp>
        <p:nvSpPr>
          <p:cNvPr id="20" name="Shape 17"/>
          <p:cNvSpPr/>
          <p:nvPr/>
        </p:nvSpPr>
        <p:spPr>
          <a:xfrm>
            <a:off x="6144768" y="5522976"/>
            <a:ext cx="5349240" cy="566928"/>
          </a:xfrm>
          <a:prstGeom prst="roundRect">
            <a:avLst>
              <a:gd name="adj" fmla="val 8065"/>
            </a:avLst>
          </a:prstGeom>
          <a:solidFill>
            <a:srgbClr val="FFFFFF"/>
          </a:solidFill>
          <a:ln w="12700">
            <a:solidFill>
              <a:srgbClr val="DDE6DF">
                <a:alpha val="9000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1" name="Text 18"/>
          <p:cNvSpPr/>
          <p:nvPr/>
        </p:nvSpPr>
        <p:spPr>
          <a:xfrm>
            <a:off x="6355080" y="5641848"/>
            <a:ext cx="13533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80" b="1" dirty="0">
                <a:solidFill>
                  <a:srgbClr val="007D34"/>
                </a:solidFill>
              </a:rPr>
              <a:t>Funzione obiettivo</a:t>
            </a:r>
            <a:endParaRPr lang="en-US" sz="1180" dirty="0"/>
          </a:p>
        </p:txBody>
      </p:sp>
      <p:sp>
        <p:nvSpPr>
          <p:cNvPr id="22" name="Text 19"/>
          <p:cNvSpPr/>
          <p:nvPr/>
        </p:nvSpPr>
        <p:spPr>
          <a:xfrm>
            <a:off x="7955280" y="5623560"/>
            <a:ext cx="33101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85000" lnSpcReduction="20000"/>
          </a:bodyPr>
          <a:lstStyle/>
          <a:p>
            <a:pPr marL="0" indent="0">
              <a:buNone/>
            </a:pPr>
            <a:r>
              <a:rPr lang="en-US" sz="1140" dirty="0">
                <a:solidFill>
                  <a:srgbClr val="1F1F1F"/>
                </a:solidFill>
              </a:rPr>
              <a:t>Massimizzare la distanza minima di sicurezza rispettando domanda e capacità.</a:t>
            </a:r>
            <a:endParaRPr lang="en-US" sz="1140" dirty="0"/>
          </a:p>
        </p:txBody>
      </p:sp>
      <p:sp>
        <p:nvSpPr>
          <p:cNvPr id="23" name="Text 20"/>
          <p:cNvSpPr/>
          <p:nvPr/>
        </p:nvSpPr>
        <p:spPr>
          <a:xfrm>
            <a:off x="7973568" y="6547104"/>
            <a:ext cx="33375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80" dirty="0">
                <a:solidFill>
                  <a:srgbClr val="7F7F7F"/>
                </a:solidFill>
              </a:rPr>
              <a:t>AMOD · CMMOFLP Nuclear Siting</a:t>
            </a:r>
            <a:endParaRPr lang="en-US" sz="780" dirty="0"/>
          </a:p>
        </p:txBody>
      </p:sp>
      <p:sp>
        <p:nvSpPr>
          <p:cNvPr id="24" name="Text 21"/>
          <p:cNvSpPr/>
          <p:nvPr/>
        </p:nvSpPr>
        <p:spPr>
          <a:xfrm>
            <a:off x="11722608" y="6537960"/>
            <a:ext cx="16459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7F7F7F"/>
                </a:solidFill>
              </a:rPr>
              <a:t>3</a:t>
            </a:r>
            <a:endParaRPr lang="en-US" sz="800" dirty="0"/>
          </a:p>
        </p:txBody>
      </p:sp>
    </p:spTree>
    <p:extLst>
      <p:ext uri="{BB962C8B-B14F-4D97-AF65-F5344CB8AC3E}">
        <p14:creationId xmlns:p14="http://schemas.microsoft.com/office/powerpoint/2010/main" val="85610391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1371600"/>
            <a:ext cx="69494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>
              <a:buNone/>
            </a:pPr>
            <a:r>
              <a:rPr lang="en-US" sz="3200" b="1" dirty="0">
                <a:solidFill>
                  <a:srgbClr val="007D34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Formulazione del problema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85800" y="1883664"/>
            <a:ext cx="7178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70000" lnSpcReduction="20000"/>
          </a:bodyPr>
          <a:lstStyle/>
          <a:p>
            <a:pPr marL="0" indent="0">
              <a:buNone/>
            </a:pPr>
            <a:r>
              <a:rPr lang="en-US" sz="1450" dirty="0">
                <a:solidFill>
                  <a:srgbClr val="7F7F7F"/>
                </a:solidFill>
              </a:rPr>
              <a:t>Il CMMOFLP viene espresso come MIP: scegliere i siti aperti, assegnare le comunità e massimizzare la distanza minima garantita.</a:t>
            </a:r>
            <a:endParaRPr lang="en-US" sz="1450" dirty="0"/>
          </a:p>
        </p:txBody>
      </p:sp>
      <p:sp>
        <p:nvSpPr>
          <p:cNvPr id="4" name="Shape 2"/>
          <p:cNvSpPr/>
          <p:nvPr/>
        </p:nvSpPr>
        <p:spPr>
          <a:xfrm>
            <a:off x="658368" y="2211252"/>
            <a:ext cx="4041648" cy="3823788"/>
          </a:xfrm>
          <a:prstGeom prst="roundRect">
            <a:avLst>
              <a:gd name="adj" fmla="val 1832"/>
            </a:avLst>
          </a:prstGeom>
          <a:solidFill>
            <a:srgbClr val="F5F7F5">
              <a:alpha val="0"/>
            </a:srgbClr>
          </a:solidFill>
          <a:ln w="12700">
            <a:solidFill>
              <a:srgbClr val="D9DED9">
                <a:alpha val="90000"/>
              </a:srgbClr>
            </a:solidFill>
            <a:prstDash val="solid"/>
          </a:ln>
        </p:spPr>
        <p:txBody>
          <a:bodyPr/>
          <a:lstStyle/>
          <a:p>
            <a:endParaRPr lang="it-IT" dirty="0"/>
          </a:p>
        </p:txBody>
      </p:sp>
      <p:sp>
        <p:nvSpPr>
          <p:cNvPr id="5" name="Text 3"/>
          <p:cNvSpPr/>
          <p:nvPr/>
        </p:nvSpPr>
        <p:spPr>
          <a:xfrm>
            <a:off x="932688" y="2324018"/>
            <a:ext cx="1463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b="1" dirty="0">
                <a:solidFill>
                  <a:srgbClr val="007D34"/>
                </a:solidFill>
              </a:rPr>
              <a:t>Dati del problema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932688" y="2577166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/>
          </a:bodyPr>
          <a:lstStyle/>
          <a:p>
            <a:pPr marL="0" indent="0">
              <a:buNone/>
            </a:pPr>
            <a:r>
              <a:rPr lang="en-US" sz="1340" b="1" dirty="0">
                <a:solidFill>
                  <a:srgbClr val="007D34"/>
                </a:solidFill>
              </a:rPr>
              <a:t>I</a:t>
            </a:r>
            <a:endParaRPr lang="en-US" sz="1340" dirty="0"/>
          </a:p>
        </p:txBody>
      </p:sp>
      <p:sp>
        <p:nvSpPr>
          <p:cNvPr id="7" name="Text 5"/>
          <p:cNvSpPr/>
          <p:nvPr/>
        </p:nvSpPr>
        <p:spPr>
          <a:xfrm>
            <a:off x="1533265" y="2581738"/>
            <a:ext cx="2697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80" dirty="0">
                <a:solidFill>
                  <a:srgbClr val="1F1F1F"/>
                </a:solidFill>
              </a:rPr>
              <a:t>comunità / punti di domanda</a:t>
            </a:r>
            <a:endParaRPr lang="en-US" sz="1180" dirty="0"/>
          </a:p>
        </p:txBody>
      </p:sp>
      <p:sp>
        <p:nvSpPr>
          <p:cNvPr id="8" name="Text 6"/>
          <p:cNvSpPr/>
          <p:nvPr/>
        </p:nvSpPr>
        <p:spPr>
          <a:xfrm>
            <a:off x="932688" y="2878918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/>
          </a:bodyPr>
          <a:lstStyle/>
          <a:p>
            <a:pPr marL="0" indent="0">
              <a:buNone/>
            </a:pPr>
            <a:r>
              <a:rPr lang="en-US" sz="1340" b="1" dirty="0">
                <a:solidFill>
                  <a:srgbClr val="007D34"/>
                </a:solidFill>
              </a:rPr>
              <a:t>J</a:t>
            </a:r>
            <a:endParaRPr lang="en-US" sz="1340" dirty="0"/>
          </a:p>
        </p:txBody>
      </p:sp>
      <p:sp>
        <p:nvSpPr>
          <p:cNvPr id="9" name="Text 7"/>
          <p:cNvSpPr/>
          <p:nvPr/>
        </p:nvSpPr>
        <p:spPr>
          <a:xfrm>
            <a:off x="1542141" y="2883490"/>
            <a:ext cx="2697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80" dirty="0">
                <a:solidFill>
                  <a:srgbClr val="1F1F1F"/>
                </a:solidFill>
              </a:rPr>
              <a:t>siti candidati</a:t>
            </a:r>
            <a:endParaRPr lang="en-US" sz="1180" dirty="0"/>
          </a:p>
        </p:txBody>
      </p:sp>
      <p:sp>
        <p:nvSpPr>
          <p:cNvPr id="10" name="Text 8"/>
          <p:cNvSpPr/>
          <p:nvPr/>
        </p:nvSpPr>
        <p:spPr>
          <a:xfrm>
            <a:off x="932688" y="3180670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/>
          </a:bodyPr>
          <a:lstStyle/>
          <a:p>
            <a:pPr marL="0" indent="0">
              <a:buNone/>
            </a:pPr>
            <a:r>
              <a:rPr lang="en-US" sz="1340" b="1" dirty="0">
                <a:solidFill>
                  <a:srgbClr val="007D34"/>
                </a:solidFill>
              </a:rPr>
              <a:t>p</a:t>
            </a:r>
            <a:endParaRPr lang="en-US" sz="1340" dirty="0"/>
          </a:p>
        </p:txBody>
      </p:sp>
      <p:sp>
        <p:nvSpPr>
          <p:cNvPr id="11" name="Text 9"/>
          <p:cNvSpPr/>
          <p:nvPr/>
        </p:nvSpPr>
        <p:spPr>
          <a:xfrm>
            <a:off x="1533266" y="3185242"/>
            <a:ext cx="2697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80" dirty="0">
                <a:solidFill>
                  <a:srgbClr val="1F1F1F"/>
                </a:solidFill>
              </a:rPr>
              <a:t>numero di centrali da aprire</a:t>
            </a:r>
            <a:endParaRPr lang="en-US" sz="1180" dirty="0"/>
          </a:p>
        </p:txBody>
      </p:sp>
      <p:sp>
        <p:nvSpPr>
          <p:cNvPr id="12" name="Text 10"/>
          <p:cNvSpPr/>
          <p:nvPr/>
        </p:nvSpPr>
        <p:spPr>
          <a:xfrm>
            <a:off x="932688" y="3482422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/>
          </a:bodyPr>
          <a:lstStyle/>
          <a:p>
            <a:pPr marL="0" indent="0">
              <a:buNone/>
            </a:pPr>
            <a:r>
              <a:rPr lang="en-US" sz="1340" b="1" dirty="0">
                <a:solidFill>
                  <a:srgbClr val="007D34"/>
                </a:solidFill>
              </a:rPr>
              <a:t>qᵢ</a:t>
            </a:r>
            <a:endParaRPr lang="en-US" sz="1340" dirty="0"/>
          </a:p>
        </p:txBody>
      </p:sp>
      <p:sp>
        <p:nvSpPr>
          <p:cNvPr id="13" name="Text 11"/>
          <p:cNvSpPr/>
          <p:nvPr/>
        </p:nvSpPr>
        <p:spPr>
          <a:xfrm>
            <a:off x="1527048" y="3486994"/>
            <a:ext cx="2697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80" dirty="0">
                <a:solidFill>
                  <a:srgbClr val="1F1F1F"/>
                </a:solidFill>
              </a:rPr>
              <a:t>domanda della comunità i</a:t>
            </a:r>
            <a:endParaRPr lang="en-US" sz="1180" dirty="0"/>
          </a:p>
        </p:txBody>
      </p:sp>
      <p:sp>
        <p:nvSpPr>
          <p:cNvPr id="14" name="Text 12"/>
          <p:cNvSpPr/>
          <p:nvPr/>
        </p:nvSpPr>
        <p:spPr>
          <a:xfrm>
            <a:off x="932688" y="3784174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/>
          </a:bodyPr>
          <a:lstStyle/>
          <a:p>
            <a:pPr marL="0" indent="0">
              <a:buNone/>
            </a:pPr>
            <a:r>
              <a:rPr lang="en-US" sz="1340" b="1" dirty="0">
                <a:solidFill>
                  <a:srgbClr val="007D34"/>
                </a:solidFill>
              </a:rPr>
              <a:t>Cⱼ</a:t>
            </a:r>
            <a:endParaRPr lang="en-US" sz="1340" dirty="0"/>
          </a:p>
        </p:txBody>
      </p:sp>
      <p:sp>
        <p:nvSpPr>
          <p:cNvPr id="15" name="Text 13"/>
          <p:cNvSpPr/>
          <p:nvPr/>
        </p:nvSpPr>
        <p:spPr>
          <a:xfrm>
            <a:off x="1527048" y="3788746"/>
            <a:ext cx="2697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80" dirty="0">
                <a:solidFill>
                  <a:srgbClr val="1F1F1F"/>
                </a:solidFill>
              </a:rPr>
              <a:t>capacità del sito j</a:t>
            </a:r>
            <a:endParaRPr lang="en-US" sz="1180" dirty="0"/>
          </a:p>
        </p:txBody>
      </p:sp>
      <p:sp>
        <p:nvSpPr>
          <p:cNvPr id="16" name="Text 14"/>
          <p:cNvSpPr/>
          <p:nvPr/>
        </p:nvSpPr>
        <p:spPr>
          <a:xfrm>
            <a:off x="932688" y="4326560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/>
          </a:bodyPr>
          <a:lstStyle/>
          <a:p>
            <a:pPr marL="0" indent="0">
              <a:buNone/>
            </a:pPr>
            <a:r>
              <a:rPr lang="en-US" sz="1340" b="1" dirty="0">
                <a:solidFill>
                  <a:srgbClr val="007D34"/>
                </a:solidFill>
              </a:rPr>
              <a:t>rⱼ</a:t>
            </a:r>
            <a:endParaRPr lang="en-US" sz="1340" dirty="0"/>
          </a:p>
        </p:txBody>
      </p:sp>
      <p:sp>
        <p:nvSpPr>
          <p:cNvPr id="17" name="Text 15"/>
          <p:cNvSpPr/>
          <p:nvPr/>
        </p:nvSpPr>
        <p:spPr>
          <a:xfrm>
            <a:off x="1527048" y="4331132"/>
            <a:ext cx="2697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85000" lnSpcReduction="10000"/>
          </a:bodyPr>
          <a:lstStyle/>
          <a:p>
            <a:pPr marL="0" indent="0">
              <a:buNone/>
            </a:pPr>
            <a:r>
              <a:rPr lang="en-US" sz="1180" dirty="0">
                <a:solidFill>
                  <a:srgbClr val="1F1F1F"/>
                </a:solidFill>
              </a:rPr>
              <a:t>minᵢ dᵢⱼ: distanza dal sito j alla comunità più vicina</a:t>
            </a:r>
            <a:endParaRPr lang="en-US" sz="1180" dirty="0"/>
          </a:p>
        </p:txBody>
      </p:sp>
      <p:sp>
        <p:nvSpPr>
          <p:cNvPr id="18" name="Shape 16"/>
          <p:cNvSpPr/>
          <p:nvPr/>
        </p:nvSpPr>
        <p:spPr>
          <a:xfrm>
            <a:off x="932688" y="4932464"/>
            <a:ext cx="3337560" cy="0"/>
          </a:xfrm>
          <a:prstGeom prst="line">
            <a:avLst/>
          </a:prstGeom>
          <a:noFill/>
          <a:ln w="11430">
            <a:solidFill>
              <a:srgbClr val="D9DED9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9" name="Text 17"/>
          <p:cNvSpPr/>
          <p:nvPr/>
        </p:nvSpPr>
        <p:spPr>
          <a:xfrm>
            <a:off x="932688" y="5074920"/>
            <a:ext cx="16642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b="1" dirty="0">
                <a:solidFill>
                  <a:srgbClr val="007D34"/>
                </a:solidFill>
              </a:rPr>
              <a:t>Variabili decisionali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932688" y="5358384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/>
          </a:bodyPr>
          <a:lstStyle/>
          <a:p>
            <a:pPr marL="0" indent="0">
              <a:buNone/>
            </a:pPr>
            <a:r>
              <a:rPr lang="en-US" sz="1340" b="1" dirty="0">
                <a:solidFill>
                  <a:srgbClr val="007D34"/>
                </a:solidFill>
              </a:rPr>
              <a:t>yⱼ</a:t>
            </a:r>
            <a:endParaRPr lang="en-US" sz="1340" dirty="0"/>
          </a:p>
        </p:txBody>
      </p:sp>
      <p:sp>
        <p:nvSpPr>
          <p:cNvPr id="21" name="Text 19"/>
          <p:cNvSpPr/>
          <p:nvPr/>
        </p:nvSpPr>
        <p:spPr>
          <a:xfrm>
            <a:off x="1527048" y="5362956"/>
            <a:ext cx="2697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80" dirty="0">
                <a:solidFill>
                  <a:srgbClr val="1F1F1F"/>
                </a:solidFill>
              </a:rPr>
              <a:t>1 se il sito j è aperto</a:t>
            </a:r>
            <a:endParaRPr lang="en-US" sz="1180" dirty="0"/>
          </a:p>
        </p:txBody>
      </p:sp>
      <p:sp>
        <p:nvSpPr>
          <p:cNvPr id="22" name="Text 20"/>
          <p:cNvSpPr/>
          <p:nvPr/>
        </p:nvSpPr>
        <p:spPr>
          <a:xfrm>
            <a:off x="932688" y="5605272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/>
          </a:bodyPr>
          <a:lstStyle/>
          <a:p>
            <a:pPr marL="0" indent="0">
              <a:buNone/>
            </a:pPr>
            <a:r>
              <a:rPr lang="en-US" sz="1340" b="1" dirty="0">
                <a:solidFill>
                  <a:srgbClr val="007D34"/>
                </a:solidFill>
              </a:rPr>
              <a:t>xᵢⱼ</a:t>
            </a:r>
            <a:endParaRPr lang="en-US" sz="1340" dirty="0"/>
          </a:p>
        </p:txBody>
      </p:sp>
      <p:sp>
        <p:nvSpPr>
          <p:cNvPr id="23" name="Text 21"/>
          <p:cNvSpPr/>
          <p:nvPr/>
        </p:nvSpPr>
        <p:spPr>
          <a:xfrm>
            <a:off x="1529708" y="5609844"/>
            <a:ext cx="2697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80" dirty="0">
                <a:solidFill>
                  <a:srgbClr val="1F1F1F"/>
                </a:solidFill>
              </a:rPr>
              <a:t>1 se i è servita da j</a:t>
            </a:r>
            <a:endParaRPr lang="en-US" sz="1180" dirty="0"/>
          </a:p>
        </p:txBody>
      </p:sp>
      <p:sp>
        <p:nvSpPr>
          <p:cNvPr id="24" name="Text 22"/>
          <p:cNvSpPr/>
          <p:nvPr/>
        </p:nvSpPr>
        <p:spPr>
          <a:xfrm>
            <a:off x="941314" y="5834908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/>
          </a:bodyPr>
          <a:lstStyle/>
          <a:p>
            <a:pPr marL="0" indent="0">
              <a:buNone/>
            </a:pPr>
            <a:r>
              <a:rPr lang="en-US" sz="1340" b="1" dirty="0">
                <a:solidFill>
                  <a:srgbClr val="007D34"/>
                </a:solidFill>
              </a:rPr>
              <a:t>z</a:t>
            </a:r>
            <a:endParaRPr lang="en-US" sz="1340" dirty="0"/>
          </a:p>
        </p:txBody>
      </p:sp>
      <p:sp>
        <p:nvSpPr>
          <p:cNvPr id="25" name="Text 23"/>
          <p:cNvSpPr/>
          <p:nvPr/>
        </p:nvSpPr>
        <p:spPr>
          <a:xfrm>
            <a:off x="1521868" y="5839480"/>
            <a:ext cx="2697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80" dirty="0">
                <a:solidFill>
                  <a:srgbClr val="1F1F1F"/>
                </a:solidFill>
              </a:rPr>
              <a:t>distanza minima garantita</a:t>
            </a:r>
            <a:endParaRPr lang="en-US" sz="1180" dirty="0"/>
          </a:p>
        </p:txBody>
      </p:sp>
      <p:sp>
        <p:nvSpPr>
          <p:cNvPr id="26" name="Shape 24"/>
          <p:cNvSpPr/>
          <p:nvPr/>
        </p:nvSpPr>
        <p:spPr>
          <a:xfrm>
            <a:off x="4956048" y="2834640"/>
            <a:ext cx="960120" cy="530352"/>
          </a:xfrm>
          <a:prstGeom prst="roundRect">
            <a:avLst>
              <a:gd name="adj" fmla="val 6897"/>
            </a:avLst>
          </a:prstGeom>
          <a:solidFill>
            <a:srgbClr val="F3FAF5"/>
          </a:solidFill>
          <a:ln w="12700">
            <a:solidFill>
              <a:srgbClr val="B8D8C2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7" name="Text 25"/>
          <p:cNvSpPr/>
          <p:nvPr/>
        </p:nvSpPr>
        <p:spPr>
          <a:xfrm>
            <a:off x="5236317" y="3044952"/>
            <a:ext cx="4114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007D34"/>
                </a:solidFill>
              </a:rPr>
              <a:t>siti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5047488" y="3584448"/>
            <a:ext cx="804672" cy="512064"/>
          </a:xfrm>
          <a:prstGeom prst="chevron">
            <a:avLst/>
          </a:prstGeom>
          <a:solidFill>
            <a:srgbClr val="007D34"/>
          </a:solidFill>
          <a:ln w="12700">
            <a:solidFill>
              <a:srgbClr val="007D34"/>
            </a:solidFill>
            <a:prstDash val="solid"/>
          </a:ln>
        </p:spPr>
        <p:txBody>
          <a:bodyPr/>
          <a:lstStyle/>
          <a:p>
            <a:endParaRPr lang="it-IT" dirty="0"/>
          </a:p>
        </p:txBody>
      </p:sp>
      <p:sp>
        <p:nvSpPr>
          <p:cNvPr id="29" name="Text 27"/>
          <p:cNvSpPr/>
          <p:nvPr/>
        </p:nvSpPr>
        <p:spPr>
          <a:xfrm>
            <a:off x="5267527" y="3583967"/>
            <a:ext cx="5029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</a:rPr>
              <a:t>MIP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4956048" y="4315968"/>
            <a:ext cx="960120" cy="530352"/>
          </a:xfrm>
          <a:prstGeom prst="roundRect">
            <a:avLst>
              <a:gd name="adj" fmla="val 6897"/>
            </a:avLst>
          </a:prstGeom>
          <a:solidFill>
            <a:srgbClr val="F3FAF5"/>
          </a:solidFill>
          <a:ln w="12700">
            <a:solidFill>
              <a:srgbClr val="B8D8C2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1" name="Text 29"/>
          <p:cNvSpPr/>
          <p:nvPr/>
        </p:nvSpPr>
        <p:spPr>
          <a:xfrm>
            <a:off x="5138928" y="4526280"/>
            <a:ext cx="5943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007D34"/>
                </a:solidFill>
              </a:rPr>
              <a:t>scelta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6263640" y="2331720"/>
            <a:ext cx="5138928" cy="3547872"/>
          </a:xfrm>
          <a:prstGeom prst="roundRect">
            <a:avLst>
              <a:gd name="adj" fmla="val 1804"/>
            </a:avLst>
          </a:prstGeom>
          <a:solidFill>
            <a:srgbClr val="FFFFFF">
              <a:alpha val="0"/>
            </a:srgbClr>
          </a:solidFill>
          <a:ln w="15240">
            <a:solidFill>
              <a:srgbClr val="007D34">
                <a:alpha val="8500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3" name="Text 31"/>
          <p:cNvSpPr/>
          <p:nvPr/>
        </p:nvSpPr>
        <p:spPr>
          <a:xfrm>
            <a:off x="6537960" y="2625364"/>
            <a:ext cx="15361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b="1" dirty="0">
                <a:solidFill>
                  <a:srgbClr val="007D34"/>
                </a:solidFill>
              </a:rPr>
              <a:t>Modello compatto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6620256" y="2980944"/>
            <a:ext cx="1554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77500" lnSpcReduction="20000"/>
          </a:bodyPr>
          <a:lstStyle/>
          <a:p>
            <a:pPr marL="0" indent="0">
              <a:buNone/>
            </a:pPr>
            <a:r>
              <a:rPr lang="en-US" sz="1850" b="1" dirty="0">
                <a:solidFill>
                  <a:srgbClr val="1F1F1F"/>
                </a:solidFill>
              </a:rPr>
              <a:t>max   z</a:t>
            </a:r>
            <a:endParaRPr lang="en-US" sz="1850" dirty="0"/>
          </a:p>
        </p:txBody>
      </p:sp>
      <p:sp>
        <p:nvSpPr>
          <p:cNvPr id="35" name="Text 33"/>
          <p:cNvSpPr/>
          <p:nvPr/>
        </p:nvSpPr>
        <p:spPr>
          <a:xfrm>
            <a:off x="6620256" y="3383280"/>
            <a:ext cx="1417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7F7F7F"/>
                </a:solidFill>
              </a:rPr>
              <a:t>soggetto a</a:t>
            </a:r>
            <a:endParaRPr lang="en-US" sz="1150" dirty="0"/>
          </a:p>
        </p:txBody>
      </p:sp>
      <p:sp>
        <p:nvSpPr>
          <p:cNvPr id="36" name="Text 34"/>
          <p:cNvSpPr/>
          <p:nvPr/>
        </p:nvSpPr>
        <p:spPr>
          <a:xfrm>
            <a:off x="6620256" y="3712464"/>
            <a:ext cx="15361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20000"/>
          </a:bodyPr>
          <a:lstStyle/>
          <a:p>
            <a:pPr marL="0" indent="0">
              <a:buNone/>
            </a:pPr>
            <a:r>
              <a:rPr lang="en-US" sz="1440" dirty="0">
                <a:solidFill>
                  <a:srgbClr val="1F1F1F"/>
                </a:solidFill>
              </a:rPr>
              <a:t>Σⱼ yⱼ = p</a:t>
            </a:r>
            <a:endParaRPr lang="en-US" sz="1440" dirty="0"/>
          </a:p>
        </p:txBody>
      </p:sp>
      <p:sp>
        <p:nvSpPr>
          <p:cNvPr id="37" name="Text 35"/>
          <p:cNvSpPr/>
          <p:nvPr/>
        </p:nvSpPr>
        <p:spPr>
          <a:xfrm>
            <a:off x="8446928" y="3730486"/>
            <a:ext cx="254203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1040" dirty="0">
                <a:solidFill>
                  <a:srgbClr val="7F7F7F"/>
                </a:solidFill>
              </a:rPr>
              <a:t>apre esattamente p centrali</a:t>
            </a:r>
            <a:endParaRPr lang="en-US" sz="1040" dirty="0"/>
          </a:p>
        </p:txBody>
      </p:sp>
      <p:sp>
        <p:nvSpPr>
          <p:cNvPr id="38" name="Text 36"/>
          <p:cNvSpPr/>
          <p:nvPr/>
        </p:nvSpPr>
        <p:spPr>
          <a:xfrm>
            <a:off x="6620256" y="4059936"/>
            <a:ext cx="20391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20000"/>
          </a:bodyPr>
          <a:lstStyle/>
          <a:p>
            <a:pPr marL="0" indent="0">
              <a:buNone/>
            </a:pPr>
            <a:r>
              <a:rPr lang="en-US" sz="1440" dirty="0">
                <a:solidFill>
                  <a:srgbClr val="1F1F1F"/>
                </a:solidFill>
              </a:rPr>
              <a:t>Σⱼ xᵢⱼ = 1     ∀ i∈I</a:t>
            </a:r>
            <a:endParaRPr lang="en-US" sz="1440" dirty="0"/>
          </a:p>
        </p:txBody>
      </p:sp>
      <p:sp>
        <p:nvSpPr>
          <p:cNvPr id="39" name="Text 37"/>
          <p:cNvSpPr/>
          <p:nvPr/>
        </p:nvSpPr>
        <p:spPr>
          <a:xfrm>
            <a:off x="8446928" y="4033481"/>
            <a:ext cx="213055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1040" dirty="0">
                <a:solidFill>
                  <a:srgbClr val="7F7F7F"/>
                </a:solidFill>
              </a:rPr>
              <a:t>ogni comunità è assegnata</a:t>
            </a:r>
            <a:endParaRPr lang="en-US" sz="1040" dirty="0"/>
          </a:p>
        </p:txBody>
      </p:sp>
      <p:sp>
        <p:nvSpPr>
          <p:cNvPr id="40" name="Text 38"/>
          <p:cNvSpPr/>
          <p:nvPr/>
        </p:nvSpPr>
        <p:spPr>
          <a:xfrm>
            <a:off x="6620256" y="4407408"/>
            <a:ext cx="230428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20000"/>
          </a:bodyPr>
          <a:lstStyle/>
          <a:p>
            <a:pPr marL="0" indent="0">
              <a:buNone/>
            </a:pPr>
            <a:r>
              <a:rPr lang="en-US" sz="1440" dirty="0">
                <a:solidFill>
                  <a:srgbClr val="1F1F1F"/>
                </a:solidFill>
              </a:rPr>
              <a:t>xᵢⱼ ≤ yⱼ     ∀ i∈I, j∈J</a:t>
            </a:r>
            <a:endParaRPr lang="en-US" sz="1440" dirty="0"/>
          </a:p>
        </p:txBody>
      </p:sp>
      <p:sp>
        <p:nvSpPr>
          <p:cNvPr id="41" name="Text 39"/>
          <p:cNvSpPr/>
          <p:nvPr/>
        </p:nvSpPr>
        <p:spPr>
          <a:xfrm>
            <a:off x="8446928" y="4370924"/>
            <a:ext cx="19293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1040" dirty="0">
                <a:solidFill>
                  <a:srgbClr val="7F7F7F"/>
                </a:solidFill>
              </a:rPr>
              <a:t>assegna solo a siti aperti</a:t>
            </a:r>
            <a:endParaRPr lang="en-US" sz="1040" dirty="0"/>
          </a:p>
        </p:txBody>
      </p:sp>
      <p:sp>
        <p:nvSpPr>
          <p:cNvPr id="42" name="Text 40"/>
          <p:cNvSpPr/>
          <p:nvPr/>
        </p:nvSpPr>
        <p:spPr>
          <a:xfrm>
            <a:off x="6620256" y="4754880"/>
            <a:ext cx="2971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20000"/>
          </a:bodyPr>
          <a:lstStyle/>
          <a:p>
            <a:pPr marL="0" indent="0">
              <a:buNone/>
            </a:pPr>
            <a:r>
              <a:rPr lang="en-US" sz="1440" dirty="0">
                <a:solidFill>
                  <a:srgbClr val="1F1F1F"/>
                </a:solidFill>
              </a:rPr>
              <a:t>Σᵢ qᵢ xᵢⱼ ≤ Cⱼ yⱼ     ∀ j∈J</a:t>
            </a:r>
            <a:endParaRPr lang="en-US" sz="1440" dirty="0"/>
          </a:p>
        </p:txBody>
      </p:sp>
      <p:sp>
        <p:nvSpPr>
          <p:cNvPr id="43" name="Text 41"/>
          <p:cNvSpPr/>
          <p:nvPr/>
        </p:nvSpPr>
        <p:spPr>
          <a:xfrm>
            <a:off x="8446928" y="4764024"/>
            <a:ext cx="111556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1040" dirty="0">
                <a:solidFill>
                  <a:srgbClr val="7F7F7F"/>
                </a:solidFill>
              </a:rPr>
              <a:t>capacità rispettate</a:t>
            </a:r>
            <a:endParaRPr lang="en-US" sz="1040" dirty="0"/>
          </a:p>
        </p:txBody>
      </p:sp>
      <p:sp>
        <p:nvSpPr>
          <p:cNvPr id="44" name="Text 42"/>
          <p:cNvSpPr/>
          <p:nvPr/>
        </p:nvSpPr>
        <p:spPr>
          <a:xfrm>
            <a:off x="6620256" y="5102352"/>
            <a:ext cx="3017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20000"/>
          </a:bodyPr>
          <a:lstStyle/>
          <a:p>
            <a:pPr marL="0" indent="0">
              <a:buNone/>
            </a:pPr>
            <a:r>
              <a:rPr lang="en-US" sz="1440" dirty="0">
                <a:solidFill>
                  <a:srgbClr val="1F1F1F"/>
                </a:solidFill>
              </a:rPr>
              <a:t>z ≤ rⱼ + U(1−yⱼ)     ∀ j∈J</a:t>
            </a:r>
            <a:endParaRPr lang="en-US" sz="1440" dirty="0"/>
          </a:p>
        </p:txBody>
      </p:sp>
      <p:sp>
        <p:nvSpPr>
          <p:cNvPr id="45" name="Text 43"/>
          <p:cNvSpPr/>
          <p:nvPr/>
        </p:nvSpPr>
        <p:spPr>
          <a:xfrm>
            <a:off x="8451103" y="5083972"/>
            <a:ext cx="120700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>
              <a:buNone/>
            </a:pPr>
            <a:r>
              <a:rPr lang="en-US" sz="1040" dirty="0">
                <a:solidFill>
                  <a:srgbClr val="7F7F7F"/>
                </a:solidFill>
              </a:rPr>
              <a:t>sicurezza dei siti aperti</a:t>
            </a:r>
            <a:endParaRPr lang="en-US" sz="1040" dirty="0"/>
          </a:p>
        </p:txBody>
      </p:sp>
      <p:sp>
        <p:nvSpPr>
          <p:cNvPr id="46" name="Text 44"/>
          <p:cNvSpPr/>
          <p:nvPr/>
        </p:nvSpPr>
        <p:spPr>
          <a:xfrm>
            <a:off x="6620256" y="5486400"/>
            <a:ext cx="35844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1F1F1F"/>
                </a:solidFill>
              </a:rPr>
              <a:t>xᵢⱼ, yⱼ ∈ {0,1}       0 ≤ z ≤ U</a:t>
            </a:r>
            <a:endParaRPr lang="en-US" sz="1350" dirty="0"/>
          </a:p>
        </p:txBody>
      </p:sp>
      <p:sp>
        <p:nvSpPr>
          <p:cNvPr id="47" name="Shape 45"/>
          <p:cNvSpPr/>
          <p:nvPr/>
        </p:nvSpPr>
        <p:spPr>
          <a:xfrm>
            <a:off x="658368" y="6145804"/>
            <a:ext cx="10744200" cy="291572"/>
          </a:xfrm>
          <a:prstGeom prst="roundRect">
            <a:avLst>
              <a:gd name="adj" fmla="val 13158"/>
            </a:avLst>
          </a:prstGeom>
          <a:solidFill>
            <a:srgbClr val="EAF5EE">
              <a:alpha val="0"/>
            </a:srgbClr>
          </a:solidFill>
          <a:ln w="12700">
            <a:solidFill>
              <a:srgbClr val="CFE6D6">
                <a:alpha val="90000"/>
              </a:srgbClr>
            </a:solidFill>
            <a:prstDash val="solid"/>
          </a:ln>
        </p:spPr>
        <p:txBody>
          <a:bodyPr/>
          <a:lstStyle/>
          <a:p>
            <a:endParaRPr lang="it-IT" dirty="0"/>
          </a:p>
        </p:txBody>
      </p:sp>
      <p:sp>
        <p:nvSpPr>
          <p:cNvPr id="48" name="Text 46"/>
          <p:cNvSpPr/>
          <p:nvPr/>
        </p:nvSpPr>
        <p:spPr>
          <a:xfrm>
            <a:off x="896112" y="6179748"/>
            <a:ext cx="10241280" cy="20951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40" b="1" dirty="0" err="1">
                <a:solidFill>
                  <a:srgbClr val="007D34"/>
                </a:solidFill>
              </a:rPr>
              <a:t>Lettura</a:t>
            </a:r>
            <a:r>
              <a:rPr lang="en-US" sz="1140" b="1" dirty="0">
                <a:solidFill>
                  <a:srgbClr val="007D34"/>
                </a:solidFill>
              </a:rPr>
              <a:t>: </a:t>
            </a:r>
            <a:r>
              <a:rPr lang="it-IT" sz="1140" b="1" dirty="0">
                <a:solidFill>
                  <a:srgbClr val="007D34"/>
                </a:solidFill>
              </a:rPr>
              <a:t>l’assegnamento verifica domanda e capacità; la sicurezza dipende dall’insieme dei siti aperti e non dall’assegnamento delle comunità.</a:t>
            </a:r>
            <a:endParaRPr lang="en-US" sz="1140" dirty="0"/>
          </a:p>
        </p:txBody>
      </p:sp>
      <p:sp>
        <p:nvSpPr>
          <p:cNvPr id="49" name="Text 47"/>
          <p:cNvSpPr/>
          <p:nvPr/>
        </p:nvSpPr>
        <p:spPr>
          <a:xfrm>
            <a:off x="7973568" y="6547104"/>
            <a:ext cx="33375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80" dirty="0">
                <a:solidFill>
                  <a:srgbClr val="7F7F7F"/>
                </a:solidFill>
              </a:rPr>
              <a:t>AMOD · CMMOFLP Nuclear Siting</a:t>
            </a:r>
            <a:endParaRPr lang="en-US" sz="780" dirty="0"/>
          </a:p>
        </p:txBody>
      </p:sp>
      <p:sp>
        <p:nvSpPr>
          <p:cNvPr id="50" name="Text 48"/>
          <p:cNvSpPr/>
          <p:nvPr/>
        </p:nvSpPr>
        <p:spPr>
          <a:xfrm>
            <a:off x="11722608" y="6537960"/>
            <a:ext cx="16459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7F7F7F"/>
                </a:solidFill>
              </a:rPr>
              <a:t>4</a:t>
            </a:r>
            <a:endParaRPr lang="en-US" sz="800" dirty="0"/>
          </a:p>
        </p:txBody>
      </p:sp>
      <p:sp>
        <p:nvSpPr>
          <p:cNvPr id="52" name="Text 12">
            <a:extLst>
              <a:ext uri="{FF2B5EF4-FFF2-40B4-BE49-F238E27FC236}">
                <a16:creationId xmlns:a16="http://schemas.microsoft.com/office/drawing/2014/main" id="{4E8B4D36-2823-0A3D-BAE2-F3494632D42A}"/>
              </a:ext>
            </a:extLst>
          </p:cNvPr>
          <p:cNvSpPr/>
          <p:nvPr/>
        </p:nvSpPr>
        <p:spPr>
          <a:xfrm>
            <a:off x="932688" y="4061383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/>
          </a:bodyPr>
          <a:lstStyle/>
          <a:p>
            <a:r>
              <a:rPr lang="en-US" sz="1340" b="1" dirty="0">
                <a:solidFill>
                  <a:srgbClr val="007D34"/>
                </a:solidFill>
              </a:rPr>
              <a:t>dᵢⱼ</a:t>
            </a:r>
            <a:endParaRPr lang="en-US" sz="1340" dirty="0"/>
          </a:p>
        </p:txBody>
      </p:sp>
      <p:sp>
        <p:nvSpPr>
          <p:cNvPr id="54" name="Text 13">
            <a:extLst>
              <a:ext uri="{FF2B5EF4-FFF2-40B4-BE49-F238E27FC236}">
                <a16:creationId xmlns:a16="http://schemas.microsoft.com/office/drawing/2014/main" id="{45A46F53-2681-4892-2C4C-72AADB1A31FB}"/>
              </a:ext>
            </a:extLst>
          </p:cNvPr>
          <p:cNvSpPr/>
          <p:nvPr/>
        </p:nvSpPr>
        <p:spPr>
          <a:xfrm>
            <a:off x="1542141" y="4063669"/>
            <a:ext cx="2697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rPr lang="it-IT" sz="1200" dirty="0"/>
              <a:t>distanza tra la comunità i e il sito j</a:t>
            </a:r>
            <a:endParaRPr lang="en-US" sz="1180" dirty="0"/>
          </a:p>
        </p:txBody>
      </p:sp>
      <p:sp>
        <p:nvSpPr>
          <p:cNvPr id="56" name="Text 4">
            <a:extLst>
              <a:ext uri="{FF2B5EF4-FFF2-40B4-BE49-F238E27FC236}">
                <a16:creationId xmlns:a16="http://schemas.microsoft.com/office/drawing/2014/main" id="{2A0AB487-E0E7-A70F-6E21-9BAFFF97956C}"/>
              </a:ext>
            </a:extLst>
          </p:cNvPr>
          <p:cNvSpPr/>
          <p:nvPr/>
        </p:nvSpPr>
        <p:spPr>
          <a:xfrm>
            <a:off x="932688" y="4623854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/>
          </a:bodyPr>
          <a:lstStyle/>
          <a:p>
            <a:pPr marL="0" indent="0">
              <a:buNone/>
            </a:pPr>
            <a:r>
              <a:rPr lang="en-US" sz="1340" b="1" dirty="0">
                <a:solidFill>
                  <a:srgbClr val="007D34"/>
                </a:solidFill>
              </a:rPr>
              <a:t>U</a:t>
            </a:r>
            <a:endParaRPr lang="en-US" sz="1340" dirty="0"/>
          </a:p>
        </p:txBody>
      </p:sp>
      <p:sp>
        <p:nvSpPr>
          <p:cNvPr id="58" name="Text 5">
            <a:extLst>
              <a:ext uri="{FF2B5EF4-FFF2-40B4-BE49-F238E27FC236}">
                <a16:creationId xmlns:a16="http://schemas.microsoft.com/office/drawing/2014/main" id="{6E6AB582-E764-3B2C-4BAF-2BA052E1EBF2}"/>
              </a:ext>
            </a:extLst>
          </p:cNvPr>
          <p:cNvSpPr/>
          <p:nvPr/>
        </p:nvSpPr>
        <p:spPr>
          <a:xfrm>
            <a:off x="1533265" y="4628426"/>
            <a:ext cx="2697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rPr lang="it-IT" sz="1200" dirty="0"/>
              <a:t>upper </a:t>
            </a:r>
            <a:r>
              <a:rPr lang="it-IT" sz="1200" dirty="0" err="1"/>
              <a:t>bound</a:t>
            </a:r>
            <a:r>
              <a:rPr lang="it-IT" sz="1200" dirty="0"/>
              <a:t> valido per z</a:t>
            </a:r>
            <a:endParaRPr lang="en-US" sz="1180" dirty="0"/>
          </a:p>
        </p:txBody>
      </p:sp>
    </p:spTree>
    <p:extLst>
      <p:ext uri="{BB962C8B-B14F-4D97-AF65-F5344CB8AC3E}">
        <p14:creationId xmlns:p14="http://schemas.microsoft.com/office/powerpoint/2010/main" val="170423532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1408176"/>
            <a:ext cx="8046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>
              <a:buNone/>
            </a:pPr>
            <a:r>
              <a:rPr lang="en-US" sz="3200" b="1" dirty="0">
                <a:solidFill>
                  <a:srgbClr val="007D34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Metodi esatti: Compact e Threshold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85800" y="1920240"/>
            <a:ext cx="9281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it-IT" sz="1350" dirty="0">
                <a:solidFill>
                  <a:srgbClr val="7F7F7F"/>
                </a:solidFill>
              </a:rPr>
              <a:t>Due metodi esatti implementati in AMPL: ottimizzazione diretta e ricerca della massima soglia ammissibile.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658368" y="2423160"/>
            <a:ext cx="5074920" cy="3310128"/>
          </a:xfrm>
          <a:prstGeom prst="roundRect">
            <a:avLst>
              <a:gd name="adj" fmla="val 2210"/>
            </a:avLst>
          </a:prstGeom>
          <a:solidFill>
            <a:srgbClr val="F5FBF7"/>
          </a:solidFill>
          <a:ln w="12700">
            <a:solidFill>
              <a:srgbClr val="BBD8C4">
                <a:alpha val="9000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5" name="Shape 3"/>
          <p:cNvSpPr/>
          <p:nvPr/>
        </p:nvSpPr>
        <p:spPr>
          <a:xfrm>
            <a:off x="6455664" y="2423160"/>
            <a:ext cx="5074920" cy="3310128"/>
          </a:xfrm>
          <a:prstGeom prst="roundRect">
            <a:avLst>
              <a:gd name="adj" fmla="val 2210"/>
            </a:avLst>
          </a:prstGeom>
          <a:solidFill>
            <a:srgbClr val="FFFFFF"/>
          </a:solidFill>
          <a:ln w="12700">
            <a:solidFill>
              <a:srgbClr val="BBD8C4">
                <a:alpha val="9500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6" name="Shape 4"/>
          <p:cNvSpPr/>
          <p:nvPr/>
        </p:nvSpPr>
        <p:spPr>
          <a:xfrm>
            <a:off x="859536" y="2615184"/>
            <a:ext cx="1417320" cy="292608"/>
          </a:xfrm>
          <a:prstGeom prst="roundRect">
            <a:avLst>
              <a:gd name="adj" fmla="val 18750"/>
            </a:avLst>
          </a:prstGeom>
          <a:solidFill>
            <a:srgbClr val="E9F5EE"/>
          </a:solidFill>
          <a:ln w="12700">
            <a:solidFill>
              <a:srgbClr val="E9F5EE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7" name="Text 5"/>
          <p:cNvSpPr/>
          <p:nvPr/>
        </p:nvSpPr>
        <p:spPr>
          <a:xfrm>
            <a:off x="950976" y="2670048"/>
            <a:ext cx="1234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80" b="1" dirty="0">
                <a:solidFill>
                  <a:srgbClr val="007D34"/>
                </a:solidFill>
              </a:rPr>
              <a:t>COMPACT</a:t>
            </a:r>
            <a:endParaRPr lang="en-US" sz="980" dirty="0"/>
          </a:p>
        </p:txBody>
      </p:sp>
      <p:sp>
        <p:nvSpPr>
          <p:cNvPr id="8" name="Shape 6"/>
          <p:cNvSpPr/>
          <p:nvPr/>
        </p:nvSpPr>
        <p:spPr>
          <a:xfrm>
            <a:off x="6656832" y="2615184"/>
            <a:ext cx="1645920" cy="292608"/>
          </a:xfrm>
          <a:prstGeom prst="roundRect">
            <a:avLst>
              <a:gd name="adj" fmla="val 18750"/>
            </a:avLst>
          </a:prstGeom>
          <a:solidFill>
            <a:srgbClr val="E9F5EE"/>
          </a:solidFill>
          <a:ln w="12700">
            <a:solidFill>
              <a:srgbClr val="E9F5EE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9" name="Text 7"/>
          <p:cNvSpPr/>
          <p:nvPr/>
        </p:nvSpPr>
        <p:spPr>
          <a:xfrm>
            <a:off x="6748272" y="2670048"/>
            <a:ext cx="1463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80" b="1" dirty="0">
                <a:solidFill>
                  <a:srgbClr val="007D34"/>
                </a:solidFill>
              </a:rPr>
              <a:t>THRESHOLD</a:t>
            </a:r>
            <a:endParaRPr lang="en-US" sz="980" dirty="0"/>
          </a:p>
        </p:txBody>
      </p:sp>
      <p:sp>
        <p:nvSpPr>
          <p:cNvPr id="10" name="Text 8"/>
          <p:cNvSpPr/>
          <p:nvPr/>
        </p:nvSpPr>
        <p:spPr>
          <a:xfrm>
            <a:off x="859536" y="3026664"/>
            <a:ext cx="2331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F1F1F"/>
                </a:solidFill>
              </a:rPr>
              <a:t>Un unico </a:t>
            </a:r>
            <a:r>
              <a:rPr lang="en-US" sz="1450" b="1" dirty="0" err="1">
                <a:solidFill>
                  <a:srgbClr val="1F1F1F"/>
                </a:solidFill>
              </a:rPr>
              <a:t>modello</a:t>
            </a:r>
            <a:r>
              <a:rPr lang="en-US" sz="1450" b="1" dirty="0">
                <a:solidFill>
                  <a:srgbClr val="1F1F1F"/>
                </a:solidFill>
              </a:rPr>
              <a:t> MIP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6656832" y="3026664"/>
            <a:ext cx="3383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F1F1F"/>
                </a:solidFill>
              </a:rPr>
              <a:t>Sequenza di test di fattibilità</a:t>
            </a:r>
            <a:endParaRPr lang="en-US" sz="1450" dirty="0"/>
          </a:p>
        </p:txBody>
      </p:sp>
      <p:sp>
        <p:nvSpPr>
          <p:cNvPr id="12" name="Shape 10"/>
          <p:cNvSpPr/>
          <p:nvPr/>
        </p:nvSpPr>
        <p:spPr>
          <a:xfrm>
            <a:off x="859536" y="3383280"/>
            <a:ext cx="1938528" cy="96012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12700">
            <a:solidFill>
              <a:srgbClr val="DDEAE2"/>
            </a:solidFill>
            <a:prstDash val="solid"/>
          </a:ln>
        </p:spPr>
        <p:txBody>
          <a:bodyPr/>
          <a:lstStyle/>
          <a:p>
            <a:endParaRPr lang="it-IT" dirty="0"/>
          </a:p>
        </p:txBody>
      </p:sp>
      <p:sp>
        <p:nvSpPr>
          <p:cNvPr id="13" name="Text 11"/>
          <p:cNvSpPr/>
          <p:nvPr/>
        </p:nvSpPr>
        <p:spPr>
          <a:xfrm>
            <a:off x="1060704" y="3425005"/>
            <a:ext cx="14996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20" b="1" dirty="0">
                <a:solidFill>
                  <a:srgbClr val="007D34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max  z</a:t>
            </a:r>
            <a:endParaRPr lang="en-US" sz="1520" dirty="0"/>
          </a:p>
        </p:txBody>
      </p:sp>
      <p:sp>
        <p:nvSpPr>
          <p:cNvPr id="14" name="Text 12"/>
          <p:cNvSpPr/>
          <p:nvPr/>
        </p:nvSpPr>
        <p:spPr>
          <a:xfrm>
            <a:off x="859536" y="3649610"/>
            <a:ext cx="1938528" cy="69379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/>
          <a:lstStyle/>
          <a:p>
            <a:pPr algn="ctr"/>
            <a:r>
              <a:rPr lang="it-IT" sz="1200" dirty="0"/>
              <a:t>Z ≤ r</a:t>
            </a:r>
            <a:r>
              <a:rPr lang="en-US" sz="1200" dirty="0">
                <a:solidFill>
                  <a:srgbClr val="1F1F1F"/>
                </a:solidFill>
              </a:rPr>
              <a:t>ⱼ</a:t>
            </a:r>
            <a:r>
              <a:rPr lang="it-IT" sz="1200" dirty="0"/>
              <a:t>​+U(1−y</a:t>
            </a:r>
            <a:r>
              <a:rPr lang="en-US" sz="1200" dirty="0">
                <a:solidFill>
                  <a:srgbClr val="1F1F1F"/>
                </a:solidFill>
              </a:rPr>
              <a:t>ⱼ</a:t>
            </a:r>
            <a:r>
              <a:rPr lang="it-IT" sz="1200" dirty="0"/>
              <a:t>​)   ∀j ∈ J</a:t>
            </a:r>
            <a:endParaRPr lang="en-US" sz="1120" dirty="0">
              <a:solidFill>
                <a:srgbClr val="1F1F1F"/>
              </a:solidFill>
            </a:endParaRPr>
          </a:p>
          <a:p>
            <a:pPr algn="ctr"/>
            <a:r>
              <a:rPr lang="en-US" sz="1120" dirty="0">
                <a:solidFill>
                  <a:srgbClr val="1F1F1F"/>
                </a:solidFill>
              </a:rPr>
              <a:t>xᵢⱼ, yⱼ ∈ {0,1}   </a:t>
            </a:r>
            <a:r>
              <a:rPr lang="it-IT" sz="1200" dirty="0"/>
              <a:t>∀i ∈ I, ∀j ∈ J</a:t>
            </a:r>
            <a:endParaRPr lang="en-US" sz="1120" dirty="0"/>
          </a:p>
          <a:p>
            <a:pPr marL="0" indent="0" algn="ctr">
              <a:buNone/>
            </a:pPr>
            <a:r>
              <a:rPr lang="en-US" sz="1120" dirty="0">
                <a:solidFill>
                  <a:srgbClr val="1F1F1F"/>
                </a:solidFill>
              </a:rPr>
              <a:t>z ≥ 0</a:t>
            </a:r>
            <a:endParaRPr lang="en-US" sz="1120" dirty="0"/>
          </a:p>
        </p:txBody>
      </p:sp>
      <p:sp>
        <p:nvSpPr>
          <p:cNvPr id="15" name="Shape 13"/>
          <p:cNvSpPr/>
          <p:nvPr/>
        </p:nvSpPr>
        <p:spPr>
          <a:xfrm>
            <a:off x="3054096" y="3429000"/>
            <a:ext cx="73152" cy="73152"/>
          </a:xfrm>
          <a:prstGeom prst="ellipse">
            <a:avLst/>
          </a:prstGeom>
          <a:solidFill>
            <a:srgbClr val="007D34"/>
          </a:solidFill>
          <a:ln w="12700">
            <a:solidFill>
              <a:srgbClr val="007D34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6" name="Text 14"/>
          <p:cNvSpPr/>
          <p:nvPr/>
        </p:nvSpPr>
        <p:spPr>
          <a:xfrm>
            <a:off x="3218688" y="3355848"/>
            <a:ext cx="22128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20" dirty="0">
                <a:solidFill>
                  <a:srgbClr val="1F1F1F"/>
                </a:solidFill>
              </a:rPr>
              <a:t>Apre esattamente p centrali.</a:t>
            </a:r>
            <a:endParaRPr lang="en-US" sz="1220" dirty="0"/>
          </a:p>
        </p:txBody>
      </p:sp>
      <p:sp>
        <p:nvSpPr>
          <p:cNvPr id="17" name="Shape 15"/>
          <p:cNvSpPr/>
          <p:nvPr/>
        </p:nvSpPr>
        <p:spPr>
          <a:xfrm>
            <a:off x="3054096" y="3840480"/>
            <a:ext cx="73152" cy="73152"/>
          </a:xfrm>
          <a:prstGeom prst="ellipse">
            <a:avLst/>
          </a:prstGeom>
          <a:solidFill>
            <a:srgbClr val="007D34"/>
          </a:solidFill>
          <a:ln w="12700">
            <a:solidFill>
              <a:srgbClr val="007D34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8" name="Text 16"/>
          <p:cNvSpPr/>
          <p:nvPr/>
        </p:nvSpPr>
        <p:spPr>
          <a:xfrm>
            <a:off x="3218688" y="3767328"/>
            <a:ext cx="22128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>
              <a:buNone/>
            </a:pPr>
            <a:r>
              <a:rPr lang="en-US" sz="1220" dirty="0">
                <a:solidFill>
                  <a:srgbClr val="1F1F1F"/>
                </a:solidFill>
              </a:rPr>
              <a:t>Assegna ogni comunità a un sito aperto.</a:t>
            </a:r>
            <a:endParaRPr lang="en-US" sz="1220" dirty="0"/>
          </a:p>
        </p:txBody>
      </p:sp>
      <p:sp>
        <p:nvSpPr>
          <p:cNvPr id="19" name="Shape 17"/>
          <p:cNvSpPr/>
          <p:nvPr/>
        </p:nvSpPr>
        <p:spPr>
          <a:xfrm>
            <a:off x="3054096" y="4251960"/>
            <a:ext cx="73152" cy="73152"/>
          </a:xfrm>
          <a:prstGeom prst="ellipse">
            <a:avLst/>
          </a:prstGeom>
          <a:solidFill>
            <a:srgbClr val="007D34"/>
          </a:solidFill>
          <a:ln w="12700">
            <a:solidFill>
              <a:srgbClr val="007D34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0" name="Text 18"/>
          <p:cNvSpPr/>
          <p:nvPr/>
        </p:nvSpPr>
        <p:spPr>
          <a:xfrm>
            <a:off x="3218688" y="4178808"/>
            <a:ext cx="22128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20" dirty="0">
                <a:solidFill>
                  <a:srgbClr val="1F1F1F"/>
                </a:solidFill>
              </a:rPr>
              <a:t>Rispetta le </a:t>
            </a:r>
            <a:r>
              <a:rPr lang="en-US" sz="1220" dirty="0" err="1">
                <a:solidFill>
                  <a:srgbClr val="1F1F1F"/>
                </a:solidFill>
              </a:rPr>
              <a:t>capacità</a:t>
            </a:r>
            <a:r>
              <a:rPr lang="en-US" sz="1220" dirty="0">
                <a:solidFill>
                  <a:srgbClr val="1F1F1F"/>
                </a:solidFill>
              </a:rPr>
              <a:t>.</a:t>
            </a:r>
            <a:endParaRPr lang="en-US" sz="1220" dirty="0"/>
          </a:p>
        </p:txBody>
      </p:sp>
      <p:sp>
        <p:nvSpPr>
          <p:cNvPr id="21" name="Shape 19"/>
          <p:cNvSpPr/>
          <p:nvPr/>
        </p:nvSpPr>
        <p:spPr>
          <a:xfrm>
            <a:off x="6656832" y="3383280"/>
            <a:ext cx="1993392" cy="960120"/>
          </a:xfrm>
          <a:prstGeom prst="roundRect">
            <a:avLst>
              <a:gd name="adj" fmla="val 4762"/>
            </a:avLst>
          </a:prstGeom>
          <a:solidFill>
            <a:srgbClr val="F5FBF7"/>
          </a:solidFill>
          <a:ln w="12700">
            <a:solidFill>
              <a:srgbClr val="DDEAE2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2" name="Text 20"/>
          <p:cNvSpPr/>
          <p:nvPr/>
        </p:nvSpPr>
        <p:spPr>
          <a:xfrm>
            <a:off x="6839712" y="3557016"/>
            <a:ext cx="16093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20" b="1" dirty="0">
                <a:solidFill>
                  <a:srgbClr val="007D34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z(S) ≥ τ</a:t>
            </a:r>
            <a:endParaRPr lang="en-US" sz="1520" dirty="0"/>
          </a:p>
        </p:txBody>
      </p:sp>
      <p:sp>
        <p:nvSpPr>
          <p:cNvPr id="23" name="Text 21"/>
          <p:cNvSpPr/>
          <p:nvPr/>
        </p:nvSpPr>
        <p:spPr>
          <a:xfrm>
            <a:off x="6903720" y="3867912"/>
            <a:ext cx="148132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420" dirty="0">
                <a:solidFill>
                  <a:srgbClr val="1F1F1F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τ yⱼ ≤ rⱼ  </a:t>
            </a:r>
            <a:r>
              <a:rPr lang="it-IT" sz="1400" dirty="0"/>
              <a:t>∀j ∈ J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8869680" y="3429000"/>
            <a:ext cx="73152" cy="73152"/>
          </a:xfrm>
          <a:prstGeom prst="ellipse">
            <a:avLst/>
          </a:prstGeom>
          <a:solidFill>
            <a:srgbClr val="007D34"/>
          </a:solidFill>
          <a:ln w="12700">
            <a:solidFill>
              <a:srgbClr val="007D34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5" name="Text 23"/>
          <p:cNvSpPr/>
          <p:nvPr/>
        </p:nvSpPr>
        <p:spPr>
          <a:xfrm>
            <a:off x="9034272" y="3355848"/>
            <a:ext cx="22128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>
              <a:buNone/>
            </a:pPr>
            <a:r>
              <a:rPr lang="en-US" sz="1220" dirty="0">
                <a:solidFill>
                  <a:srgbClr val="1F1F1F"/>
                </a:solidFill>
              </a:rPr>
              <a:t>Fissa una soglia τ e chiede: esiste una soluzione?</a:t>
            </a:r>
            <a:endParaRPr lang="en-US" sz="1220" dirty="0"/>
          </a:p>
        </p:txBody>
      </p:sp>
      <p:sp>
        <p:nvSpPr>
          <p:cNvPr id="26" name="Shape 24"/>
          <p:cNvSpPr/>
          <p:nvPr/>
        </p:nvSpPr>
        <p:spPr>
          <a:xfrm>
            <a:off x="8869680" y="3840480"/>
            <a:ext cx="73152" cy="73152"/>
          </a:xfrm>
          <a:prstGeom prst="ellipse">
            <a:avLst/>
          </a:prstGeom>
          <a:solidFill>
            <a:srgbClr val="007D34"/>
          </a:solidFill>
          <a:ln w="12700">
            <a:solidFill>
              <a:srgbClr val="007D34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7" name="Text 25"/>
          <p:cNvSpPr/>
          <p:nvPr/>
        </p:nvSpPr>
        <p:spPr>
          <a:xfrm>
            <a:off x="9034272" y="3767328"/>
            <a:ext cx="22128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>
              <a:buNone/>
            </a:pPr>
            <a:r>
              <a:rPr lang="it-IT" sz="1220" dirty="0">
                <a:solidFill>
                  <a:srgbClr val="1F1F1F"/>
                </a:solidFill>
              </a:rPr>
              <a:t>Mantiene apertura, assegnamento e capacità.</a:t>
            </a:r>
            <a:endParaRPr lang="en-US" sz="1220" dirty="0"/>
          </a:p>
        </p:txBody>
      </p:sp>
      <p:sp>
        <p:nvSpPr>
          <p:cNvPr id="28" name="Shape 26"/>
          <p:cNvSpPr/>
          <p:nvPr/>
        </p:nvSpPr>
        <p:spPr>
          <a:xfrm>
            <a:off x="8869680" y="4251960"/>
            <a:ext cx="73152" cy="73152"/>
          </a:xfrm>
          <a:prstGeom prst="ellipse">
            <a:avLst/>
          </a:prstGeom>
          <a:solidFill>
            <a:srgbClr val="007D34"/>
          </a:solidFill>
          <a:ln w="12700">
            <a:solidFill>
              <a:srgbClr val="007D34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9" name="Text 27"/>
          <p:cNvSpPr/>
          <p:nvPr/>
        </p:nvSpPr>
        <p:spPr>
          <a:xfrm>
            <a:off x="9034272" y="4178808"/>
            <a:ext cx="22128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>
              <a:buNone/>
            </a:pPr>
            <a:r>
              <a:rPr lang="it-IT" sz="1220" dirty="0">
                <a:solidFill>
                  <a:srgbClr val="1F1F1F"/>
                </a:solidFill>
              </a:rPr>
              <a:t>Verifica se esiste una soluzione ammissibile.</a:t>
            </a:r>
            <a:endParaRPr lang="en-US" sz="1220" dirty="0"/>
          </a:p>
        </p:txBody>
      </p:sp>
      <p:sp>
        <p:nvSpPr>
          <p:cNvPr id="30" name="Shape 28"/>
          <p:cNvSpPr/>
          <p:nvPr/>
        </p:nvSpPr>
        <p:spPr>
          <a:xfrm>
            <a:off x="5925312" y="3730752"/>
            <a:ext cx="274320" cy="365760"/>
          </a:xfrm>
          <a:prstGeom prst="chevron">
            <a:avLst/>
          </a:prstGeom>
          <a:solidFill>
            <a:srgbClr val="E9F5EE"/>
          </a:solidFill>
          <a:ln w="12700">
            <a:solidFill>
              <a:srgbClr val="BBD8C4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1" name="Shape 29"/>
          <p:cNvSpPr/>
          <p:nvPr/>
        </p:nvSpPr>
        <p:spPr>
          <a:xfrm>
            <a:off x="676656" y="5925312"/>
            <a:ext cx="10844784" cy="420624"/>
          </a:xfrm>
          <a:prstGeom prst="roundRect">
            <a:avLst>
              <a:gd name="adj" fmla="val 10870"/>
            </a:avLst>
          </a:prstGeom>
          <a:solidFill>
            <a:srgbClr val="F5F6F4"/>
          </a:solidFill>
          <a:ln w="12700">
            <a:solidFill>
              <a:srgbClr val="E4E4E4">
                <a:alpha val="8500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2" name="Text 30"/>
          <p:cNvSpPr/>
          <p:nvPr/>
        </p:nvSpPr>
        <p:spPr>
          <a:xfrm>
            <a:off x="859536" y="5993892"/>
            <a:ext cx="103875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it-IT" sz="1100" b="1" dirty="0">
                <a:solidFill>
                  <a:srgbClr val="1F1F1F"/>
                </a:solidFill>
              </a:rPr>
              <a:t>Scelta sperimentale</a:t>
            </a:r>
            <a:r>
              <a:rPr lang="it-IT" sz="1100" dirty="0">
                <a:solidFill>
                  <a:srgbClr val="1F1F1F"/>
                </a:solidFill>
              </a:rPr>
              <a:t>: Compact usato nel benchmark finale; </a:t>
            </a:r>
            <a:r>
              <a:rPr lang="it-IT" sz="1100" dirty="0" err="1">
                <a:solidFill>
                  <a:srgbClr val="1F1F1F"/>
                </a:solidFill>
              </a:rPr>
              <a:t>Threshold</a:t>
            </a:r>
            <a:r>
              <a:rPr lang="it-IT" sz="1100" dirty="0">
                <a:solidFill>
                  <a:srgbClr val="1F1F1F"/>
                </a:solidFill>
              </a:rPr>
              <a:t> usato come metodo esatto indipendente di validazione sulle istanze controllabili.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9948672" y="1298448"/>
            <a:ext cx="1554480" cy="310896"/>
          </a:xfrm>
          <a:prstGeom prst="roundRect">
            <a:avLst>
              <a:gd name="adj" fmla="val 11765"/>
            </a:avLst>
          </a:prstGeom>
          <a:solidFill>
            <a:srgbClr val="E9F5EE"/>
          </a:solidFill>
          <a:ln w="12700">
            <a:solidFill>
              <a:srgbClr val="E9F5EE"/>
            </a:solidFill>
            <a:prstDash val="solid"/>
          </a:ln>
        </p:spPr>
        <p:txBody>
          <a:bodyPr/>
          <a:lstStyle/>
          <a:p>
            <a:endParaRPr lang="it-IT" dirty="0"/>
          </a:p>
        </p:txBody>
      </p:sp>
      <p:sp>
        <p:nvSpPr>
          <p:cNvPr id="34" name="Text 32"/>
          <p:cNvSpPr/>
          <p:nvPr/>
        </p:nvSpPr>
        <p:spPr>
          <a:xfrm>
            <a:off x="10076688" y="1415766"/>
            <a:ext cx="1298448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07D34"/>
                </a:solidFill>
              </a:rPr>
              <a:t>METODI ESATTI</a:t>
            </a:r>
            <a:endParaRPr lang="en-US" sz="850" dirty="0"/>
          </a:p>
        </p:txBody>
      </p:sp>
      <p:sp>
        <p:nvSpPr>
          <p:cNvPr id="35" name="Text 33"/>
          <p:cNvSpPr/>
          <p:nvPr/>
        </p:nvSpPr>
        <p:spPr>
          <a:xfrm>
            <a:off x="7909560" y="6547104"/>
            <a:ext cx="34290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80" dirty="0">
                <a:solidFill>
                  <a:srgbClr val="7F7F7F"/>
                </a:solidFill>
              </a:rPr>
              <a:t>AMOD · CMMOFLP Nuclear Siting</a:t>
            </a:r>
            <a:endParaRPr lang="en-US" sz="780" dirty="0"/>
          </a:p>
        </p:txBody>
      </p:sp>
      <p:sp>
        <p:nvSpPr>
          <p:cNvPr id="36" name="Text 34"/>
          <p:cNvSpPr/>
          <p:nvPr/>
        </p:nvSpPr>
        <p:spPr>
          <a:xfrm>
            <a:off x="11686032" y="6537960"/>
            <a:ext cx="12801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7F7F7F"/>
                </a:solidFill>
              </a:rPr>
              <a:t>5</a:t>
            </a:r>
            <a:endParaRPr lang="en-US" sz="800" dirty="0"/>
          </a:p>
        </p:txBody>
      </p:sp>
      <p:sp>
        <p:nvSpPr>
          <p:cNvPr id="38" name="Shape 17">
            <a:extLst>
              <a:ext uri="{FF2B5EF4-FFF2-40B4-BE49-F238E27FC236}">
                <a16:creationId xmlns:a16="http://schemas.microsoft.com/office/drawing/2014/main" id="{55D83F3C-79FD-9A5D-3D2D-98655142BCE3}"/>
              </a:ext>
            </a:extLst>
          </p:cNvPr>
          <p:cNvSpPr/>
          <p:nvPr/>
        </p:nvSpPr>
        <p:spPr>
          <a:xfrm>
            <a:off x="3054096" y="4590288"/>
            <a:ext cx="73152" cy="73152"/>
          </a:xfrm>
          <a:prstGeom prst="ellipse">
            <a:avLst/>
          </a:prstGeom>
          <a:solidFill>
            <a:srgbClr val="007D34"/>
          </a:solidFill>
          <a:ln w="12700">
            <a:solidFill>
              <a:srgbClr val="007D34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40" name="Text 18">
            <a:extLst>
              <a:ext uri="{FF2B5EF4-FFF2-40B4-BE49-F238E27FC236}">
                <a16:creationId xmlns:a16="http://schemas.microsoft.com/office/drawing/2014/main" id="{0F657BA6-5DAB-6326-A11E-6F104C0E1FF3}"/>
              </a:ext>
            </a:extLst>
          </p:cNvPr>
          <p:cNvSpPr/>
          <p:nvPr/>
        </p:nvSpPr>
        <p:spPr>
          <a:xfrm>
            <a:off x="3218688" y="4517136"/>
            <a:ext cx="22128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>
              <a:buNone/>
            </a:pPr>
            <a:r>
              <a:rPr lang="it-IT" sz="1220" dirty="0">
                <a:solidFill>
                  <a:srgbClr val="1F1F1F"/>
                </a:solidFill>
              </a:rPr>
              <a:t>Ottimizza direttamente la sicurezza minima.</a:t>
            </a:r>
            <a:endParaRPr lang="en-US" sz="1220" dirty="0"/>
          </a:p>
        </p:txBody>
      </p:sp>
      <p:sp>
        <p:nvSpPr>
          <p:cNvPr id="42" name="Shape 26">
            <a:extLst>
              <a:ext uri="{FF2B5EF4-FFF2-40B4-BE49-F238E27FC236}">
                <a16:creationId xmlns:a16="http://schemas.microsoft.com/office/drawing/2014/main" id="{E76DBBFA-2A2F-1D0E-A809-F71F9CA0C34F}"/>
              </a:ext>
            </a:extLst>
          </p:cNvPr>
          <p:cNvSpPr/>
          <p:nvPr/>
        </p:nvSpPr>
        <p:spPr>
          <a:xfrm>
            <a:off x="8869680" y="4617720"/>
            <a:ext cx="73152" cy="73152"/>
          </a:xfrm>
          <a:prstGeom prst="ellipse">
            <a:avLst/>
          </a:prstGeom>
          <a:solidFill>
            <a:srgbClr val="007D34"/>
          </a:solidFill>
          <a:ln w="12700">
            <a:solidFill>
              <a:srgbClr val="007D34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44" name="Text 27">
            <a:extLst>
              <a:ext uri="{FF2B5EF4-FFF2-40B4-BE49-F238E27FC236}">
                <a16:creationId xmlns:a16="http://schemas.microsoft.com/office/drawing/2014/main" id="{B6041411-BA18-2513-08FF-175C08566AF4}"/>
              </a:ext>
            </a:extLst>
          </p:cNvPr>
          <p:cNvSpPr/>
          <p:nvPr/>
        </p:nvSpPr>
        <p:spPr>
          <a:xfrm>
            <a:off x="9034272" y="4507992"/>
            <a:ext cx="22128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/>
          </a:bodyPr>
          <a:lstStyle/>
          <a:p>
            <a:pPr marL="0" indent="0">
              <a:buNone/>
            </a:pPr>
            <a:r>
              <a:rPr lang="it-IT" sz="1220" dirty="0">
                <a:solidFill>
                  <a:srgbClr val="1F1F1F"/>
                </a:solidFill>
              </a:rPr>
              <a:t>Cerca la massima soglia tra i valori </a:t>
            </a:r>
            <a:r>
              <a:rPr lang="it-IT" sz="1220" dirty="0" err="1">
                <a:solidFill>
                  <a:srgbClr val="1F1F1F"/>
                </a:solidFill>
              </a:rPr>
              <a:t>rj</a:t>
            </a:r>
            <a:r>
              <a:rPr lang="it-IT" sz="1220" dirty="0">
                <a:solidFill>
                  <a:srgbClr val="1F1F1F"/>
                </a:solidFill>
              </a:rPr>
              <a:t>.</a:t>
            </a:r>
            <a:endParaRPr lang="en-US" sz="1220" dirty="0"/>
          </a:p>
        </p:txBody>
      </p:sp>
    </p:spTree>
    <p:extLst>
      <p:ext uri="{BB962C8B-B14F-4D97-AF65-F5344CB8AC3E}">
        <p14:creationId xmlns:p14="http://schemas.microsoft.com/office/powerpoint/2010/main" val="330798404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1347794"/>
            <a:ext cx="8321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3100" b="1" dirty="0">
                <a:solidFill>
                  <a:srgbClr val="007D34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Baseline euristiche: Greedy e 1-swap</a:t>
            </a:r>
            <a:endParaRPr lang="en-US" sz="3100" dirty="0"/>
          </a:p>
        </p:txBody>
      </p:sp>
      <p:sp>
        <p:nvSpPr>
          <p:cNvPr id="3" name="Text 1"/>
          <p:cNvSpPr/>
          <p:nvPr/>
        </p:nvSpPr>
        <p:spPr>
          <a:xfrm>
            <a:off x="685800" y="1789814"/>
            <a:ext cx="969264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80" dirty="0">
                <a:solidFill>
                  <a:srgbClr val="7F7F7F"/>
                </a:solidFill>
              </a:rPr>
              <a:t>Due riferimenti semplici: una baseline di costruzione e una di miglioramento locale. Ci servono per capire quanto GRASP-VND aggiunge davvero.</a:t>
            </a:r>
            <a:endParaRPr lang="en-US" sz="1280" dirty="0"/>
          </a:p>
        </p:txBody>
      </p:sp>
      <p:sp>
        <p:nvSpPr>
          <p:cNvPr id="4" name="Shape 2"/>
          <p:cNvSpPr/>
          <p:nvPr/>
        </p:nvSpPr>
        <p:spPr>
          <a:xfrm>
            <a:off x="9802368" y="1152324"/>
            <a:ext cx="1719072" cy="301752"/>
          </a:xfrm>
          <a:prstGeom prst="roundRect">
            <a:avLst>
              <a:gd name="adj" fmla="val 18182"/>
            </a:avLst>
          </a:prstGeom>
          <a:solidFill>
            <a:srgbClr val="E9F5EE"/>
          </a:solidFill>
          <a:ln w="12700">
            <a:solidFill>
              <a:srgbClr val="E9F5EE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5" name="Text 3"/>
          <p:cNvSpPr/>
          <p:nvPr/>
        </p:nvSpPr>
        <p:spPr>
          <a:xfrm>
            <a:off x="9875520" y="1250318"/>
            <a:ext cx="1572768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20" b="1" dirty="0">
                <a:solidFill>
                  <a:srgbClr val="007D34"/>
                </a:solidFill>
              </a:rPr>
              <a:t>BASELINE EURISTICHE</a:t>
            </a:r>
            <a:endParaRPr lang="en-US" sz="920" dirty="0"/>
          </a:p>
        </p:txBody>
      </p:sp>
      <p:sp>
        <p:nvSpPr>
          <p:cNvPr id="6" name="Shape 4"/>
          <p:cNvSpPr/>
          <p:nvPr/>
        </p:nvSpPr>
        <p:spPr>
          <a:xfrm>
            <a:off x="658368" y="2249604"/>
            <a:ext cx="5285232" cy="3090672"/>
          </a:xfrm>
          <a:prstGeom prst="roundRect">
            <a:avLst>
              <a:gd name="adj" fmla="val 2367"/>
            </a:avLst>
          </a:prstGeom>
          <a:solidFill>
            <a:srgbClr val="F6FBF8"/>
          </a:solidFill>
          <a:ln w="12700">
            <a:solidFill>
              <a:srgbClr val="BBD8C4">
                <a:alpha val="9000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7" name="Shape 5"/>
          <p:cNvSpPr/>
          <p:nvPr/>
        </p:nvSpPr>
        <p:spPr>
          <a:xfrm>
            <a:off x="6245352" y="2249604"/>
            <a:ext cx="5294376" cy="3090672"/>
          </a:xfrm>
          <a:prstGeom prst="roundRect">
            <a:avLst>
              <a:gd name="adj" fmla="val 2367"/>
            </a:avLst>
          </a:prstGeom>
          <a:solidFill>
            <a:srgbClr val="FFFFFF"/>
          </a:solidFill>
          <a:ln w="12700">
            <a:solidFill>
              <a:srgbClr val="BBD8C4">
                <a:alpha val="9000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8" name="Shape 6"/>
          <p:cNvSpPr/>
          <p:nvPr/>
        </p:nvSpPr>
        <p:spPr>
          <a:xfrm>
            <a:off x="877824" y="2459916"/>
            <a:ext cx="1920240" cy="301752"/>
          </a:xfrm>
          <a:prstGeom prst="roundRect">
            <a:avLst>
              <a:gd name="adj" fmla="val 18182"/>
            </a:avLst>
          </a:prstGeom>
          <a:solidFill>
            <a:srgbClr val="E9F5EE"/>
          </a:solidFill>
          <a:ln w="12700">
            <a:solidFill>
              <a:srgbClr val="E9F5EE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9" name="Text 7"/>
          <p:cNvSpPr/>
          <p:nvPr/>
        </p:nvSpPr>
        <p:spPr>
          <a:xfrm>
            <a:off x="950976" y="2558428"/>
            <a:ext cx="1773936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it-IT" sz="920" b="1" dirty="0">
                <a:solidFill>
                  <a:srgbClr val="007D34"/>
                </a:solidFill>
              </a:rPr>
              <a:t>GREEDY CON CONTROLLO DI CAPACITÀ</a:t>
            </a:r>
            <a:endParaRPr lang="en-US" sz="920" dirty="0"/>
          </a:p>
        </p:txBody>
      </p:sp>
      <p:sp>
        <p:nvSpPr>
          <p:cNvPr id="10" name="Shape 8"/>
          <p:cNvSpPr/>
          <p:nvPr/>
        </p:nvSpPr>
        <p:spPr>
          <a:xfrm>
            <a:off x="6473952" y="2459916"/>
            <a:ext cx="1783080" cy="301752"/>
          </a:xfrm>
          <a:prstGeom prst="roundRect">
            <a:avLst>
              <a:gd name="adj" fmla="val 18182"/>
            </a:avLst>
          </a:prstGeom>
          <a:solidFill>
            <a:srgbClr val="E9F5EE"/>
          </a:solidFill>
          <a:ln w="12700">
            <a:solidFill>
              <a:srgbClr val="E9F5EE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1" name="Text 9"/>
          <p:cNvSpPr/>
          <p:nvPr/>
        </p:nvSpPr>
        <p:spPr>
          <a:xfrm>
            <a:off x="6547104" y="2558428"/>
            <a:ext cx="1636776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20" b="1" dirty="0">
                <a:solidFill>
                  <a:srgbClr val="007D34"/>
                </a:solidFill>
              </a:rPr>
              <a:t>GREEDY + 1-SWAP</a:t>
            </a:r>
            <a:endParaRPr lang="en-US" sz="920" dirty="0"/>
          </a:p>
        </p:txBody>
      </p:sp>
      <p:sp>
        <p:nvSpPr>
          <p:cNvPr id="12" name="Text 10"/>
          <p:cNvSpPr/>
          <p:nvPr/>
        </p:nvSpPr>
        <p:spPr>
          <a:xfrm>
            <a:off x="877824" y="2862252"/>
            <a:ext cx="2468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80" b="1" dirty="0">
                <a:solidFill>
                  <a:srgbClr val="1F1F1F"/>
                </a:solidFill>
              </a:rPr>
              <a:t>1) Euristica di costruzione</a:t>
            </a:r>
            <a:endParaRPr lang="en-US" sz="1380" dirty="0"/>
          </a:p>
        </p:txBody>
      </p:sp>
      <p:sp>
        <p:nvSpPr>
          <p:cNvPr id="13" name="Text 11"/>
          <p:cNvSpPr/>
          <p:nvPr/>
        </p:nvSpPr>
        <p:spPr>
          <a:xfrm>
            <a:off x="877824" y="3090852"/>
            <a:ext cx="45262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980" dirty="0">
                <a:solidFill>
                  <a:srgbClr val="5D6A62"/>
                </a:solidFill>
              </a:rPr>
              <a:t>Obiettivo: costruire rapidamente una soluzione ammissibile.</a:t>
            </a:r>
            <a:endParaRPr lang="en-US" sz="980" dirty="0"/>
          </a:p>
        </p:txBody>
      </p:sp>
      <p:sp>
        <p:nvSpPr>
          <p:cNvPr id="14" name="Text 12"/>
          <p:cNvSpPr/>
          <p:nvPr/>
        </p:nvSpPr>
        <p:spPr>
          <a:xfrm>
            <a:off x="6473952" y="2862252"/>
            <a:ext cx="2743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80" b="1" dirty="0">
                <a:solidFill>
                  <a:srgbClr val="1F1F1F"/>
                </a:solidFill>
              </a:rPr>
              <a:t>2) Euristica di miglioramento</a:t>
            </a:r>
            <a:endParaRPr lang="en-US" sz="1380" dirty="0"/>
          </a:p>
        </p:txBody>
      </p:sp>
      <p:sp>
        <p:nvSpPr>
          <p:cNvPr id="15" name="Text 13"/>
          <p:cNvSpPr/>
          <p:nvPr/>
        </p:nvSpPr>
        <p:spPr>
          <a:xfrm>
            <a:off x="6473952" y="3090852"/>
            <a:ext cx="45720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980" dirty="0">
                <a:solidFill>
                  <a:srgbClr val="5D6A62"/>
                </a:solidFill>
              </a:rPr>
              <a:t>Obiettivo: partire da una soluzione e cercare un vicino migliore.</a:t>
            </a:r>
            <a:endParaRPr lang="en-US" sz="980" dirty="0"/>
          </a:p>
        </p:txBody>
      </p:sp>
      <p:sp>
        <p:nvSpPr>
          <p:cNvPr id="16" name="Shape 14"/>
          <p:cNvSpPr/>
          <p:nvPr/>
        </p:nvSpPr>
        <p:spPr>
          <a:xfrm>
            <a:off x="1024128" y="3529764"/>
            <a:ext cx="0" cy="429768"/>
          </a:xfrm>
          <a:prstGeom prst="line">
            <a:avLst/>
          </a:prstGeom>
          <a:noFill/>
          <a:ln w="12700">
            <a:solidFill>
              <a:srgbClr val="BBD8C4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it-IT"/>
          </a:p>
        </p:txBody>
      </p:sp>
      <p:sp>
        <p:nvSpPr>
          <p:cNvPr id="17" name="Shape 15"/>
          <p:cNvSpPr/>
          <p:nvPr/>
        </p:nvSpPr>
        <p:spPr>
          <a:xfrm>
            <a:off x="1024128" y="4114980"/>
            <a:ext cx="0" cy="429768"/>
          </a:xfrm>
          <a:prstGeom prst="line">
            <a:avLst/>
          </a:prstGeom>
          <a:noFill/>
          <a:ln w="12700">
            <a:solidFill>
              <a:srgbClr val="BBD8C4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it-IT"/>
          </a:p>
        </p:txBody>
      </p:sp>
      <p:sp>
        <p:nvSpPr>
          <p:cNvPr id="18" name="Shape 16"/>
          <p:cNvSpPr/>
          <p:nvPr/>
        </p:nvSpPr>
        <p:spPr>
          <a:xfrm>
            <a:off x="6620256" y="3529764"/>
            <a:ext cx="0" cy="429768"/>
          </a:xfrm>
          <a:prstGeom prst="line">
            <a:avLst/>
          </a:prstGeom>
          <a:noFill/>
          <a:ln w="12700">
            <a:solidFill>
              <a:srgbClr val="BBD8C4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it-IT"/>
          </a:p>
        </p:txBody>
      </p:sp>
      <p:sp>
        <p:nvSpPr>
          <p:cNvPr id="19" name="Shape 17"/>
          <p:cNvSpPr/>
          <p:nvPr/>
        </p:nvSpPr>
        <p:spPr>
          <a:xfrm>
            <a:off x="6620256" y="4114980"/>
            <a:ext cx="0" cy="429768"/>
          </a:xfrm>
          <a:prstGeom prst="line">
            <a:avLst/>
          </a:prstGeom>
          <a:noFill/>
          <a:ln w="12700">
            <a:solidFill>
              <a:srgbClr val="BBD8C4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it-IT"/>
          </a:p>
        </p:txBody>
      </p:sp>
      <p:sp>
        <p:nvSpPr>
          <p:cNvPr id="20" name="Shape 18"/>
          <p:cNvSpPr/>
          <p:nvPr/>
        </p:nvSpPr>
        <p:spPr>
          <a:xfrm>
            <a:off x="877824" y="3374316"/>
            <a:ext cx="310896" cy="310896"/>
          </a:xfrm>
          <a:prstGeom prst="ellipse">
            <a:avLst/>
          </a:prstGeom>
          <a:solidFill>
            <a:srgbClr val="007D34"/>
          </a:solidFill>
          <a:ln w="12700">
            <a:solidFill>
              <a:srgbClr val="007D34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1" name="Text 19"/>
          <p:cNvSpPr/>
          <p:nvPr/>
        </p:nvSpPr>
        <p:spPr>
          <a:xfrm>
            <a:off x="977890" y="3478660"/>
            <a:ext cx="118872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20" b="1" dirty="0">
                <a:solidFill>
                  <a:srgbClr val="FFFFFF"/>
                </a:solidFill>
              </a:rPr>
              <a:t>1</a:t>
            </a:r>
            <a:endParaRPr lang="en-US" sz="920" dirty="0"/>
          </a:p>
        </p:txBody>
      </p:sp>
      <p:sp>
        <p:nvSpPr>
          <p:cNvPr id="22" name="Shape 20"/>
          <p:cNvSpPr/>
          <p:nvPr/>
        </p:nvSpPr>
        <p:spPr>
          <a:xfrm>
            <a:off x="1316736" y="3346884"/>
            <a:ext cx="4297680" cy="393192"/>
          </a:xfrm>
          <a:prstGeom prst="roundRect">
            <a:avLst>
              <a:gd name="adj" fmla="val 9302"/>
            </a:avLst>
          </a:prstGeom>
          <a:solidFill>
            <a:srgbClr val="FFFFFF"/>
          </a:solidFill>
          <a:ln w="12700">
            <a:solidFill>
              <a:srgbClr val="E1EAE5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3" name="Text 21"/>
          <p:cNvSpPr/>
          <p:nvPr/>
        </p:nvSpPr>
        <p:spPr>
          <a:xfrm>
            <a:off x="1426464" y="3459112"/>
            <a:ext cx="40965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00" dirty="0">
                <a:solidFill>
                  <a:srgbClr val="1F1F1F"/>
                </a:solidFill>
              </a:rPr>
              <a:t>Ordina i siti candidati per sicurezza, capacità e ID.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877824" y="3959532"/>
            <a:ext cx="310896" cy="310896"/>
          </a:xfrm>
          <a:prstGeom prst="ellipse">
            <a:avLst/>
          </a:prstGeom>
          <a:solidFill>
            <a:srgbClr val="007D34"/>
          </a:solidFill>
          <a:ln w="12700">
            <a:solidFill>
              <a:srgbClr val="007D34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5" name="Text 23"/>
          <p:cNvSpPr/>
          <p:nvPr/>
        </p:nvSpPr>
        <p:spPr>
          <a:xfrm>
            <a:off x="977890" y="4069783"/>
            <a:ext cx="118872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20" b="1" dirty="0">
                <a:solidFill>
                  <a:srgbClr val="FFFFFF"/>
                </a:solidFill>
              </a:rPr>
              <a:t>2</a:t>
            </a:r>
            <a:endParaRPr lang="en-US" sz="920" dirty="0"/>
          </a:p>
        </p:txBody>
      </p:sp>
      <p:sp>
        <p:nvSpPr>
          <p:cNvPr id="26" name="Shape 24"/>
          <p:cNvSpPr/>
          <p:nvPr/>
        </p:nvSpPr>
        <p:spPr>
          <a:xfrm>
            <a:off x="1316736" y="3932100"/>
            <a:ext cx="4297680" cy="393192"/>
          </a:xfrm>
          <a:prstGeom prst="roundRect">
            <a:avLst>
              <a:gd name="adj" fmla="val 9302"/>
            </a:avLst>
          </a:prstGeom>
          <a:solidFill>
            <a:srgbClr val="FFFFFF"/>
          </a:solidFill>
          <a:ln w="12700">
            <a:solidFill>
              <a:srgbClr val="E1EAE5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7" name="Text 25"/>
          <p:cNvSpPr/>
          <p:nvPr/>
        </p:nvSpPr>
        <p:spPr>
          <a:xfrm>
            <a:off x="1434745" y="4069260"/>
            <a:ext cx="40965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77500" lnSpcReduction="20000"/>
          </a:bodyPr>
          <a:lstStyle/>
          <a:p>
            <a:pPr marL="0" indent="0">
              <a:buNone/>
            </a:pPr>
            <a:r>
              <a:rPr lang="en-US" sz="1000" dirty="0">
                <a:solidFill>
                  <a:srgbClr val="1F1F1F"/>
                </a:solidFill>
              </a:rPr>
              <a:t>Apre i siti in modo prudente: ogni scelta deve restare compatibile con la capacità residua.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877824" y="4544748"/>
            <a:ext cx="310896" cy="310896"/>
          </a:xfrm>
          <a:prstGeom prst="ellipse">
            <a:avLst/>
          </a:prstGeom>
          <a:solidFill>
            <a:srgbClr val="007D34"/>
          </a:solidFill>
          <a:ln w="12700">
            <a:solidFill>
              <a:srgbClr val="007D34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9" name="Text 27"/>
          <p:cNvSpPr/>
          <p:nvPr/>
        </p:nvSpPr>
        <p:spPr>
          <a:xfrm>
            <a:off x="973318" y="4656188"/>
            <a:ext cx="118872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20" b="1" dirty="0">
                <a:solidFill>
                  <a:srgbClr val="FFFFFF"/>
                </a:solidFill>
              </a:rPr>
              <a:t>3</a:t>
            </a:r>
            <a:endParaRPr lang="en-US" sz="920" dirty="0"/>
          </a:p>
        </p:txBody>
      </p:sp>
      <p:sp>
        <p:nvSpPr>
          <p:cNvPr id="30" name="Shape 28"/>
          <p:cNvSpPr/>
          <p:nvPr/>
        </p:nvSpPr>
        <p:spPr>
          <a:xfrm>
            <a:off x="1316736" y="4517316"/>
            <a:ext cx="4297680" cy="393192"/>
          </a:xfrm>
          <a:prstGeom prst="roundRect">
            <a:avLst>
              <a:gd name="adj" fmla="val 9302"/>
            </a:avLst>
          </a:prstGeom>
          <a:solidFill>
            <a:srgbClr val="FFFFFF"/>
          </a:solidFill>
          <a:ln w="12700">
            <a:solidFill>
              <a:srgbClr val="E1EAE5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1" name="Text 29"/>
          <p:cNvSpPr/>
          <p:nvPr/>
        </p:nvSpPr>
        <p:spPr>
          <a:xfrm>
            <a:off x="1426464" y="4638438"/>
            <a:ext cx="40965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00" dirty="0">
                <a:solidFill>
                  <a:srgbClr val="1F1F1F"/>
                </a:solidFill>
              </a:rPr>
              <a:t>Assegna le comunità ai siti aperti con best-fit decreasing.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6473952" y="3374316"/>
            <a:ext cx="310896" cy="310896"/>
          </a:xfrm>
          <a:prstGeom prst="ellipse">
            <a:avLst/>
          </a:prstGeom>
          <a:solidFill>
            <a:srgbClr val="007D34"/>
          </a:solidFill>
          <a:ln w="12700">
            <a:solidFill>
              <a:srgbClr val="007D34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3" name="Text 31"/>
          <p:cNvSpPr/>
          <p:nvPr/>
        </p:nvSpPr>
        <p:spPr>
          <a:xfrm>
            <a:off x="6565392" y="3485949"/>
            <a:ext cx="118872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20" b="1" dirty="0">
                <a:solidFill>
                  <a:srgbClr val="FFFFFF"/>
                </a:solidFill>
              </a:rPr>
              <a:t>1</a:t>
            </a:r>
            <a:endParaRPr lang="en-US" sz="920" dirty="0"/>
          </a:p>
        </p:txBody>
      </p:sp>
      <p:sp>
        <p:nvSpPr>
          <p:cNvPr id="34" name="Shape 32"/>
          <p:cNvSpPr/>
          <p:nvPr/>
        </p:nvSpPr>
        <p:spPr>
          <a:xfrm>
            <a:off x="6912864" y="3346884"/>
            <a:ext cx="4297680" cy="393192"/>
          </a:xfrm>
          <a:prstGeom prst="roundRect">
            <a:avLst>
              <a:gd name="adj" fmla="val 9302"/>
            </a:avLst>
          </a:prstGeom>
          <a:solidFill>
            <a:srgbClr val="F6FBF8"/>
          </a:solidFill>
          <a:ln w="12700">
            <a:solidFill>
              <a:srgbClr val="E1EAE5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5" name="Text 33"/>
          <p:cNvSpPr/>
          <p:nvPr/>
        </p:nvSpPr>
        <p:spPr>
          <a:xfrm>
            <a:off x="7031736" y="3461184"/>
            <a:ext cx="40965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00" dirty="0">
                <a:solidFill>
                  <a:srgbClr val="1F1F1F"/>
                </a:solidFill>
              </a:rPr>
              <a:t>Parte dalla greedy (o da una soluzione riparata se necessario).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6473952" y="3959532"/>
            <a:ext cx="310896" cy="310896"/>
          </a:xfrm>
          <a:prstGeom prst="ellipse">
            <a:avLst/>
          </a:prstGeom>
          <a:solidFill>
            <a:srgbClr val="007D34"/>
          </a:solidFill>
          <a:ln w="12700">
            <a:solidFill>
              <a:srgbClr val="007D34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7" name="Text 35"/>
          <p:cNvSpPr/>
          <p:nvPr/>
        </p:nvSpPr>
        <p:spPr>
          <a:xfrm>
            <a:off x="6569188" y="4068821"/>
            <a:ext cx="118872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20" b="1" dirty="0">
                <a:solidFill>
                  <a:srgbClr val="FFFFFF"/>
                </a:solidFill>
              </a:rPr>
              <a:t>2</a:t>
            </a:r>
            <a:endParaRPr lang="en-US" sz="920" dirty="0"/>
          </a:p>
        </p:txBody>
      </p:sp>
      <p:sp>
        <p:nvSpPr>
          <p:cNvPr id="38" name="Shape 36"/>
          <p:cNvSpPr/>
          <p:nvPr/>
        </p:nvSpPr>
        <p:spPr>
          <a:xfrm>
            <a:off x="6912864" y="3932100"/>
            <a:ext cx="4297680" cy="393192"/>
          </a:xfrm>
          <a:prstGeom prst="roundRect">
            <a:avLst>
              <a:gd name="adj" fmla="val 9302"/>
            </a:avLst>
          </a:prstGeom>
          <a:solidFill>
            <a:srgbClr val="F6FBF8"/>
          </a:solidFill>
          <a:ln w="12700">
            <a:solidFill>
              <a:srgbClr val="E1EAE5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9" name="Text 37"/>
          <p:cNvSpPr/>
          <p:nvPr/>
        </p:nvSpPr>
        <p:spPr>
          <a:xfrm>
            <a:off x="7013448" y="4054350"/>
            <a:ext cx="40965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/>
          </a:bodyPr>
          <a:lstStyle/>
          <a:p>
            <a:pPr marL="0" indent="0">
              <a:buNone/>
            </a:pPr>
            <a:r>
              <a:rPr lang="en-US" sz="1000" dirty="0">
                <a:solidFill>
                  <a:srgbClr val="1F1F1F"/>
                </a:solidFill>
              </a:rPr>
              <a:t>Genera un vicino con una sola mossa: chiude un sito aperto e ne apre uno chiuso.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6473952" y="4544748"/>
            <a:ext cx="310896" cy="310896"/>
          </a:xfrm>
          <a:prstGeom prst="ellipse">
            <a:avLst/>
          </a:prstGeom>
          <a:solidFill>
            <a:srgbClr val="007D34"/>
          </a:solidFill>
          <a:ln w="12700">
            <a:solidFill>
              <a:srgbClr val="007D34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41" name="Text 39"/>
          <p:cNvSpPr/>
          <p:nvPr/>
        </p:nvSpPr>
        <p:spPr>
          <a:xfrm>
            <a:off x="6565392" y="4655940"/>
            <a:ext cx="118872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20" b="1" dirty="0">
                <a:solidFill>
                  <a:srgbClr val="FFFFFF"/>
                </a:solidFill>
              </a:rPr>
              <a:t>3</a:t>
            </a:r>
            <a:endParaRPr lang="en-US" sz="920" dirty="0"/>
          </a:p>
        </p:txBody>
      </p:sp>
      <p:sp>
        <p:nvSpPr>
          <p:cNvPr id="42" name="Shape 40"/>
          <p:cNvSpPr/>
          <p:nvPr/>
        </p:nvSpPr>
        <p:spPr>
          <a:xfrm>
            <a:off x="6912864" y="4517316"/>
            <a:ext cx="4297680" cy="393192"/>
          </a:xfrm>
          <a:prstGeom prst="roundRect">
            <a:avLst>
              <a:gd name="adj" fmla="val 9302"/>
            </a:avLst>
          </a:prstGeom>
          <a:solidFill>
            <a:srgbClr val="F6FBF8"/>
          </a:solidFill>
          <a:ln w="12700">
            <a:solidFill>
              <a:srgbClr val="E1EAE5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43" name="Text 41"/>
          <p:cNvSpPr/>
          <p:nvPr/>
        </p:nvSpPr>
        <p:spPr>
          <a:xfrm>
            <a:off x="7013448" y="4638438"/>
            <a:ext cx="40965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/>
          </a:bodyPr>
          <a:lstStyle/>
          <a:p>
            <a:pPr marL="0" indent="0">
              <a:buNone/>
            </a:pPr>
            <a:r>
              <a:rPr lang="en-US" sz="1000" dirty="0">
                <a:solidFill>
                  <a:srgbClr val="1F1F1F"/>
                </a:solidFill>
              </a:rPr>
              <a:t>Riassegna le comunità e accetta il vicino solo se migliora l’obiettivo lessicografico.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877824" y="5075100"/>
            <a:ext cx="2048256" cy="512064"/>
          </a:xfrm>
          <a:prstGeom prst="roundRect">
            <a:avLst>
              <a:gd name="adj" fmla="val 7143"/>
            </a:avLst>
          </a:prstGeom>
          <a:solidFill>
            <a:srgbClr val="E9F5EE"/>
          </a:solidFill>
          <a:ln w="12700">
            <a:solidFill>
              <a:srgbClr val="BBD8C4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45" name="Text 43"/>
          <p:cNvSpPr/>
          <p:nvPr/>
        </p:nvSpPr>
        <p:spPr>
          <a:xfrm>
            <a:off x="969264" y="5148252"/>
            <a:ext cx="186537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20" b="1" dirty="0">
                <a:solidFill>
                  <a:srgbClr val="007D34"/>
                </a:solidFill>
              </a:rPr>
              <a:t>PUNTO FORTE</a:t>
            </a:r>
            <a:endParaRPr lang="en-US" sz="920" dirty="0"/>
          </a:p>
        </p:txBody>
      </p:sp>
      <p:sp>
        <p:nvSpPr>
          <p:cNvPr id="46" name="Text 44"/>
          <p:cNvSpPr/>
          <p:nvPr/>
        </p:nvSpPr>
        <p:spPr>
          <a:xfrm>
            <a:off x="969264" y="5294556"/>
            <a:ext cx="186537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85000" lnSpcReduction="20000"/>
          </a:bodyPr>
          <a:lstStyle/>
          <a:p>
            <a:pPr marL="0" indent="0">
              <a:buNone/>
            </a:pPr>
            <a:r>
              <a:rPr lang="en-US" sz="860" dirty="0">
                <a:solidFill>
                  <a:srgbClr val="5D6A62"/>
                </a:solidFill>
              </a:rPr>
              <a:t>Molto veloce, semplice e deterministica: ottima baseline di partenza.</a:t>
            </a:r>
            <a:endParaRPr lang="en-US" sz="860" dirty="0"/>
          </a:p>
        </p:txBody>
      </p:sp>
      <p:sp>
        <p:nvSpPr>
          <p:cNvPr id="47" name="Shape 45"/>
          <p:cNvSpPr/>
          <p:nvPr/>
        </p:nvSpPr>
        <p:spPr>
          <a:xfrm>
            <a:off x="3035808" y="5075100"/>
            <a:ext cx="2139696" cy="512064"/>
          </a:xfrm>
          <a:prstGeom prst="roundRect">
            <a:avLst>
              <a:gd name="adj" fmla="val 7143"/>
            </a:avLst>
          </a:prstGeom>
          <a:solidFill>
            <a:srgbClr val="E9F5EE"/>
          </a:solidFill>
          <a:ln w="12700">
            <a:solidFill>
              <a:srgbClr val="BBD8C4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48" name="Text 46"/>
          <p:cNvSpPr/>
          <p:nvPr/>
        </p:nvSpPr>
        <p:spPr>
          <a:xfrm>
            <a:off x="3127248" y="5148252"/>
            <a:ext cx="195681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20" b="1" dirty="0">
                <a:solidFill>
                  <a:srgbClr val="007D34"/>
                </a:solidFill>
              </a:rPr>
              <a:t>LIMITE</a:t>
            </a:r>
            <a:endParaRPr lang="en-US" sz="920" dirty="0"/>
          </a:p>
        </p:txBody>
      </p:sp>
      <p:sp>
        <p:nvSpPr>
          <p:cNvPr id="49" name="Text 47"/>
          <p:cNvSpPr/>
          <p:nvPr/>
        </p:nvSpPr>
        <p:spPr>
          <a:xfrm>
            <a:off x="3127248" y="5294556"/>
            <a:ext cx="19568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85000" lnSpcReduction="20000"/>
          </a:bodyPr>
          <a:lstStyle/>
          <a:p>
            <a:pPr marL="0" indent="0">
              <a:buNone/>
            </a:pPr>
            <a:r>
              <a:rPr lang="en-US" sz="860" dirty="0">
                <a:solidFill>
                  <a:srgbClr val="5D6A62"/>
                </a:solidFill>
              </a:rPr>
              <a:t>È miope: prende decisioni locali e può restare lontana dalle soluzioni migliori.</a:t>
            </a:r>
            <a:endParaRPr lang="en-US" sz="860" dirty="0"/>
          </a:p>
        </p:txBody>
      </p:sp>
      <p:sp>
        <p:nvSpPr>
          <p:cNvPr id="50" name="Shape 48"/>
          <p:cNvSpPr/>
          <p:nvPr/>
        </p:nvSpPr>
        <p:spPr>
          <a:xfrm>
            <a:off x="6473952" y="5075100"/>
            <a:ext cx="2157984" cy="512064"/>
          </a:xfrm>
          <a:prstGeom prst="roundRect">
            <a:avLst>
              <a:gd name="adj" fmla="val 7143"/>
            </a:avLst>
          </a:prstGeom>
          <a:solidFill>
            <a:srgbClr val="E9F5EE"/>
          </a:solidFill>
          <a:ln w="12700">
            <a:solidFill>
              <a:srgbClr val="BBD8C4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51" name="Text 49"/>
          <p:cNvSpPr/>
          <p:nvPr/>
        </p:nvSpPr>
        <p:spPr>
          <a:xfrm>
            <a:off x="6565392" y="5148252"/>
            <a:ext cx="197510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20" b="1" dirty="0">
                <a:solidFill>
                  <a:srgbClr val="007D34"/>
                </a:solidFill>
              </a:rPr>
              <a:t>PUNTO FORTE</a:t>
            </a:r>
            <a:endParaRPr lang="en-US" sz="920" dirty="0"/>
          </a:p>
        </p:txBody>
      </p:sp>
      <p:sp>
        <p:nvSpPr>
          <p:cNvPr id="52" name="Text 50"/>
          <p:cNvSpPr/>
          <p:nvPr/>
        </p:nvSpPr>
        <p:spPr>
          <a:xfrm>
            <a:off x="6565392" y="5294556"/>
            <a:ext cx="19751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85000" lnSpcReduction="20000"/>
          </a:bodyPr>
          <a:lstStyle/>
          <a:p>
            <a:pPr marL="0" indent="0">
              <a:buNone/>
            </a:pPr>
            <a:r>
              <a:rPr lang="en-US" sz="860" dirty="0">
                <a:solidFill>
                  <a:srgbClr val="5D6A62"/>
                </a:solidFill>
              </a:rPr>
              <a:t>Introduce una ricerca locale interpretabile, senza aumentare troppo i tempi.</a:t>
            </a:r>
            <a:endParaRPr lang="en-US" sz="860" dirty="0"/>
          </a:p>
        </p:txBody>
      </p:sp>
      <p:sp>
        <p:nvSpPr>
          <p:cNvPr id="53" name="Shape 51"/>
          <p:cNvSpPr/>
          <p:nvPr/>
        </p:nvSpPr>
        <p:spPr>
          <a:xfrm>
            <a:off x="8741664" y="5075100"/>
            <a:ext cx="2176272" cy="512064"/>
          </a:xfrm>
          <a:prstGeom prst="roundRect">
            <a:avLst>
              <a:gd name="adj" fmla="val 7143"/>
            </a:avLst>
          </a:prstGeom>
          <a:solidFill>
            <a:srgbClr val="E9F5EE"/>
          </a:solidFill>
          <a:ln w="12700">
            <a:solidFill>
              <a:srgbClr val="BBD8C4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54" name="Text 52"/>
          <p:cNvSpPr/>
          <p:nvPr/>
        </p:nvSpPr>
        <p:spPr>
          <a:xfrm>
            <a:off x="8833104" y="5148252"/>
            <a:ext cx="199339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20" b="1" dirty="0">
                <a:solidFill>
                  <a:srgbClr val="007D34"/>
                </a:solidFill>
              </a:rPr>
              <a:t>LIMITE</a:t>
            </a:r>
            <a:endParaRPr lang="en-US" sz="920" dirty="0"/>
          </a:p>
        </p:txBody>
      </p:sp>
      <p:sp>
        <p:nvSpPr>
          <p:cNvPr id="55" name="Text 53"/>
          <p:cNvSpPr/>
          <p:nvPr/>
        </p:nvSpPr>
        <p:spPr>
          <a:xfrm>
            <a:off x="8833104" y="5294556"/>
            <a:ext cx="19933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85000" lnSpcReduction="20000"/>
          </a:bodyPr>
          <a:lstStyle/>
          <a:p>
            <a:pPr marL="0" indent="0">
              <a:buNone/>
            </a:pPr>
            <a:r>
              <a:rPr lang="en-US" sz="860" dirty="0">
                <a:solidFill>
                  <a:srgbClr val="5D6A62"/>
                </a:solidFill>
              </a:rPr>
              <a:t>Il vicinato è molto piccolo: da solo non basta, infatti nel benchmark non migliora la partenza.</a:t>
            </a:r>
            <a:endParaRPr lang="en-US" sz="860" dirty="0"/>
          </a:p>
        </p:txBody>
      </p:sp>
      <p:sp>
        <p:nvSpPr>
          <p:cNvPr id="56" name="Shape 54"/>
          <p:cNvSpPr/>
          <p:nvPr/>
        </p:nvSpPr>
        <p:spPr>
          <a:xfrm>
            <a:off x="658368" y="5798670"/>
            <a:ext cx="10872216" cy="676656"/>
          </a:xfrm>
          <a:prstGeom prst="roundRect">
            <a:avLst>
              <a:gd name="adj" fmla="val 8108"/>
            </a:avLst>
          </a:prstGeom>
          <a:solidFill>
            <a:srgbClr val="F5F6F4"/>
          </a:solidFill>
          <a:ln w="12700">
            <a:solidFill>
              <a:srgbClr val="E3E3E3">
                <a:alpha val="8500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57" name="Text 55"/>
          <p:cNvSpPr/>
          <p:nvPr/>
        </p:nvSpPr>
        <p:spPr>
          <a:xfrm>
            <a:off x="896112" y="5944974"/>
            <a:ext cx="15544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F1F1F"/>
                </a:solidFill>
              </a:rPr>
              <a:t>Cosa osserviamo</a:t>
            </a:r>
            <a:endParaRPr lang="en-US" sz="1200" dirty="0"/>
          </a:p>
        </p:txBody>
      </p:sp>
      <p:sp>
        <p:nvSpPr>
          <p:cNvPr id="58" name="Text 56"/>
          <p:cNvSpPr/>
          <p:nvPr/>
        </p:nvSpPr>
        <p:spPr>
          <a:xfrm>
            <a:off x="2697480" y="5880966"/>
            <a:ext cx="1463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07D34"/>
                </a:solidFill>
              </a:rPr>
              <a:t>80/90</a:t>
            </a:r>
            <a:endParaRPr lang="en-US" sz="1800" dirty="0"/>
          </a:p>
        </p:txBody>
      </p:sp>
      <p:sp>
        <p:nvSpPr>
          <p:cNvPr id="59" name="Text 57"/>
          <p:cNvSpPr/>
          <p:nvPr/>
        </p:nvSpPr>
        <p:spPr>
          <a:xfrm>
            <a:off x="2715768" y="6173574"/>
            <a:ext cx="14264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880" dirty="0">
                <a:solidFill>
                  <a:srgbClr val="5D6A62"/>
                </a:solidFill>
              </a:rPr>
              <a:t>istanze rese ammissibili dalla Greedy</a:t>
            </a:r>
            <a:endParaRPr lang="en-US" sz="880" dirty="0"/>
          </a:p>
        </p:txBody>
      </p:sp>
      <p:sp>
        <p:nvSpPr>
          <p:cNvPr id="60" name="Text 58"/>
          <p:cNvSpPr/>
          <p:nvPr/>
        </p:nvSpPr>
        <p:spPr>
          <a:xfrm>
            <a:off x="4480560" y="5880966"/>
            <a:ext cx="1417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07D34"/>
                </a:solidFill>
              </a:rPr>
              <a:t>75/89</a:t>
            </a:r>
            <a:endParaRPr lang="en-US" sz="1800" dirty="0"/>
          </a:p>
        </p:txBody>
      </p:sp>
      <p:sp>
        <p:nvSpPr>
          <p:cNvPr id="61" name="Text 59"/>
          <p:cNvSpPr/>
          <p:nvPr/>
        </p:nvSpPr>
        <p:spPr>
          <a:xfrm>
            <a:off x="4498848" y="6173574"/>
            <a:ext cx="13807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80" dirty="0">
                <a:solidFill>
                  <a:srgbClr val="5D6A62"/>
                </a:solidFill>
              </a:rPr>
              <a:t>ottime sugli ottimi noti</a:t>
            </a:r>
            <a:endParaRPr lang="en-US" sz="880" dirty="0"/>
          </a:p>
        </p:txBody>
      </p:sp>
      <p:sp>
        <p:nvSpPr>
          <p:cNvPr id="62" name="Text 60"/>
          <p:cNvSpPr/>
          <p:nvPr/>
        </p:nvSpPr>
        <p:spPr>
          <a:xfrm>
            <a:off x="6236208" y="5880966"/>
            <a:ext cx="1234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b="1" dirty="0">
                <a:solidFill>
                  <a:srgbClr val="007D34"/>
                </a:solidFill>
              </a:rPr>
              <a:t>0/80</a:t>
            </a:r>
            <a:endParaRPr lang="en-US" dirty="0"/>
          </a:p>
        </p:txBody>
      </p:sp>
      <p:sp>
        <p:nvSpPr>
          <p:cNvPr id="63" name="Text 61"/>
          <p:cNvSpPr/>
          <p:nvPr/>
        </p:nvSpPr>
        <p:spPr>
          <a:xfrm>
            <a:off x="6254496" y="6173574"/>
            <a:ext cx="11978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880" dirty="0">
                <a:solidFill>
                  <a:srgbClr val="5D6A62"/>
                </a:solidFill>
              </a:rPr>
              <a:t>miglioramenti del 1-swap isolato</a:t>
            </a:r>
            <a:endParaRPr lang="en-US" sz="880" dirty="0"/>
          </a:p>
        </p:txBody>
      </p:sp>
      <p:sp>
        <p:nvSpPr>
          <p:cNvPr id="64" name="Text 62"/>
          <p:cNvSpPr/>
          <p:nvPr/>
        </p:nvSpPr>
        <p:spPr>
          <a:xfrm>
            <a:off x="7818120" y="5880966"/>
            <a:ext cx="1325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07D34"/>
                </a:solidFill>
              </a:rPr>
              <a:t>0,251s</a:t>
            </a:r>
            <a:endParaRPr lang="en-US" sz="1800" dirty="0"/>
          </a:p>
        </p:txBody>
      </p:sp>
      <p:sp>
        <p:nvSpPr>
          <p:cNvPr id="65" name="Text 63"/>
          <p:cNvSpPr/>
          <p:nvPr/>
        </p:nvSpPr>
        <p:spPr>
          <a:xfrm>
            <a:off x="7836408" y="6173574"/>
            <a:ext cx="12893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80" dirty="0">
                <a:solidFill>
                  <a:srgbClr val="5D6A62"/>
                </a:solidFill>
              </a:rPr>
              <a:t>runtime medio Greedy</a:t>
            </a:r>
            <a:endParaRPr lang="en-US" sz="880" dirty="0"/>
          </a:p>
        </p:txBody>
      </p:sp>
      <p:sp>
        <p:nvSpPr>
          <p:cNvPr id="66" name="Text 64"/>
          <p:cNvSpPr/>
          <p:nvPr/>
        </p:nvSpPr>
        <p:spPr>
          <a:xfrm>
            <a:off x="9445752" y="5880966"/>
            <a:ext cx="1325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07D34"/>
                </a:solidFill>
              </a:rPr>
              <a:t>0,652s</a:t>
            </a:r>
            <a:endParaRPr lang="en-US" sz="1800" dirty="0"/>
          </a:p>
        </p:txBody>
      </p:sp>
      <p:sp>
        <p:nvSpPr>
          <p:cNvPr id="67" name="Text 65"/>
          <p:cNvSpPr/>
          <p:nvPr/>
        </p:nvSpPr>
        <p:spPr>
          <a:xfrm>
            <a:off x="9464040" y="6173574"/>
            <a:ext cx="12893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880" dirty="0">
                <a:solidFill>
                  <a:srgbClr val="5D6A62"/>
                </a:solidFill>
              </a:rPr>
              <a:t>runtime medio Greedy +</a:t>
            </a:r>
          </a:p>
          <a:p>
            <a:pPr marL="0" indent="0" algn="ctr">
              <a:buNone/>
            </a:pPr>
            <a:r>
              <a:rPr lang="en-US" sz="880" dirty="0">
                <a:solidFill>
                  <a:srgbClr val="5D6A62"/>
                </a:solidFill>
              </a:rPr>
              <a:t> 1-swap</a:t>
            </a:r>
            <a:endParaRPr lang="en-US" sz="880" dirty="0"/>
          </a:p>
        </p:txBody>
      </p:sp>
      <p:sp>
        <p:nvSpPr>
          <p:cNvPr id="69" name="Text 67"/>
          <p:cNvSpPr/>
          <p:nvPr/>
        </p:nvSpPr>
        <p:spPr>
          <a:xfrm>
            <a:off x="7909560" y="6547104"/>
            <a:ext cx="34290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80" dirty="0">
                <a:solidFill>
                  <a:srgbClr val="7F7F7F"/>
                </a:solidFill>
              </a:rPr>
              <a:t>AMOD · CMMOFLP Nuclear Siting</a:t>
            </a:r>
            <a:endParaRPr lang="en-US" sz="780" dirty="0"/>
          </a:p>
        </p:txBody>
      </p:sp>
      <p:sp>
        <p:nvSpPr>
          <p:cNvPr id="70" name="Text 68"/>
          <p:cNvSpPr/>
          <p:nvPr/>
        </p:nvSpPr>
        <p:spPr>
          <a:xfrm>
            <a:off x="11686032" y="6537960"/>
            <a:ext cx="12801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7F7F7F"/>
                </a:solidFill>
              </a:rPr>
              <a:t>6</a:t>
            </a:r>
            <a:endParaRPr lang="en-US" sz="800" dirty="0"/>
          </a:p>
        </p:txBody>
      </p:sp>
    </p:spTree>
    <p:extLst>
      <p:ext uri="{BB962C8B-B14F-4D97-AF65-F5344CB8AC3E}">
        <p14:creationId xmlns:p14="http://schemas.microsoft.com/office/powerpoint/2010/main" val="297283324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1408176"/>
            <a:ext cx="7589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3100" b="1" dirty="0">
                <a:solidFill>
                  <a:srgbClr val="007D34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GRASP-VND: l’euristica principale</a:t>
            </a:r>
            <a:endParaRPr lang="en-US" sz="3100" dirty="0"/>
          </a:p>
        </p:txBody>
      </p:sp>
      <p:sp>
        <p:nvSpPr>
          <p:cNvPr id="3" name="Text 1"/>
          <p:cNvSpPr/>
          <p:nvPr/>
        </p:nvSpPr>
        <p:spPr>
          <a:xfrm>
            <a:off x="685800" y="1815692"/>
            <a:ext cx="960120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80" dirty="0">
                <a:solidFill>
                  <a:srgbClr val="7F7F7F"/>
                </a:solidFill>
              </a:rPr>
              <a:t>Combina esplorazione randomizzata e ricerca locale: molte partenze diverse, poi miglioramento sistematico con vicinati mirati.</a:t>
            </a:r>
            <a:endParaRPr lang="en-US" sz="1280" dirty="0"/>
          </a:p>
        </p:txBody>
      </p:sp>
      <p:sp>
        <p:nvSpPr>
          <p:cNvPr id="4" name="Shape 2"/>
          <p:cNvSpPr/>
          <p:nvPr/>
        </p:nvSpPr>
        <p:spPr>
          <a:xfrm>
            <a:off x="9802368" y="1307592"/>
            <a:ext cx="1719072" cy="301752"/>
          </a:xfrm>
          <a:prstGeom prst="roundRect">
            <a:avLst>
              <a:gd name="adj" fmla="val 18182"/>
            </a:avLst>
          </a:prstGeom>
          <a:solidFill>
            <a:srgbClr val="E9F5EE"/>
          </a:solidFill>
          <a:ln w="12700">
            <a:solidFill>
              <a:srgbClr val="E9F5EE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5" name="Text 3"/>
          <p:cNvSpPr/>
          <p:nvPr/>
        </p:nvSpPr>
        <p:spPr>
          <a:xfrm>
            <a:off x="9872587" y="1407479"/>
            <a:ext cx="1572768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20" b="1" dirty="0">
                <a:solidFill>
                  <a:srgbClr val="007D34"/>
                </a:solidFill>
              </a:rPr>
              <a:t>METODO PRINCIPALE</a:t>
            </a:r>
            <a:endParaRPr lang="en-US" sz="920" dirty="0"/>
          </a:p>
        </p:txBody>
      </p:sp>
      <p:sp>
        <p:nvSpPr>
          <p:cNvPr id="6" name="Shape 4"/>
          <p:cNvSpPr/>
          <p:nvPr/>
        </p:nvSpPr>
        <p:spPr>
          <a:xfrm>
            <a:off x="2350008" y="2944030"/>
            <a:ext cx="201168" cy="0"/>
          </a:xfrm>
          <a:prstGeom prst="line">
            <a:avLst/>
          </a:prstGeom>
          <a:noFill/>
          <a:ln w="16510">
            <a:solidFill>
              <a:srgbClr val="007D34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it-IT"/>
          </a:p>
        </p:txBody>
      </p:sp>
      <p:sp>
        <p:nvSpPr>
          <p:cNvPr id="7" name="Shape 5"/>
          <p:cNvSpPr/>
          <p:nvPr/>
        </p:nvSpPr>
        <p:spPr>
          <a:xfrm>
            <a:off x="4160520" y="2944030"/>
            <a:ext cx="201168" cy="0"/>
          </a:xfrm>
          <a:prstGeom prst="line">
            <a:avLst/>
          </a:prstGeom>
          <a:noFill/>
          <a:ln w="16510">
            <a:solidFill>
              <a:srgbClr val="007D34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it-IT"/>
          </a:p>
        </p:txBody>
      </p:sp>
      <p:sp>
        <p:nvSpPr>
          <p:cNvPr id="8" name="Shape 6"/>
          <p:cNvSpPr/>
          <p:nvPr/>
        </p:nvSpPr>
        <p:spPr>
          <a:xfrm>
            <a:off x="5971032" y="2944030"/>
            <a:ext cx="201168" cy="0"/>
          </a:xfrm>
          <a:prstGeom prst="line">
            <a:avLst/>
          </a:prstGeom>
          <a:noFill/>
          <a:ln w="16510">
            <a:solidFill>
              <a:srgbClr val="007D34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it-IT"/>
          </a:p>
        </p:txBody>
      </p:sp>
      <p:sp>
        <p:nvSpPr>
          <p:cNvPr id="9" name="Shape 7"/>
          <p:cNvSpPr/>
          <p:nvPr/>
        </p:nvSpPr>
        <p:spPr>
          <a:xfrm>
            <a:off x="7781544" y="2944030"/>
            <a:ext cx="201168" cy="0"/>
          </a:xfrm>
          <a:prstGeom prst="line">
            <a:avLst/>
          </a:prstGeom>
          <a:noFill/>
          <a:ln w="16510">
            <a:solidFill>
              <a:srgbClr val="007D34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it-IT"/>
          </a:p>
        </p:txBody>
      </p:sp>
      <p:sp>
        <p:nvSpPr>
          <p:cNvPr id="10" name="Shape 8"/>
          <p:cNvSpPr/>
          <p:nvPr/>
        </p:nvSpPr>
        <p:spPr>
          <a:xfrm>
            <a:off x="9592056" y="2944030"/>
            <a:ext cx="201168" cy="0"/>
          </a:xfrm>
          <a:prstGeom prst="line">
            <a:avLst/>
          </a:prstGeom>
          <a:noFill/>
          <a:ln w="16510">
            <a:solidFill>
              <a:srgbClr val="007D34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it-IT"/>
          </a:p>
        </p:txBody>
      </p:sp>
      <p:sp>
        <p:nvSpPr>
          <p:cNvPr id="11" name="Shape 9"/>
          <p:cNvSpPr/>
          <p:nvPr/>
        </p:nvSpPr>
        <p:spPr>
          <a:xfrm>
            <a:off x="749808" y="2614846"/>
            <a:ext cx="1572768" cy="658368"/>
          </a:xfrm>
          <a:prstGeom prst="roundRect">
            <a:avLst>
              <a:gd name="adj" fmla="val 9722"/>
            </a:avLst>
          </a:prstGeom>
          <a:solidFill>
            <a:srgbClr val="E9F5EE"/>
          </a:solidFill>
          <a:ln w="13970">
            <a:solidFill>
              <a:srgbClr val="BBD8C4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2" name="Text 10"/>
          <p:cNvSpPr/>
          <p:nvPr/>
        </p:nvSpPr>
        <p:spPr>
          <a:xfrm>
            <a:off x="841248" y="2715430"/>
            <a:ext cx="13898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60" b="1" dirty="0">
                <a:solidFill>
                  <a:srgbClr val="007D34"/>
                </a:solidFill>
              </a:rPr>
              <a:t>Multi-start</a:t>
            </a:r>
            <a:endParaRPr lang="en-US" sz="1060" dirty="0"/>
          </a:p>
        </p:txBody>
      </p:sp>
      <p:sp>
        <p:nvSpPr>
          <p:cNvPr id="13" name="Shape 11"/>
          <p:cNvSpPr/>
          <p:nvPr/>
        </p:nvSpPr>
        <p:spPr>
          <a:xfrm>
            <a:off x="2560320" y="2614846"/>
            <a:ext cx="1572768" cy="658368"/>
          </a:xfrm>
          <a:prstGeom prst="roundRect">
            <a:avLst>
              <a:gd name="adj" fmla="val 9722"/>
            </a:avLst>
          </a:prstGeom>
          <a:solidFill>
            <a:srgbClr val="FFFFFF"/>
          </a:solidFill>
          <a:ln w="13970">
            <a:solidFill>
              <a:srgbClr val="BBD8C4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4" name="Text 12"/>
          <p:cNvSpPr/>
          <p:nvPr/>
        </p:nvSpPr>
        <p:spPr>
          <a:xfrm>
            <a:off x="2651760" y="2715430"/>
            <a:ext cx="13898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60" b="1" dirty="0">
                <a:solidFill>
                  <a:srgbClr val="1F1F1F"/>
                </a:solidFill>
              </a:rPr>
              <a:t>RCL randomizzata</a:t>
            </a:r>
            <a:endParaRPr lang="en-US" sz="1060" dirty="0"/>
          </a:p>
        </p:txBody>
      </p:sp>
      <p:sp>
        <p:nvSpPr>
          <p:cNvPr id="15" name="Shape 13"/>
          <p:cNvSpPr/>
          <p:nvPr/>
        </p:nvSpPr>
        <p:spPr>
          <a:xfrm>
            <a:off x="4370832" y="2614846"/>
            <a:ext cx="1572768" cy="658368"/>
          </a:xfrm>
          <a:prstGeom prst="roundRect">
            <a:avLst>
              <a:gd name="adj" fmla="val 9722"/>
            </a:avLst>
          </a:prstGeom>
          <a:solidFill>
            <a:srgbClr val="FFFFFF"/>
          </a:solidFill>
          <a:ln w="13970">
            <a:solidFill>
              <a:srgbClr val="BBD8C4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6" name="Text 14"/>
          <p:cNvSpPr/>
          <p:nvPr/>
        </p:nvSpPr>
        <p:spPr>
          <a:xfrm>
            <a:off x="4462272" y="2715430"/>
            <a:ext cx="13898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60" b="1" dirty="0">
                <a:solidFill>
                  <a:srgbClr val="1F1F1F"/>
                </a:solidFill>
              </a:rPr>
              <a:t>Best-fit + repair</a:t>
            </a:r>
            <a:endParaRPr lang="en-US" sz="1060" dirty="0"/>
          </a:p>
        </p:txBody>
      </p:sp>
      <p:sp>
        <p:nvSpPr>
          <p:cNvPr id="17" name="Shape 15"/>
          <p:cNvSpPr/>
          <p:nvPr/>
        </p:nvSpPr>
        <p:spPr>
          <a:xfrm>
            <a:off x="6181344" y="2614846"/>
            <a:ext cx="1572768" cy="658368"/>
          </a:xfrm>
          <a:prstGeom prst="roundRect">
            <a:avLst>
              <a:gd name="adj" fmla="val 9722"/>
            </a:avLst>
          </a:prstGeom>
          <a:solidFill>
            <a:srgbClr val="FFFFFF"/>
          </a:solidFill>
          <a:ln w="13970">
            <a:solidFill>
              <a:srgbClr val="BBD8C4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8" name="Text 16"/>
          <p:cNvSpPr/>
          <p:nvPr/>
        </p:nvSpPr>
        <p:spPr>
          <a:xfrm>
            <a:off x="6272784" y="2715430"/>
            <a:ext cx="13898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60" b="1" dirty="0" err="1">
                <a:solidFill>
                  <a:srgbClr val="1F1F1F"/>
                </a:solidFill>
              </a:rPr>
              <a:t>Verifica</a:t>
            </a:r>
            <a:r>
              <a:rPr lang="en-US" sz="1060" b="1" dirty="0">
                <a:solidFill>
                  <a:srgbClr val="1F1F1F"/>
                </a:solidFill>
              </a:rPr>
              <a:t> di </a:t>
            </a:r>
            <a:r>
              <a:rPr lang="en-US" sz="1060" b="1" dirty="0" err="1">
                <a:solidFill>
                  <a:srgbClr val="1F1F1F"/>
                </a:solidFill>
              </a:rPr>
              <a:t>fattibilità</a:t>
            </a:r>
            <a:endParaRPr lang="en-US" sz="1060" dirty="0"/>
          </a:p>
        </p:txBody>
      </p:sp>
      <p:sp>
        <p:nvSpPr>
          <p:cNvPr id="19" name="Shape 17"/>
          <p:cNvSpPr/>
          <p:nvPr/>
        </p:nvSpPr>
        <p:spPr>
          <a:xfrm>
            <a:off x="7991856" y="2614846"/>
            <a:ext cx="1572768" cy="658368"/>
          </a:xfrm>
          <a:prstGeom prst="roundRect">
            <a:avLst>
              <a:gd name="adj" fmla="val 9722"/>
            </a:avLst>
          </a:prstGeom>
          <a:solidFill>
            <a:srgbClr val="FFFFFF"/>
          </a:solidFill>
          <a:ln w="13970">
            <a:solidFill>
              <a:srgbClr val="BBD8C4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0" name="Text 18"/>
          <p:cNvSpPr/>
          <p:nvPr/>
        </p:nvSpPr>
        <p:spPr>
          <a:xfrm>
            <a:off x="8083296" y="2715430"/>
            <a:ext cx="13898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60" b="1" dirty="0">
                <a:solidFill>
                  <a:srgbClr val="1F1F1F"/>
                </a:solidFill>
              </a:rPr>
              <a:t>VND 1-swap / 2-swap</a:t>
            </a:r>
            <a:endParaRPr lang="en-US" sz="1060" dirty="0"/>
          </a:p>
        </p:txBody>
      </p:sp>
      <p:sp>
        <p:nvSpPr>
          <p:cNvPr id="21" name="Shape 19"/>
          <p:cNvSpPr/>
          <p:nvPr/>
        </p:nvSpPr>
        <p:spPr>
          <a:xfrm>
            <a:off x="9802368" y="2614846"/>
            <a:ext cx="1572768" cy="658368"/>
          </a:xfrm>
          <a:prstGeom prst="roundRect">
            <a:avLst>
              <a:gd name="adj" fmla="val 9722"/>
            </a:avLst>
          </a:prstGeom>
          <a:solidFill>
            <a:srgbClr val="E9F5EE"/>
          </a:solidFill>
          <a:ln w="13970">
            <a:solidFill>
              <a:srgbClr val="BBD8C4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2" name="Text 20"/>
          <p:cNvSpPr/>
          <p:nvPr/>
        </p:nvSpPr>
        <p:spPr>
          <a:xfrm>
            <a:off x="9893808" y="2715430"/>
            <a:ext cx="13898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60" b="1" dirty="0">
                <a:solidFill>
                  <a:srgbClr val="007D34"/>
                </a:solidFill>
              </a:rPr>
              <a:t>Best globale</a:t>
            </a:r>
            <a:endParaRPr lang="en-US" sz="1060" dirty="0"/>
          </a:p>
        </p:txBody>
      </p:sp>
      <p:sp>
        <p:nvSpPr>
          <p:cNvPr id="23" name="Shape 21"/>
          <p:cNvSpPr/>
          <p:nvPr/>
        </p:nvSpPr>
        <p:spPr>
          <a:xfrm>
            <a:off x="658368" y="3584110"/>
            <a:ext cx="5266944" cy="1517904"/>
          </a:xfrm>
          <a:prstGeom prst="roundRect">
            <a:avLst>
              <a:gd name="adj" fmla="val 4819"/>
            </a:avLst>
          </a:prstGeom>
          <a:solidFill>
            <a:srgbClr val="F6FBF8"/>
          </a:solidFill>
          <a:ln w="12700">
            <a:solidFill>
              <a:srgbClr val="BBD8C4">
                <a:alpha val="9000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4" name="Shape 22"/>
          <p:cNvSpPr/>
          <p:nvPr/>
        </p:nvSpPr>
        <p:spPr>
          <a:xfrm>
            <a:off x="6272784" y="3584110"/>
            <a:ext cx="5257800" cy="1517904"/>
          </a:xfrm>
          <a:prstGeom prst="roundRect">
            <a:avLst>
              <a:gd name="adj" fmla="val 4819"/>
            </a:avLst>
          </a:prstGeom>
          <a:solidFill>
            <a:srgbClr val="FFFFFF"/>
          </a:solidFill>
          <a:ln w="12700">
            <a:solidFill>
              <a:srgbClr val="BBD8C4">
                <a:alpha val="9000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5" name="Shape 23"/>
          <p:cNvSpPr/>
          <p:nvPr/>
        </p:nvSpPr>
        <p:spPr>
          <a:xfrm>
            <a:off x="877824" y="3785278"/>
            <a:ext cx="1783080" cy="301752"/>
          </a:xfrm>
          <a:prstGeom prst="roundRect">
            <a:avLst>
              <a:gd name="adj" fmla="val 18182"/>
            </a:avLst>
          </a:prstGeom>
          <a:solidFill>
            <a:srgbClr val="E9F5EE"/>
          </a:solidFill>
          <a:ln w="12700">
            <a:solidFill>
              <a:srgbClr val="E9F5EE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6" name="Text 24"/>
          <p:cNvSpPr/>
          <p:nvPr/>
        </p:nvSpPr>
        <p:spPr>
          <a:xfrm>
            <a:off x="950976" y="3849286"/>
            <a:ext cx="1636776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20" b="1" dirty="0">
                <a:solidFill>
                  <a:srgbClr val="007D34"/>
                </a:solidFill>
              </a:rPr>
              <a:t>FASE 1 — COSTRUZIONE</a:t>
            </a:r>
            <a:endParaRPr lang="en-US" sz="920" dirty="0"/>
          </a:p>
        </p:txBody>
      </p:sp>
      <p:sp>
        <p:nvSpPr>
          <p:cNvPr id="27" name="Shape 25"/>
          <p:cNvSpPr/>
          <p:nvPr/>
        </p:nvSpPr>
        <p:spPr>
          <a:xfrm>
            <a:off x="6492240" y="3785278"/>
            <a:ext cx="1325880" cy="301752"/>
          </a:xfrm>
          <a:prstGeom prst="roundRect">
            <a:avLst>
              <a:gd name="adj" fmla="val 18182"/>
            </a:avLst>
          </a:prstGeom>
          <a:solidFill>
            <a:srgbClr val="E9F5EE"/>
          </a:solidFill>
          <a:ln w="12700">
            <a:solidFill>
              <a:srgbClr val="E9F5EE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8" name="Text 26"/>
          <p:cNvSpPr/>
          <p:nvPr/>
        </p:nvSpPr>
        <p:spPr>
          <a:xfrm>
            <a:off x="6565392" y="3849286"/>
            <a:ext cx="1179576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20" b="1" dirty="0">
                <a:solidFill>
                  <a:srgbClr val="007D34"/>
                </a:solidFill>
              </a:rPr>
              <a:t>FASE 2 — VND</a:t>
            </a:r>
            <a:endParaRPr lang="en-US" sz="920" dirty="0"/>
          </a:p>
        </p:txBody>
      </p:sp>
      <p:sp>
        <p:nvSpPr>
          <p:cNvPr id="29" name="Text 27"/>
          <p:cNvSpPr/>
          <p:nvPr/>
        </p:nvSpPr>
        <p:spPr>
          <a:xfrm>
            <a:off x="877824" y="4187614"/>
            <a:ext cx="3520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1F1F"/>
                </a:solidFill>
              </a:rPr>
              <a:t>Costruzione randomizzata controllata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877824" y="4461934"/>
            <a:ext cx="459943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it-IT" sz="950" dirty="0">
                <a:solidFill>
                  <a:srgbClr val="5D6A62"/>
                </a:solidFill>
              </a:rPr>
              <a:t>A ogni passo valuta i candidati con uno score che combina sicurezza e capacità, costruisce una Restricted Candidate List e seleziona casualmente un sito</a:t>
            </a:r>
            <a:r>
              <a:rPr lang="en-US" sz="950" dirty="0">
                <a:solidFill>
                  <a:srgbClr val="5D6A62"/>
                </a:solidFill>
              </a:rPr>
              <a:t>. Alpha = 0,30 </a:t>
            </a:r>
            <a:r>
              <a:rPr lang="it-IT" sz="950" dirty="0">
                <a:solidFill>
                  <a:srgbClr val="5D6A62"/>
                </a:solidFill>
              </a:rPr>
              <a:t>controlla il grado di randomizzazione.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6492240" y="4187614"/>
            <a:ext cx="2788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 err="1">
                <a:solidFill>
                  <a:srgbClr val="1F1F1F"/>
                </a:solidFill>
              </a:rPr>
              <a:t>Miglioramento</a:t>
            </a:r>
            <a:r>
              <a:rPr lang="en-US" sz="1300" b="1" dirty="0">
                <a:solidFill>
                  <a:srgbClr val="1F1F1F"/>
                </a:solidFill>
              </a:rPr>
              <a:t> su vicinati mirati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6492240" y="4461934"/>
            <a:ext cx="4572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5D6A62"/>
                </a:solidFill>
              </a:rPr>
              <a:t>Prima prova scambi 1-swap mirati, poi 2-swap sui siti critici che determinano il minimo. </a:t>
            </a:r>
            <a:r>
              <a:rPr lang="it-IT" sz="950" dirty="0">
                <a:solidFill>
                  <a:srgbClr val="5D6A62"/>
                </a:solidFill>
              </a:rPr>
              <a:t>Quando trova un miglioramento, riparte dal primo vicinato.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658368" y="5284894"/>
            <a:ext cx="3364992" cy="805010"/>
          </a:xfrm>
          <a:prstGeom prst="roundRect">
            <a:avLst>
              <a:gd name="adj" fmla="val 6944"/>
            </a:avLst>
          </a:prstGeom>
          <a:solidFill>
            <a:srgbClr val="FFFFFF"/>
          </a:solidFill>
          <a:ln w="10160">
            <a:solidFill>
              <a:srgbClr val="DFE8E2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4" name="Text 32"/>
          <p:cNvSpPr/>
          <p:nvPr/>
        </p:nvSpPr>
        <p:spPr>
          <a:xfrm>
            <a:off x="768096" y="5340096"/>
            <a:ext cx="316382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>
              <a:buNone/>
            </a:pPr>
            <a:r>
              <a:rPr lang="en-US" sz="880" b="1" dirty="0">
                <a:solidFill>
                  <a:srgbClr val="007D34"/>
                </a:solidFill>
              </a:rPr>
              <a:t>Perché funziona meglio della baseline</a:t>
            </a:r>
            <a:endParaRPr lang="en-US" sz="880" dirty="0"/>
          </a:p>
        </p:txBody>
      </p:sp>
      <p:sp>
        <p:nvSpPr>
          <p:cNvPr id="35" name="Text 33"/>
          <p:cNvSpPr/>
          <p:nvPr/>
        </p:nvSpPr>
        <p:spPr>
          <a:xfrm>
            <a:off x="768096" y="5513832"/>
            <a:ext cx="316382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70" dirty="0">
                <a:solidFill>
                  <a:srgbClr val="5D6A62"/>
                </a:solidFill>
              </a:rPr>
              <a:t>Non dipende da una sola costruzione: prova molte soluzioni iniziali e usa la VND per uscire da scelte greedy troppo locali.</a:t>
            </a:r>
            <a:endParaRPr lang="en-US" sz="870" dirty="0"/>
          </a:p>
        </p:txBody>
      </p:sp>
      <p:sp>
        <p:nvSpPr>
          <p:cNvPr id="36" name="Shape 34"/>
          <p:cNvSpPr/>
          <p:nvPr/>
        </p:nvSpPr>
        <p:spPr>
          <a:xfrm>
            <a:off x="4178808" y="5284894"/>
            <a:ext cx="3200400" cy="805010"/>
          </a:xfrm>
          <a:prstGeom prst="roundRect">
            <a:avLst>
              <a:gd name="adj" fmla="val 6944"/>
            </a:avLst>
          </a:prstGeom>
          <a:solidFill>
            <a:srgbClr val="FFFFFF"/>
          </a:solidFill>
          <a:ln w="10160">
            <a:solidFill>
              <a:srgbClr val="DFE8E2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7" name="Text 35"/>
          <p:cNvSpPr/>
          <p:nvPr/>
        </p:nvSpPr>
        <p:spPr>
          <a:xfrm>
            <a:off x="4279392" y="5341306"/>
            <a:ext cx="299923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>
              <a:buNone/>
            </a:pPr>
            <a:r>
              <a:rPr lang="en-US" sz="880" b="1" dirty="0">
                <a:solidFill>
                  <a:srgbClr val="007D34"/>
                </a:solidFill>
              </a:rPr>
              <a:t>Upper bound semplice</a:t>
            </a:r>
            <a:endParaRPr lang="en-US" sz="880" dirty="0"/>
          </a:p>
        </p:txBody>
      </p:sp>
      <p:sp>
        <p:nvSpPr>
          <p:cNvPr id="38" name="Text 36"/>
          <p:cNvSpPr/>
          <p:nvPr/>
        </p:nvSpPr>
        <p:spPr>
          <a:xfrm>
            <a:off x="4279392" y="5449824"/>
            <a:ext cx="29992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it-IT" sz="870" dirty="0">
                <a:solidFill>
                  <a:srgbClr val="5D6A62"/>
                </a:solidFill>
              </a:rPr>
              <a:t>Ordinando r(1) ​≥ r(2) ​ ≥ …, il valore r(p)	​ è un upper </a:t>
            </a:r>
            <a:r>
              <a:rPr lang="it-IT" sz="870" dirty="0" err="1">
                <a:solidFill>
                  <a:srgbClr val="5D6A62"/>
                </a:solidFill>
              </a:rPr>
              <a:t>bound</a:t>
            </a:r>
            <a:r>
              <a:rPr lang="it-IT" sz="870" dirty="0">
                <a:solidFill>
                  <a:srgbClr val="5D6A62"/>
                </a:solidFill>
              </a:rPr>
              <a:t>: nessuna soluzione con p siti può superarlo.</a:t>
            </a:r>
            <a:r>
              <a:rPr lang="en-US" sz="870" dirty="0">
                <a:solidFill>
                  <a:srgbClr val="5D6A62"/>
                </a:solidFill>
              </a:rPr>
              <a:t>il bound ignora le capacità, quindi non è sempre raggiungibile.</a:t>
            </a:r>
            <a:endParaRPr lang="en-US" sz="870" dirty="0"/>
          </a:p>
        </p:txBody>
      </p:sp>
      <p:sp>
        <p:nvSpPr>
          <p:cNvPr id="39" name="Shape 37"/>
          <p:cNvSpPr/>
          <p:nvPr/>
        </p:nvSpPr>
        <p:spPr>
          <a:xfrm>
            <a:off x="7534656" y="5284894"/>
            <a:ext cx="3995928" cy="805010"/>
          </a:xfrm>
          <a:prstGeom prst="roundRect">
            <a:avLst>
              <a:gd name="adj" fmla="val 6944"/>
            </a:avLst>
          </a:prstGeom>
          <a:solidFill>
            <a:srgbClr val="FFFFFF"/>
          </a:solidFill>
          <a:ln w="10160">
            <a:solidFill>
              <a:srgbClr val="DFE8E2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40" name="Text 38"/>
          <p:cNvSpPr/>
          <p:nvPr/>
        </p:nvSpPr>
        <p:spPr>
          <a:xfrm>
            <a:off x="7629144" y="5340096"/>
            <a:ext cx="37947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>
              <a:buNone/>
            </a:pPr>
            <a:r>
              <a:rPr lang="en-US" sz="880" b="1" dirty="0">
                <a:solidFill>
                  <a:srgbClr val="007D34"/>
                </a:solidFill>
              </a:rPr>
              <a:t>Arresto intelligente</a:t>
            </a:r>
            <a:endParaRPr lang="en-US" sz="880" dirty="0"/>
          </a:p>
        </p:txBody>
      </p:sp>
      <p:sp>
        <p:nvSpPr>
          <p:cNvPr id="41" name="Text 39"/>
          <p:cNvSpPr/>
          <p:nvPr/>
        </p:nvSpPr>
        <p:spPr>
          <a:xfrm>
            <a:off x="7629144" y="5495544"/>
            <a:ext cx="3794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it-IT" sz="870" dirty="0">
                <a:solidFill>
                  <a:srgbClr val="5D6A62"/>
                </a:solidFill>
              </a:rPr>
              <a:t>Arresto al raggiungimento dell’upper </a:t>
            </a:r>
            <a:r>
              <a:rPr lang="it-IT" sz="870" dirty="0" err="1">
                <a:solidFill>
                  <a:srgbClr val="5D6A62"/>
                </a:solidFill>
              </a:rPr>
              <a:t>bound</a:t>
            </a:r>
            <a:r>
              <a:rPr lang="it-IT" sz="870" dirty="0">
                <a:solidFill>
                  <a:srgbClr val="5D6A62"/>
                </a:solidFill>
              </a:rPr>
              <a:t>, dopo stagnazione, al limite di tempo o al numero massimo di partenze.</a:t>
            </a:r>
            <a:br>
              <a:rPr lang="it-IT" sz="870" dirty="0">
                <a:solidFill>
                  <a:srgbClr val="5D6A62"/>
                </a:solidFill>
              </a:rPr>
            </a:br>
            <a:r>
              <a:rPr lang="it-IT" sz="870" dirty="0">
                <a:solidFill>
                  <a:srgbClr val="5D6A62"/>
                </a:solidFill>
              </a:rPr>
              <a:t>Benchmark: massimo 100 partenze, stagnazione dopo 20 partenze senza miglioramento, limite di 20 s.</a:t>
            </a:r>
            <a:endParaRPr lang="en-US" sz="870" dirty="0"/>
          </a:p>
        </p:txBody>
      </p:sp>
      <p:sp>
        <p:nvSpPr>
          <p:cNvPr id="42" name="Shape 40"/>
          <p:cNvSpPr/>
          <p:nvPr/>
        </p:nvSpPr>
        <p:spPr>
          <a:xfrm>
            <a:off x="658368" y="6199632"/>
            <a:ext cx="10872216" cy="310896"/>
          </a:xfrm>
          <a:prstGeom prst="roundRect">
            <a:avLst>
              <a:gd name="adj" fmla="val 11765"/>
            </a:avLst>
          </a:prstGeom>
          <a:solidFill>
            <a:srgbClr val="F5F6F4"/>
          </a:solidFill>
          <a:ln w="12700">
            <a:solidFill>
              <a:srgbClr val="E3E3E3">
                <a:alpha val="8000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43" name="Text 41"/>
          <p:cNvSpPr/>
          <p:nvPr/>
        </p:nvSpPr>
        <p:spPr>
          <a:xfrm>
            <a:off x="841248" y="6308150"/>
            <a:ext cx="86868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80" b="1" dirty="0">
                <a:solidFill>
                  <a:srgbClr val="007D34"/>
                </a:solidFill>
              </a:rPr>
              <a:t>Idea chiave</a:t>
            </a:r>
            <a:endParaRPr lang="en-US" sz="880" dirty="0"/>
          </a:p>
        </p:txBody>
      </p:sp>
      <p:sp>
        <p:nvSpPr>
          <p:cNvPr id="44" name="Text 42"/>
          <p:cNvSpPr/>
          <p:nvPr/>
        </p:nvSpPr>
        <p:spPr>
          <a:xfrm>
            <a:off x="1591056" y="6198422"/>
            <a:ext cx="9006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70" dirty="0">
                <a:solidFill>
                  <a:srgbClr val="1F1F1F"/>
                </a:solidFill>
              </a:rPr>
              <a:t>GRASP-VND aumenta robustezza e qualità: esplora più partenze, ripara gli assegnamenti, memorizza tentativi già valutati e concentra gli scambi sui siti più critici.</a:t>
            </a:r>
            <a:endParaRPr lang="en-US" sz="870" dirty="0"/>
          </a:p>
        </p:txBody>
      </p:sp>
      <p:sp>
        <p:nvSpPr>
          <p:cNvPr id="45" name="Text 43"/>
          <p:cNvSpPr/>
          <p:nvPr/>
        </p:nvSpPr>
        <p:spPr>
          <a:xfrm>
            <a:off x="8494776" y="2313094"/>
            <a:ext cx="115214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i="1" dirty="0">
                <a:solidFill>
                  <a:srgbClr val="007D34"/>
                </a:solidFill>
              </a:rPr>
              <a:t>z(S)=min rⱼ</a:t>
            </a:r>
            <a:br>
              <a:rPr lang="en-US" sz="1250" i="1" dirty="0">
                <a:solidFill>
                  <a:srgbClr val="007D34"/>
                </a:solidFill>
              </a:rPr>
            </a:br>
            <a:r>
              <a:rPr lang="en-US" sz="1250" i="1" dirty="0">
                <a:solidFill>
                  <a:srgbClr val="007D34"/>
                </a:solidFill>
              </a:rPr>
              <a:t>j ∈ S</a:t>
            </a:r>
          </a:p>
          <a:p>
            <a:pPr marL="0" indent="0" algn="ctr">
              <a:buNone/>
            </a:pPr>
            <a:endParaRPr lang="en-US" sz="1250" dirty="0"/>
          </a:p>
        </p:txBody>
      </p:sp>
      <p:sp>
        <p:nvSpPr>
          <p:cNvPr id="46" name="Text 44"/>
          <p:cNvSpPr/>
          <p:nvPr/>
        </p:nvSpPr>
        <p:spPr>
          <a:xfrm>
            <a:off x="9646920" y="2203366"/>
            <a:ext cx="1810512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80" dirty="0">
                <a:solidFill>
                  <a:srgbClr val="7F7F7F"/>
                </a:solidFill>
              </a:rPr>
              <a:t>rj = distanza minima sito-comunità</a:t>
            </a:r>
            <a:endParaRPr lang="en-US" sz="780" dirty="0"/>
          </a:p>
        </p:txBody>
      </p:sp>
      <p:sp>
        <p:nvSpPr>
          <p:cNvPr id="48" name="Text 46"/>
          <p:cNvSpPr/>
          <p:nvPr/>
        </p:nvSpPr>
        <p:spPr>
          <a:xfrm>
            <a:off x="7909560" y="6547104"/>
            <a:ext cx="34290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80" dirty="0">
                <a:solidFill>
                  <a:srgbClr val="7F7F7F"/>
                </a:solidFill>
              </a:rPr>
              <a:t>AMOD · CMMOFLP Nuclear Siting</a:t>
            </a:r>
            <a:endParaRPr lang="en-US" sz="780" dirty="0"/>
          </a:p>
        </p:txBody>
      </p:sp>
      <p:sp>
        <p:nvSpPr>
          <p:cNvPr id="49" name="Text 47"/>
          <p:cNvSpPr/>
          <p:nvPr/>
        </p:nvSpPr>
        <p:spPr>
          <a:xfrm>
            <a:off x="11686032" y="6537960"/>
            <a:ext cx="12801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7F7F7F"/>
                </a:solidFill>
              </a:rPr>
              <a:t>7</a:t>
            </a:r>
            <a:endParaRPr lang="en-US" sz="800" dirty="0"/>
          </a:p>
        </p:txBody>
      </p:sp>
    </p:spTree>
    <p:extLst>
      <p:ext uri="{BB962C8B-B14F-4D97-AF65-F5344CB8AC3E}">
        <p14:creationId xmlns:p14="http://schemas.microsoft.com/office/powerpoint/2010/main" val="396413404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1408176"/>
            <a:ext cx="8138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>
              <a:buNone/>
            </a:pPr>
            <a:r>
              <a:rPr lang="en-US" sz="3200" b="1" dirty="0">
                <a:solidFill>
                  <a:srgbClr val="007D34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Come abbiamo generato le istanze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85800" y="1920240"/>
            <a:ext cx="9326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it-IT" sz="1280" dirty="0">
                <a:solidFill>
                  <a:srgbClr val="7F7F7F"/>
                </a:solidFill>
              </a:rPr>
              <a:t>Benchmark fattoriale finale: 3 dimensioni, 2 distribuzioni, 3 livelli di capacità e 5 repliche per classe.</a:t>
            </a:r>
            <a:endParaRPr lang="en-US" sz="1280" dirty="0"/>
          </a:p>
        </p:txBody>
      </p:sp>
      <p:sp>
        <p:nvSpPr>
          <p:cNvPr id="4" name="Shape 2"/>
          <p:cNvSpPr/>
          <p:nvPr/>
        </p:nvSpPr>
        <p:spPr>
          <a:xfrm>
            <a:off x="9902952" y="1307592"/>
            <a:ext cx="1508760" cy="301752"/>
          </a:xfrm>
          <a:prstGeom prst="roundRect">
            <a:avLst>
              <a:gd name="adj" fmla="val 18182"/>
            </a:avLst>
          </a:prstGeom>
          <a:solidFill>
            <a:srgbClr val="E9F5EE"/>
          </a:solidFill>
          <a:ln w="12700">
            <a:solidFill>
              <a:srgbClr val="E9F5EE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5" name="Text 3"/>
          <p:cNvSpPr/>
          <p:nvPr/>
        </p:nvSpPr>
        <p:spPr>
          <a:xfrm>
            <a:off x="9976104" y="1406104"/>
            <a:ext cx="1362456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20" b="1" dirty="0">
                <a:solidFill>
                  <a:srgbClr val="007D34"/>
                </a:solidFill>
              </a:rPr>
              <a:t>ISTANZE</a:t>
            </a:r>
            <a:endParaRPr lang="en-US" sz="920" dirty="0"/>
          </a:p>
        </p:txBody>
      </p:sp>
      <p:sp>
        <p:nvSpPr>
          <p:cNvPr id="6" name="Text 4"/>
          <p:cNvSpPr/>
          <p:nvPr/>
        </p:nvSpPr>
        <p:spPr>
          <a:xfrm>
            <a:off x="658368" y="2359152"/>
            <a:ext cx="4389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F1F1F"/>
                </a:solidFill>
              </a:rPr>
              <a:t>Classi usate nel benchmark principale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658368" y="2596896"/>
            <a:ext cx="64465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20" dirty="0">
                <a:solidFill>
                  <a:srgbClr val="5D6A62"/>
                </a:solidFill>
              </a:rPr>
              <a:t>Per ogni dimensione sono state generate 6 classi elementari: uniform/clustered × tight/medium/loose.</a:t>
            </a:r>
            <a:endParaRPr lang="en-US" sz="920" dirty="0"/>
          </a:p>
        </p:txBody>
      </p:sp>
      <p:sp>
        <p:nvSpPr>
          <p:cNvPr id="8" name="Shape 6"/>
          <p:cNvSpPr/>
          <p:nvPr/>
        </p:nvSpPr>
        <p:spPr>
          <a:xfrm>
            <a:off x="658368" y="2852928"/>
            <a:ext cx="1115568" cy="384048"/>
          </a:xfrm>
          <a:prstGeom prst="rect">
            <a:avLst/>
          </a:prstGeom>
          <a:solidFill>
            <a:srgbClr val="007D34"/>
          </a:solidFill>
          <a:ln w="7620">
            <a:solidFill>
              <a:srgbClr val="D8E6DD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9" name="Text 7"/>
          <p:cNvSpPr/>
          <p:nvPr/>
        </p:nvSpPr>
        <p:spPr>
          <a:xfrm>
            <a:off x="699516" y="2889504"/>
            <a:ext cx="10332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Dimensione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1773936" y="2852928"/>
            <a:ext cx="841248" cy="384048"/>
          </a:xfrm>
          <a:prstGeom prst="rect">
            <a:avLst/>
          </a:prstGeom>
          <a:solidFill>
            <a:srgbClr val="007D34"/>
          </a:solidFill>
          <a:ln w="7620">
            <a:solidFill>
              <a:srgbClr val="D8E6DD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1" name="Text 9"/>
          <p:cNvSpPr/>
          <p:nvPr/>
        </p:nvSpPr>
        <p:spPr>
          <a:xfrm>
            <a:off x="1815084" y="2889504"/>
            <a:ext cx="758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Comunità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2615184" y="2852928"/>
            <a:ext cx="786384" cy="384048"/>
          </a:xfrm>
          <a:prstGeom prst="rect">
            <a:avLst/>
          </a:prstGeom>
          <a:solidFill>
            <a:srgbClr val="007D34"/>
          </a:solidFill>
          <a:ln w="7620">
            <a:solidFill>
              <a:srgbClr val="D8E6DD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3" name="Text 11"/>
          <p:cNvSpPr/>
          <p:nvPr/>
        </p:nvSpPr>
        <p:spPr>
          <a:xfrm>
            <a:off x="2656332" y="2889504"/>
            <a:ext cx="7040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Siti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3401568" y="2852928"/>
            <a:ext cx="502920" cy="384048"/>
          </a:xfrm>
          <a:prstGeom prst="rect">
            <a:avLst/>
          </a:prstGeom>
          <a:solidFill>
            <a:srgbClr val="007D34"/>
          </a:solidFill>
          <a:ln w="7620">
            <a:solidFill>
              <a:srgbClr val="D8E6DD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5" name="Text 13"/>
          <p:cNvSpPr/>
          <p:nvPr/>
        </p:nvSpPr>
        <p:spPr>
          <a:xfrm>
            <a:off x="3442716" y="2889504"/>
            <a:ext cx="42062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p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3904488" y="2852928"/>
            <a:ext cx="1572768" cy="384048"/>
          </a:xfrm>
          <a:prstGeom prst="rect">
            <a:avLst/>
          </a:prstGeom>
          <a:solidFill>
            <a:srgbClr val="007D34"/>
          </a:solidFill>
          <a:ln w="7620">
            <a:solidFill>
              <a:srgbClr val="D8E6DD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7" name="Text 15"/>
          <p:cNvSpPr/>
          <p:nvPr/>
        </p:nvSpPr>
        <p:spPr>
          <a:xfrm>
            <a:off x="3945636" y="2889504"/>
            <a:ext cx="14904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Distribuzioni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5477256" y="2852928"/>
            <a:ext cx="1993392" cy="384048"/>
          </a:xfrm>
          <a:prstGeom prst="rect">
            <a:avLst/>
          </a:prstGeom>
          <a:solidFill>
            <a:srgbClr val="007D34"/>
          </a:solidFill>
          <a:ln w="7620">
            <a:solidFill>
              <a:srgbClr val="D8E6DD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9" name="Text 17"/>
          <p:cNvSpPr/>
          <p:nvPr/>
        </p:nvSpPr>
        <p:spPr>
          <a:xfrm>
            <a:off x="5518404" y="2889504"/>
            <a:ext cx="19110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Fattore di </a:t>
            </a:r>
            <a:r>
              <a:rPr lang="en-US" sz="800" b="1" dirty="0" err="1">
                <a:solidFill>
                  <a:srgbClr val="FFFFFF"/>
                </a:solidFill>
              </a:rPr>
              <a:t>capacità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7470648" y="2852928"/>
            <a:ext cx="2148840" cy="384048"/>
          </a:xfrm>
          <a:prstGeom prst="rect">
            <a:avLst/>
          </a:prstGeom>
          <a:solidFill>
            <a:srgbClr val="007D34"/>
          </a:solidFill>
          <a:ln w="7620">
            <a:solidFill>
              <a:srgbClr val="D8E6DD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1" name="Text 19"/>
          <p:cNvSpPr/>
          <p:nvPr/>
        </p:nvSpPr>
        <p:spPr>
          <a:xfrm>
            <a:off x="7511796" y="2889504"/>
            <a:ext cx="206654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Classi elementari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9619488" y="2852928"/>
            <a:ext cx="804672" cy="384048"/>
          </a:xfrm>
          <a:prstGeom prst="rect">
            <a:avLst/>
          </a:prstGeom>
          <a:solidFill>
            <a:srgbClr val="007D34"/>
          </a:solidFill>
          <a:ln w="7620">
            <a:solidFill>
              <a:srgbClr val="D8E6DD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3" name="Text 21"/>
          <p:cNvSpPr/>
          <p:nvPr/>
        </p:nvSpPr>
        <p:spPr>
          <a:xfrm>
            <a:off x="9660636" y="2889504"/>
            <a:ext cx="72237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Seed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10424160" y="2852928"/>
            <a:ext cx="822960" cy="384048"/>
          </a:xfrm>
          <a:prstGeom prst="rect">
            <a:avLst/>
          </a:prstGeom>
          <a:solidFill>
            <a:srgbClr val="007D34"/>
          </a:solidFill>
          <a:ln w="7620">
            <a:solidFill>
              <a:srgbClr val="D8E6DD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5" name="Text 23"/>
          <p:cNvSpPr/>
          <p:nvPr/>
        </p:nvSpPr>
        <p:spPr>
          <a:xfrm>
            <a:off x="10465308" y="2889504"/>
            <a:ext cx="74066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Istanze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658368" y="3236976"/>
            <a:ext cx="1115568" cy="621792"/>
          </a:xfrm>
          <a:prstGeom prst="rect">
            <a:avLst/>
          </a:prstGeom>
          <a:solidFill>
            <a:srgbClr val="FFFFFF"/>
          </a:solidFill>
          <a:ln w="7620">
            <a:solidFill>
              <a:srgbClr val="D8E6DD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7" name="Text 25"/>
          <p:cNvSpPr/>
          <p:nvPr/>
        </p:nvSpPr>
        <p:spPr>
          <a:xfrm>
            <a:off x="699516" y="3273552"/>
            <a:ext cx="10332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90" b="1" dirty="0">
                <a:solidFill>
                  <a:srgbClr val="007D34"/>
                </a:solidFill>
              </a:rPr>
              <a:t>medium</a:t>
            </a:r>
            <a:endParaRPr lang="en-US" sz="890" dirty="0"/>
          </a:p>
        </p:txBody>
      </p:sp>
      <p:sp>
        <p:nvSpPr>
          <p:cNvPr id="28" name="Shape 26"/>
          <p:cNvSpPr/>
          <p:nvPr/>
        </p:nvSpPr>
        <p:spPr>
          <a:xfrm>
            <a:off x="1773936" y="3236976"/>
            <a:ext cx="841248" cy="621792"/>
          </a:xfrm>
          <a:prstGeom prst="rect">
            <a:avLst/>
          </a:prstGeom>
          <a:solidFill>
            <a:srgbClr val="FFFFFF"/>
          </a:solidFill>
          <a:ln w="7620">
            <a:solidFill>
              <a:srgbClr val="D8E6DD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9" name="Text 27"/>
          <p:cNvSpPr/>
          <p:nvPr/>
        </p:nvSpPr>
        <p:spPr>
          <a:xfrm>
            <a:off x="1815084" y="3273552"/>
            <a:ext cx="7589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90" dirty="0">
                <a:solidFill>
                  <a:srgbClr val="1F1F1F"/>
                </a:solidFill>
              </a:rPr>
              <a:t>100</a:t>
            </a:r>
            <a:endParaRPr lang="en-US" sz="890" dirty="0"/>
          </a:p>
        </p:txBody>
      </p:sp>
      <p:sp>
        <p:nvSpPr>
          <p:cNvPr id="30" name="Shape 28"/>
          <p:cNvSpPr/>
          <p:nvPr/>
        </p:nvSpPr>
        <p:spPr>
          <a:xfrm>
            <a:off x="2615184" y="3236976"/>
            <a:ext cx="786384" cy="621792"/>
          </a:xfrm>
          <a:prstGeom prst="rect">
            <a:avLst/>
          </a:prstGeom>
          <a:solidFill>
            <a:srgbClr val="FFFFFF"/>
          </a:solidFill>
          <a:ln w="7620">
            <a:solidFill>
              <a:srgbClr val="D8E6DD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1" name="Text 29"/>
          <p:cNvSpPr/>
          <p:nvPr/>
        </p:nvSpPr>
        <p:spPr>
          <a:xfrm>
            <a:off x="2656332" y="3273552"/>
            <a:ext cx="70408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90" dirty="0">
                <a:solidFill>
                  <a:srgbClr val="1F1F1F"/>
                </a:solidFill>
              </a:rPr>
              <a:t>30</a:t>
            </a:r>
            <a:endParaRPr lang="en-US" sz="890" dirty="0"/>
          </a:p>
        </p:txBody>
      </p:sp>
      <p:sp>
        <p:nvSpPr>
          <p:cNvPr id="32" name="Shape 30"/>
          <p:cNvSpPr/>
          <p:nvPr/>
        </p:nvSpPr>
        <p:spPr>
          <a:xfrm>
            <a:off x="3401568" y="3236976"/>
            <a:ext cx="502920" cy="621792"/>
          </a:xfrm>
          <a:prstGeom prst="rect">
            <a:avLst/>
          </a:prstGeom>
          <a:solidFill>
            <a:srgbClr val="FFFFFF"/>
          </a:solidFill>
          <a:ln w="7620">
            <a:solidFill>
              <a:srgbClr val="D8E6DD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3" name="Text 31"/>
          <p:cNvSpPr/>
          <p:nvPr/>
        </p:nvSpPr>
        <p:spPr>
          <a:xfrm>
            <a:off x="3442716" y="3273552"/>
            <a:ext cx="42062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90" dirty="0">
                <a:solidFill>
                  <a:srgbClr val="1F1F1F"/>
                </a:solidFill>
              </a:rPr>
              <a:t>5</a:t>
            </a:r>
            <a:endParaRPr lang="en-US" sz="890" dirty="0"/>
          </a:p>
        </p:txBody>
      </p:sp>
      <p:sp>
        <p:nvSpPr>
          <p:cNvPr id="34" name="Shape 32"/>
          <p:cNvSpPr/>
          <p:nvPr/>
        </p:nvSpPr>
        <p:spPr>
          <a:xfrm>
            <a:off x="3904488" y="3236976"/>
            <a:ext cx="1572768" cy="621792"/>
          </a:xfrm>
          <a:prstGeom prst="rect">
            <a:avLst/>
          </a:prstGeom>
          <a:solidFill>
            <a:srgbClr val="FFFFFF"/>
          </a:solidFill>
          <a:ln w="7620">
            <a:solidFill>
              <a:srgbClr val="D8E6DD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5" name="Text 33"/>
          <p:cNvSpPr/>
          <p:nvPr/>
        </p:nvSpPr>
        <p:spPr>
          <a:xfrm>
            <a:off x="3945636" y="3273552"/>
            <a:ext cx="1490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90" dirty="0">
                <a:solidFill>
                  <a:srgbClr val="1F1F1F"/>
                </a:solidFill>
              </a:rPr>
              <a:t>uniform</a:t>
            </a:r>
            <a:endParaRPr lang="en-US" sz="790" dirty="0"/>
          </a:p>
          <a:p>
            <a:pPr marL="0" indent="0" algn="ctr">
              <a:buNone/>
            </a:pPr>
            <a:r>
              <a:rPr lang="en-US" sz="790" dirty="0">
                <a:solidFill>
                  <a:srgbClr val="1F1F1F"/>
                </a:solidFill>
              </a:rPr>
              <a:t>clustered</a:t>
            </a:r>
            <a:endParaRPr lang="en-US" sz="790" dirty="0"/>
          </a:p>
        </p:txBody>
      </p:sp>
      <p:sp>
        <p:nvSpPr>
          <p:cNvPr id="36" name="Shape 34"/>
          <p:cNvSpPr/>
          <p:nvPr/>
        </p:nvSpPr>
        <p:spPr>
          <a:xfrm>
            <a:off x="5477256" y="3236976"/>
            <a:ext cx="1993392" cy="621792"/>
          </a:xfrm>
          <a:prstGeom prst="rect">
            <a:avLst/>
          </a:prstGeom>
          <a:solidFill>
            <a:srgbClr val="FFFFFF"/>
          </a:solidFill>
          <a:ln w="7620">
            <a:solidFill>
              <a:srgbClr val="D8E6DD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7" name="Text 35"/>
          <p:cNvSpPr/>
          <p:nvPr/>
        </p:nvSpPr>
        <p:spPr>
          <a:xfrm>
            <a:off x="5518404" y="3273552"/>
            <a:ext cx="191109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90" dirty="0">
                <a:solidFill>
                  <a:srgbClr val="1F1F1F"/>
                </a:solidFill>
              </a:rPr>
              <a:t>tight 1.05</a:t>
            </a:r>
            <a:endParaRPr lang="en-US" sz="790" dirty="0"/>
          </a:p>
          <a:p>
            <a:pPr marL="0" indent="0" algn="ctr">
              <a:buNone/>
            </a:pPr>
            <a:r>
              <a:rPr lang="en-US" sz="790" dirty="0">
                <a:solidFill>
                  <a:srgbClr val="1F1F1F"/>
                </a:solidFill>
              </a:rPr>
              <a:t>medium 1.20</a:t>
            </a:r>
            <a:endParaRPr lang="en-US" sz="790" dirty="0"/>
          </a:p>
          <a:p>
            <a:pPr marL="0" indent="0" algn="ctr">
              <a:buNone/>
            </a:pPr>
            <a:r>
              <a:rPr lang="en-US" sz="790" dirty="0">
                <a:solidFill>
                  <a:srgbClr val="1F1F1F"/>
                </a:solidFill>
              </a:rPr>
              <a:t>loose 1.50</a:t>
            </a:r>
            <a:endParaRPr lang="en-US" sz="790" dirty="0"/>
          </a:p>
        </p:txBody>
      </p:sp>
      <p:sp>
        <p:nvSpPr>
          <p:cNvPr id="38" name="Shape 36"/>
          <p:cNvSpPr/>
          <p:nvPr/>
        </p:nvSpPr>
        <p:spPr>
          <a:xfrm>
            <a:off x="7470648" y="3236976"/>
            <a:ext cx="2148840" cy="621792"/>
          </a:xfrm>
          <a:prstGeom prst="rect">
            <a:avLst/>
          </a:prstGeom>
          <a:solidFill>
            <a:srgbClr val="FFFFFF"/>
          </a:solidFill>
          <a:ln w="7620">
            <a:solidFill>
              <a:srgbClr val="D8E6DD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9" name="Text 37"/>
          <p:cNvSpPr/>
          <p:nvPr/>
        </p:nvSpPr>
        <p:spPr>
          <a:xfrm>
            <a:off x="7511796" y="3273552"/>
            <a:ext cx="206654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660" dirty="0">
                <a:solidFill>
                  <a:srgbClr val="1F1F1F"/>
                </a:solidFill>
              </a:rPr>
              <a:t>uniform-tight</a:t>
            </a:r>
            <a:endParaRPr lang="en-US" sz="660" dirty="0"/>
          </a:p>
          <a:p>
            <a:pPr marL="0" indent="0" algn="ctr">
              <a:buNone/>
            </a:pPr>
            <a:r>
              <a:rPr lang="en-US" sz="660" dirty="0">
                <a:solidFill>
                  <a:srgbClr val="1F1F1F"/>
                </a:solidFill>
              </a:rPr>
              <a:t>uniform-medium</a:t>
            </a:r>
            <a:endParaRPr lang="en-US" sz="660" dirty="0"/>
          </a:p>
          <a:p>
            <a:pPr marL="0" indent="0" algn="ctr">
              <a:buNone/>
            </a:pPr>
            <a:r>
              <a:rPr lang="en-US" sz="660" dirty="0">
                <a:solidFill>
                  <a:srgbClr val="1F1F1F"/>
                </a:solidFill>
              </a:rPr>
              <a:t>uniform-loose</a:t>
            </a:r>
            <a:endParaRPr lang="en-US" sz="660" dirty="0"/>
          </a:p>
          <a:p>
            <a:pPr marL="0" indent="0" algn="ctr">
              <a:buNone/>
            </a:pPr>
            <a:r>
              <a:rPr lang="en-US" sz="660" dirty="0">
                <a:solidFill>
                  <a:srgbClr val="1F1F1F"/>
                </a:solidFill>
              </a:rPr>
              <a:t>clustered-tight</a:t>
            </a:r>
            <a:endParaRPr lang="en-US" sz="660" dirty="0"/>
          </a:p>
          <a:p>
            <a:pPr marL="0" indent="0" algn="ctr">
              <a:buNone/>
            </a:pPr>
            <a:r>
              <a:rPr lang="en-US" sz="660" dirty="0">
                <a:solidFill>
                  <a:srgbClr val="1F1F1F"/>
                </a:solidFill>
              </a:rPr>
              <a:t>clustered-medium</a:t>
            </a:r>
            <a:endParaRPr lang="en-US" sz="660" dirty="0"/>
          </a:p>
          <a:p>
            <a:pPr marL="0" indent="0" algn="ctr">
              <a:buNone/>
            </a:pPr>
            <a:r>
              <a:rPr lang="en-US" sz="660" dirty="0">
                <a:solidFill>
                  <a:srgbClr val="1F1F1F"/>
                </a:solidFill>
              </a:rPr>
              <a:t>clustered-loose</a:t>
            </a:r>
            <a:endParaRPr lang="en-US" sz="660" dirty="0"/>
          </a:p>
        </p:txBody>
      </p:sp>
      <p:sp>
        <p:nvSpPr>
          <p:cNvPr id="40" name="Shape 38"/>
          <p:cNvSpPr/>
          <p:nvPr/>
        </p:nvSpPr>
        <p:spPr>
          <a:xfrm>
            <a:off x="9619488" y="3236976"/>
            <a:ext cx="804672" cy="621792"/>
          </a:xfrm>
          <a:prstGeom prst="rect">
            <a:avLst/>
          </a:prstGeom>
          <a:solidFill>
            <a:srgbClr val="FFFFFF"/>
          </a:solidFill>
          <a:ln w="7620">
            <a:solidFill>
              <a:srgbClr val="D8E6DD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41" name="Text 39"/>
          <p:cNvSpPr/>
          <p:nvPr/>
        </p:nvSpPr>
        <p:spPr>
          <a:xfrm>
            <a:off x="9660636" y="3273552"/>
            <a:ext cx="72237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90" dirty="0">
                <a:solidFill>
                  <a:srgbClr val="1F1F1F"/>
                </a:solidFill>
              </a:rPr>
              <a:t>5</a:t>
            </a:r>
            <a:endParaRPr lang="en-US" sz="790" dirty="0"/>
          </a:p>
        </p:txBody>
      </p:sp>
      <p:sp>
        <p:nvSpPr>
          <p:cNvPr id="42" name="Shape 40"/>
          <p:cNvSpPr/>
          <p:nvPr/>
        </p:nvSpPr>
        <p:spPr>
          <a:xfrm>
            <a:off x="10424160" y="3236976"/>
            <a:ext cx="822960" cy="621792"/>
          </a:xfrm>
          <a:prstGeom prst="rect">
            <a:avLst/>
          </a:prstGeom>
          <a:solidFill>
            <a:srgbClr val="FFFFFF"/>
          </a:solidFill>
          <a:ln w="7620">
            <a:solidFill>
              <a:srgbClr val="D8E6DD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43" name="Text 41"/>
          <p:cNvSpPr/>
          <p:nvPr/>
        </p:nvSpPr>
        <p:spPr>
          <a:xfrm>
            <a:off x="10465308" y="3273552"/>
            <a:ext cx="74066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90" b="1" dirty="0">
                <a:solidFill>
                  <a:srgbClr val="007D34"/>
                </a:solidFill>
              </a:rPr>
              <a:t>30</a:t>
            </a:r>
            <a:endParaRPr lang="en-US" sz="790" dirty="0"/>
          </a:p>
        </p:txBody>
      </p:sp>
      <p:sp>
        <p:nvSpPr>
          <p:cNvPr id="44" name="Shape 42"/>
          <p:cNvSpPr/>
          <p:nvPr/>
        </p:nvSpPr>
        <p:spPr>
          <a:xfrm>
            <a:off x="658368" y="3858768"/>
            <a:ext cx="1115568" cy="621792"/>
          </a:xfrm>
          <a:prstGeom prst="rect">
            <a:avLst/>
          </a:prstGeom>
          <a:solidFill>
            <a:srgbClr val="FAFCFA"/>
          </a:solidFill>
          <a:ln w="7620">
            <a:solidFill>
              <a:srgbClr val="D8E6DD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45" name="Text 43"/>
          <p:cNvSpPr/>
          <p:nvPr/>
        </p:nvSpPr>
        <p:spPr>
          <a:xfrm>
            <a:off x="699516" y="3895344"/>
            <a:ext cx="10332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90" b="1" dirty="0">
                <a:solidFill>
                  <a:srgbClr val="007D34"/>
                </a:solidFill>
              </a:rPr>
              <a:t>large</a:t>
            </a:r>
            <a:endParaRPr lang="en-US" sz="890" dirty="0"/>
          </a:p>
        </p:txBody>
      </p:sp>
      <p:sp>
        <p:nvSpPr>
          <p:cNvPr id="46" name="Shape 44"/>
          <p:cNvSpPr/>
          <p:nvPr/>
        </p:nvSpPr>
        <p:spPr>
          <a:xfrm>
            <a:off x="1773936" y="3858768"/>
            <a:ext cx="841248" cy="621792"/>
          </a:xfrm>
          <a:prstGeom prst="rect">
            <a:avLst/>
          </a:prstGeom>
          <a:solidFill>
            <a:srgbClr val="FAFCFA"/>
          </a:solidFill>
          <a:ln w="7620">
            <a:solidFill>
              <a:srgbClr val="D8E6DD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47" name="Text 45"/>
          <p:cNvSpPr/>
          <p:nvPr/>
        </p:nvSpPr>
        <p:spPr>
          <a:xfrm>
            <a:off x="1815084" y="3895344"/>
            <a:ext cx="7589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90" dirty="0">
                <a:solidFill>
                  <a:srgbClr val="1F1F1F"/>
                </a:solidFill>
              </a:rPr>
              <a:t>300</a:t>
            </a:r>
            <a:endParaRPr lang="en-US" sz="890" dirty="0"/>
          </a:p>
        </p:txBody>
      </p:sp>
      <p:sp>
        <p:nvSpPr>
          <p:cNvPr id="48" name="Shape 46"/>
          <p:cNvSpPr/>
          <p:nvPr/>
        </p:nvSpPr>
        <p:spPr>
          <a:xfrm>
            <a:off x="2615184" y="3858768"/>
            <a:ext cx="786384" cy="621792"/>
          </a:xfrm>
          <a:prstGeom prst="rect">
            <a:avLst/>
          </a:prstGeom>
          <a:solidFill>
            <a:srgbClr val="FAFCFA"/>
          </a:solidFill>
          <a:ln w="7620">
            <a:solidFill>
              <a:srgbClr val="D8E6DD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49" name="Text 47"/>
          <p:cNvSpPr/>
          <p:nvPr/>
        </p:nvSpPr>
        <p:spPr>
          <a:xfrm>
            <a:off x="2656332" y="3895344"/>
            <a:ext cx="70408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90" dirty="0">
                <a:solidFill>
                  <a:srgbClr val="1F1F1F"/>
                </a:solidFill>
              </a:rPr>
              <a:t>75</a:t>
            </a:r>
            <a:endParaRPr lang="en-US" sz="890" dirty="0"/>
          </a:p>
        </p:txBody>
      </p:sp>
      <p:sp>
        <p:nvSpPr>
          <p:cNvPr id="50" name="Shape 48"/>
          <p:cNvSpPr/>
          <p:nvPr/>
        </p:nvSpPr>
        <p:spPr>
          <a:xfrm>
            <a:off x="3401568" y="3858768"/>
            <a:ext cx="502920" cy="621792"/>
          </a:xfrm>
          <a:prstGeom prst="rect">
            <a:avLst/>
          </a:prstGeom>
          <a:solidFill>
            <a:srgbClr val="FAFCFA"/>
          </a:solidFill>
          <a:ln w="7620">
            <a:solidFill>
              <a:srgbClr val="D8E6DD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51" name="Text 49"/>
          <p:cNvSpPr/>
          <p:nvPr/>
        </p:nvSpPr>
        <p:spPr>
          <a:xfrm>
            <a:off x="3442716" y="3895344"/>
            <a:ext cx="42062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90" dirty="0">
                <a:solidFill>
                  <a:srgbClr val="1F1F1F"/>
                </a:solidFill>
              </a:rPr>
              <a:t>10</a:t>
            </a:r>
            <a:endParaRPr lang="en-US" sz="890" dirty="0"/>
          </a:p>
        </p:txBody>
      </p:sp>
      <p:sp>
        <p:nvSpPr>
          <p:cNvPr id="52" name="Shape 50"/>
          <p:cNvSpPr/>
          <p:nvPr/>
        </p:nvSpPr>
        <p:spPr>
          <a:xfrm>
            <a:off x="3904488" y="3858768"/>
            <a:ext cx="1572768" cy="621792"/>
          </a:xfrm>
          <a:prstGeom prst="rect">
            <a:avLst/>
          </a:prstGeom>
          <a:solidFill>
            <a:srgbClr val="FAFCFA"/>
          </a:solidFill>
          <a:ln w="7620">
            <a:solidFill>
              <a:srgbClr val="D8E6DD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53" name="Text 51"/>
          <p:cNvSpPr/>
          <p:nvPr/>
        </p:nvSpPr>
        <p:spPr>
          <a:xfrm>
            <a:off x="3945636" y="3895344"/>
            <a:ext cx="1490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90" dirty="0">
                <a:solidFill>
                  <a:srgbClr val="1F1F1F"/>
                </a:solidFill>
              </a:rPr>
              <a:t>uniform</a:t>
            </a:r>
            <a:endParaRPr lang="en-US" sz="790" dirty="0"/>
          </a:p>
          <a:p>
            <a:pPr marL="0" indent="0" algn="ctr">
              <a:buNone/>
            </a:pPr>
            <a:r>
              <a:rPr lang="en-US" sz="790" dirty="0">
                <a:solidFill>
                  <a:srgbClr val="1F1F1F"/>
                </a:solidFill>
              </a:rPr>
              <a:t>clustered</a:t>
            </a:r>
            <a:endParaRPr lang="en-US" sz="790" dirty="0"/>
          </a:p>
        </p:txBody>
      </p:sp>
      <p:sp>
        <p:nvSpPr>
          <p:cNvPr id="54" name="Shape 52"/>
          <p:cNvSpPr/>
          <p:nvPr/>
        </p:nvSpPr>
        <p:spPr>
          <a:xfrm>
            <a:off x="5477256" y="3858768"/>
            <a:ext cx="1993392" cy="621792"/>
          </a:xfrm>
          <a:prstGeom prst="rect">
            <a:avLst/>
          </a:prstGeom>
          <a:solidFill>
            <a:srgbClr val="FAFCFA"/>
          </a:solidFill>
          <a:ln w="7620">
            <a:solidFill>
              <a:srgbClr val="D8E6DD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55" name="Text 53"/>
          <p:cNvSpPr/>
          <p:nvPr/>
        </p:nvSpPr>
        <p:spPr>
          <a:xfrm>
            <a:off x="5518404" y="3895344"/>
            <a:ext cx="191109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90" dirty="0">
                <a:solidFill>
                  <a:srgbClr val="1F1F1F"/>
                </a:solidFill>
              </a:rPr>
              <a:t>tight 1.05</a:t>
            </a:r>
            <a:endParaRPr lang="en-US" sz="790" dirty="0"/>
          </a:p>
          <a:p>
            <a:pPr marL="0" indent="0" algn="ctr">
              <a:buNone/>
            </a:pPr>
            <a:r>
              <a:rPr lang="en-US" sz="790" dirty="0">
                <a:solidFill>
                  <a:srgbClr val="1F1F1F"/>
                </a:solidFill>
              </a:rPr>
              <a:t>medium 1.20</a:t>
            </a:r>
            <a:endParaRPr lang="en-US" sz="790" dirty="0"/>
          </a:p>
          <a:p>
            <a:pPr marL="0" indent="0" algn="ctr">
              <a:buNone/>
            </a:pPr>
            <a:r>
              <a:rPr lang="en-US" sz="790" dirty="0">
                <a:solidFill>
                  <a:srgbClr val="1F1F1F"/>
                </a:solidFill>
              </a:rPr>
              <a:t>loose 1.50</a:t>
            </a:r>
            <a:endParaRPr lang="en-US" sz="790" dirty="0"/>
          </a:p>
        </p:txBody>
      </p:sp>
      <p:sp>
        <p:nvSpPr>
          <p:cNvPr id="56" name="Shape 54"/>
          <p:cNvSpPr/>
          <p:nvPr/>
        </p:nvSpPr>
        <p:spPr>
          <a:xfrm>
            <a:off x="7470648" y="3858768"/>
            <a:ext cx="2148840" cy="621792"/>
          </a:xfrm>
          <a:prstGeom prst="rect">
            <a:avLst/>
          </a:prstGeom>
          <a:solidFill>
            <a:srgbClr val="FAFCFA"/>
          </a:solidFill>
          <a:ln w="7620">
            <a:solidFill>
              <a:srgbClr val="D8E6DD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57" name="Text 55"/>
          <p:cNvSpPr/>
          <p:nvPr/>
        </p:nvSpPr>
        <p:spPr>
          <a:xfrm>
            <a:off x="7511796" y="3895344"/>
            <a:ext cx="206654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660" dirty="0">
                <a:solidFill>
                  <a:srgbClr val="1F1F1F"/>
                </a:solidFill>
              </a:rPr>
              <a:t>uniform-tight</a:t>
            </a:r>
            <a:endParaRPr lang="en-US" sz="660" dirty="0"/>
          </a:p>
          <a:p>
            <a:pPr marL="0" indent="0" algn="ctr">
              <a:buNone/>
            </a:pPr>
            <a:r>
              <a:rPr lang="en-US" sz="660" dirty="0">
                <a:solidFill>
                  <a:srgbClr val="1F1F1F"/>
                </a:solidFill>
              </a:rPr>
              <a:t>uniform-medium</a:t>
            </a:r>
            <a:endParaRPr lang="en-US" sz="660" dirty="0"/>
          </a:p>
          <a:p>
            <a:pPr marL="0" indent="0" algn="ctr">
              <a:buNone/>
            </a:pPr>
            <a:r>
              <a:rPr lang="en-US" sz="660" dirty="0">
                <a:solidFill>
                  <a:srgbClr val="1F1F1F"/>
                </a:solidFill>
              </a:rPr>
              <a:t>uniform-loose</a:t>
            </a:r>
            <a:endParaRPr lang="en-US" sz="660" dirty="0"/>
          </a:p>
          <a:p>
            <a:pPr marL="0" indent="0" algn="ctr">
              <a:buNone/>
            </a:pPr>
            <a:r>
              <a:rPr lang="en-US" sz="660" dirty="0">
                <a:solidFill>
                  <a:srgbClr val="1F1F1F"/>
                </a:solidFill>
              </a:rPr>
              <a:t>clustered-tight</a:t>
            </a:r>
            <a:endParaRPr lang="en-US" sz="660" dirty="0"/>
          </a:p>
          <a:p>
            <a:pPr marL="0" indent="0" algn="ctr">
              <a:buNone/>
            </a:pPr>
            <a:r>
              <a:rPr lang="en-US" sz="660" dirty="0">
                <a:solidFill>
                  <a:srgbClr val="1F1F1F"/>
                </a:solidFill>
              </a:rPr>
              <a:t>clustered-medium</a:t>
            </a:r>
            <a:endParaRPr lang="en-US" sz="660" dirty="0"/>
          </a:p>
          <a:p>
            <a:pPr marL="0" indent="0" algn="ctr">
              <a:buNone/>
            </a:pPr>
            <a:r>
              <a:rPr lang="en-US" sz="660" dirty="0">
                <a:solidFill>
                  <a:srgbClr val="1F1F1F"/>
                </a:solidFill>
              </a:rPr>
              <a:t>clustered-loose</a:t>
            </a:r>
            <a:endParaRPr lang="en-US" sz="660" dirty="0"/>
          </a:p>
        </p:txBody>
      </p:sp>
      <p:sp>
        <p:nvSpPr>
          <p:cNvPr id="58" name="Shape 56"/>
          <p:cNvSpPr/>
          <p:nvPr/>
        </p:nvSpPr>
        <p:spPr>
          <a:xfrm>
            <a:off x="9619488" y="3858768"/>
            <a:ext cx="804672" cy="621792"/>
          </a:xfrm>
          <a:prstGeom prst="rect">
            <a:avLst/>
          </a:prstGeom>
          <a:solidFill>
            <a:srgbClr val="FAFCFA"/>
          </a:solidFill>
          <a:ln w="7620">
            <a:solidFill>
              <a:srgbClr val="D8E6DD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59" name="Text 57"/>
          <p:cNvSpPr/>
          <p:nvPr/>
        </p:nvSpPr>
        <p:spPr>
          <a:xfrm>
            <a:off x="9660636" y="3895344"/>
            <a:ext cx="72237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90" dirty="0">
                <a:solidFill>
                  <a:srgbClr val="1F1F1F"/>
                </a:solidFill>
              </a:rPr>
              <a:t>5</a:t>
            </a:r>
            <a:endParaRPr lang="en-US" sz="790" dirty="0"/>
          </a:p>
        </p:txBody>
      </p:sp>
      <p:sp>
        <p:nvSpPr>
          <p:cNvPr id="60" name="Shape 58"/>
          <p:cNvSpPr/>
          <p:nvPr/>
        </p:nvSpPr>
        <p:spPr>
          <a:xfrm>
            <a:off x="10424160" y="3858768"/>
            <a:ext cx="822960" cy="621792"/>
          </a:xfrm>
          <a:prstGeom prst="rect">
            <a:avLst/>
          </a:prstGeom>
          <a:solidFill>
            <a:srgbClr val="FAFCFA"/>
          </a:solidFill>
          <a:ln w="7620">
            <a:solidFill>
              <a:srgbClr val="D8E6DD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61" name="Text 59"/>
          <p:cNvSpPr/>
          <p:nvPr/>
        </p:nvSpPr>
        <p:spPr>
          <a:xfrm>
            <a:off x="10465308" y="3895344"/>
            <a:ext cx="74066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90" b="1" dirty="0">
                <a:solidFill>
                  <a:srgbClr val="007D34"/>
                </a:solidFill>
              </a:rPr>
              <a:t>30</a:t>
            </a:r>
            <a:endParaRPr lang="en-US" sz="790" dirty="0"/>
          </a:p>
        </p:txBody>
      </p:sp>
      <p:sp>
        <p:nvSpPr>
          <p:cNvPr id="62" name="Shape 60"/>
          <p:cNvSpPr/>
          <p:nvPr/>
        </p:nvSpPr>
        <p:spPr>
          <a:xfrm>
            <a:off x="658368" y="4480560"/>
            <a:ext cx="1115568" cy="621792"/>
          </a:xfrm>
          <a:prstGeom prst="rect">
            <a:avLst/>
          </a:prstGeom>
          <a:solidFill>
            <a:srgbClr val="FFFFFF"/>
          </a:solidFill>
          <a:ln w="7620">
            <a:solidFill>
              <a:srgbClr val="D8E6DD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63" name="Text 61"/>
          <p:cNvSpPr/>
          <p:nvPr/>
        </p:nvSpPr>
        <p:spPr>
          <a:xfrm>
            <a:off x="699516" y="4517136"/>
            <a:ext cx="10332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90" b="1" dirty="0">
                <a:solidFill>
                  <a:srgbClr val="007D34"/>
                </a:solidFill>
              </a:rPr>
              <a:t>xlarge</a:t>
            </a:r>
            <a:endParaRPr lang="en-US" sz="890" dirty="0"/>
          </a:p>
        </p:txBody>
      </p:sp>
      <p:sp>
        <p:nvSpPr>
          <p:cNvPr id="64" name="Shape 62"/>
          <p:cNvSpPr/>
          <p:nvPr/>
        </p:nvSpPr>
        <p:spPr>
          <a:xfrm>
            <a:off x="1773936" y="4480560"/>
            <a:ext cx="841248" cy="621792"/>
          </a:xfrm>
          <a:prstGeom prst="rect">
            <a:avLst/>
          </a:prstGeom>
          <a:solidFill>
            <a:srgbClr val="FFFFFF"/>
          </a:solidFill>
          <a:ln w="7620">
            <a:solidFill>
              <a:srgbClr val="D8E6DD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65" name="Text 63"/>
          <p:cNvSpPr/>
          <p:nvPr/>
        </p:nvSpPr>
        <p:spPr>
          <a:xfrm>
            <a:off x="1815084" y="4517136"/>
            <a:ext cx="7589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90" dirty="0">
                <a:solidFill>
                  <a:srgbClr val="1F1F1F"/>
                </a:solidFill>
              </a:rPr>
              <a:t>600</a:t>
            </a:r>
            <a:endParaRPr lang="en-US" sz="890" dirty="0"/>
          </a:p>
        </p:txBody>
      </p:sp>
      <p:sp>
        <p:nvSpPr>
          <p:cNvPr id="66" name="Shape 64"/>
          <p:cNvSpPr/>
          <p:nvPr/>
        </p:nvSpPr>
        <p:spPr>
          <a:xfrm>
            <a:off x="2615184" y="4480560"/>
            <a:ext cx="786384" cy="621792"/>
          </a:xfrm>
          <a:prstGeom prst="rect">
            <a:avLst/>
          </a:prstGeom>
          <a:solidFill>
            <a:srgbClr val="FFFFFF"/>
          </a:solidFill>
          <a:ln w="7620">
            <a:solidFill>
              <a:srgbClr val="D8E6DD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67" name="Text 65"/>
          <p:cNvSpPr/>
          <p:nvPr/>
        </p:nvSpPr>
        <p:spPr>
          <a:xfrm>
            <a:off x="2656332" y="4517136"/>
            <a:ext cx="70408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90" dirty="0">
                <a:solidFill>
                  <a:srgbClr val="1F1F1F"/>
                </a:solidFill>
              </a:rPr>
              <a:t>150</a:t>
            </a:r>
            <a:endParaRPr lang="en-US" sz="890" dirty="0"/>
          </a:p>
        </p:txBody>
      </p:sp>
      <p:sp>
        <p:nvSpPr>
          <p:cNvPr id="68" name="Shape 66"/>
          <p:cNvSpPr/>
          <p:nvPr/>
        </p:nvSpPr>
        <p:spPr>
          <a:xfrm>
            <a:off x="3401568" y="4480560"/>
            <a:ext cx="502920" cy="621792"/>
          </a:xfrm>
          <a:prstGeom prst="rect">
            <a:avLst/>
          </a:prstGeom>
          <a:solidFill>
            <a:srgbClr val="FFFFFF"/>
          </a:solidFill>
          <a:ln w="7620">
            <a:solidFill>
              <a:srgbClr val="D8E6DD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69" name="Text 67"/>
          <p:cNvSpPr/>
          <p:nvPr/>
        </p:nvSpPr>
        <p:spPr>
          <a:xfrm>
            <a:off x="3442716" y="4517136"/>
            <a:ext cx="42062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90" dirty="0">
                <a:solidFill>
                  <a:srgbClr val="1F1F1F"/>
                </a:solidFill>
              </a:rPr>
              <a:t>15</a:t>
            </a:r>
            <a:endParaRPr lang="en-US" sz="890" dirty="0"/>
          </a:p>
        </p:txBody>
      </p:sp>
      <p:sp>
        <p:nvSpPr>
          <p:cNvPr id="70" name="Shape 68"/>
          <p:cNvSpPr/>
          <p:nvPr/>
        </p:nvSpPr>
        <p:spPr>
          <a:xfrm>
            <a:off x="3904488" y="4480560"/>
            <a:ext cx="1572768" cy="621792"/>
          </a:xfrm>
          <a:prstGeom prst="rect">
            <a:avLst/>
          </a:prstGeom>
          <a:solidFill>
            <a:srgbClr val="FFFFFF"/>
          </a:solidFill>
          <a:ln w="7620">
            <a:solidFill>
              <a:srgbClr val="D8E6DD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71" name="Text 69"/>
          <p:cNvSpPr/>
          <p:nvPr/>
        </p:nvSpPr>
        <p:spPr>
          <a:xfrm>
            <a:off x="3945636" y="4517136"/>
            <a:ext cx="1490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90" dirty="0">
                <a:solidFill>
                  <a:srgbClr val="1F1F1F"/>
                </a:solidFill>
              </a:rPr>
              <a:t>uniform</a:t>
            </a:r>
            <a:endParaRPr lang="en-US" sz="790" dirty="0"/>
          </a:p>
          <a:p>
            <a:pPr marL="0" indent="0" algn="ctr">
              <a:buNone/>
            </a:pPr>
            <a:r>
              <a:rPr lang="en-US" sz="790" dirty="0">
                <a:solidFill>
                  <a:srgbClr val="1F1F1F"/>
                </a:solidFill>
              </a:rPr>
              <a:t>clustered</a:t>
            </a:r>
            <a:endParaRPr lang="en-US" sz="790" dirty="0"/>
          </a:p>
        </p:txBody>
      </p:sp>
      <p:sp>
        <p:nvSpPr>
          <p:cNvPr id="72" name="Shape 70"/>
          <p:cNvSpPr/>
          <p:nvPr/>
        </p:nvSpPr>
        <p:spPr>
          <a:xfrm>
            <a:off x="5477256" y="4480560"/>
            <a:ext cx="1993392" cy="621792"/>
          </a:xfrm>
          <a:prstGeom prst="rect">
            <a:avLst/>
          </a:prstGeom>
          <a:solidFill>
            <a:srgbClr val="FFFFFF"/>
          </a:solidFill>
          <a:ln w="7620">
            <a:solidFill>
              <a:srgbClr val="D8E6DD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73" name="Text 71"/>
          <p:cNvSpPr/>
          <p:nvPr/>
        </p:nvSpPr>
        <p:spPr>
          <a:xfrm>
            <a:off x="5518404" y="4517136"/>
            <a:ext cx="191109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90" dirty="0">
                <a:solidFill>
                  <a:srgbClr val="1F1F1F"/>
                </a:solidFill>
              </a:rPr>
              <a:t>tight 1.05</a:t>
            </a:r>
            <a:endParaRPr lang="en-US" sz="790" dirty="0"/>
          </a:p>
          <a:p>
            <a:pPr marL="0" indent="0" algn="ctr">
              <a:buNone/>
            </a:pPr>
            <a:r>
              <a:rPr lang="en-US" sz="790" dirty="0">
                <a:solidFill>
                  <a:srgbClr val="1F1F1F"/>
                </a:solidFill>
              </a:rPr>
              <a:t>medium 1.20</a:t>
            </a:r>
            <a:endParaRPr lang="en-US" sz="790" dirty="0"/>
          </a:p>
          <a:p>
            <a:pPr marL="0" indent="0" algn="ctr">
              <a:buNone/>
            </a:pPr>
            <a:r>
              <a:rPr lang="en-US" sz="790" dirty="0">
                <a:solidFill>
                  <a:srgbClr val="1F1F1F"/>
                </a:solidFill>
              </a:rPr>
              <a:t>loose 1.50</a:t>
            </a:r>
            <a:endParaRPr lang="en-US" sz="790" dirty="0"/>
          </a:p>
        </p:txBody>
      </p:sp>
      <p:sp>
        <p:nvSpPr>
          <p:cNvPr id="74" name="Shape 72"/>
          <p:cNvSpPr/>
          <p:nvPr/>
        </p:nvSpPr>
        <p:spPr>
          <a:xfrm>
            <a:off x="7470648" y="4480560"/>
            <a:ext cx="2148840" cy="621792"/>
          </a:xfrm>
          <a:prstGeom prst="rect">
            <a:avLst/>
          </a:prstGeom>
          <a:solidFill>
            <a:srgbClr val="FFFFFF"/>
          </a:solidFill>
          <a:ln w="7620">
            <a:solidFill>
              <a:srgbClr val="D8E6DD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75" name="Text 73"/>
          <p:cNvSpPr/>
          <p:nvPr/>
        </p:nvSpPr>
        <p:spPr>
          <a:xfrm>
            <a:off x="7511796" y="4517136"/>
            <a:ext cx="206654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660" dirty="0">
                <a:solidFill>
                  <a:srgbClr val="1F1F1F"/>
                </a:solidFill>
              </a:rPr>
              <a:t>uniform-tight</a:t>
            </a:r>
            <a:endParaRPr lang="en-US" sz="660" dirty="0"/>
          </a:p>
          <a:p>
            <a:pPr marL="0" indent="0" algn="ctr">
              <a:buNone/>
            </a:pPr>
            <a:r>
              <a:rPr lang="en-US" sz="660" dirty="0">
                <a:solidFill>
                  <a:srgbClr val="1F1F1F"/>
                </a:solidFill>
              </a:rPr>
              <a:t>uniform-medium</a:t>
            </a:r>
            <a:endParaRPr lang="en-US" sz="660" dirty="0"/>
          </a:p>
          <a:p>
            <a:pPr marL="0" indent="0" algn="ctr">
              <a:buNone/>
            </a:pPr>
            <a:r>
              <a:rPr lang="en-US" sz="660" dirty="0">
                <a:solidFill>
                  <a:srgbClr val="1F1F1F"/>
                </a:solidFill>
              </a:rPr>
              <a:t>uniform-loose</a:t>
            </a:r>
            <a:endParaRPr lang="en-US" sz="660" dirty="0"/>
          </a:p>
          <a:p>
            <a:pPr marL="0" indent="0" algn="ctr">
              <a:buNone/>
            </a:pPr>
            <a:r>
              <a:rPr lang="en-US" sz="660" dirty="0">
                <a:solidFill>
                  <a:srgbClr val="1F1F1F"/>
                </a:solidFill>
              </a:rPr>
              <a:t>clustered-tight</a:t>
            </a:r>
            <a:endParaRPr lang="en-US" sz="660" dirty="0"/>
          </a:p>
          <a:p>
            <a:pPr marL="0" indent="0" algn="ctr">
              <a:buNone/>
            </a:pPr>
            <a:r>
              <a:rPr lang="en-US" sz="660" dirty="0">
                <a:solidFill>
                  <a:srgbClr val="1F1F1F"/>
                </a:solidFill>
              </a:rPr>
              <a:t>clustered-medium</a:t>
            </a:r>
            <a:endParaRPr lang="en-US" sz="660" dirty="0"/>
          </a:p>
          <a:p>
            <a:pPr marL="0" indent="0" algn="ctr">
              <a:buNone/>
            </a:pPr>
            <a:r>
              <a:rPr lang="en-US" sz="660" dirty="0">
                <a:solidFill>
                  <a:srgbClr val="1F1F1F"/>
                </a:solidFill>
              </a:rPr>
              <a:t>clustered-loose</a:t>
            </a:r>
            <a:endParaRPr lang="en-US" sz="660" dirty="0"/>
          </a:p>
        </p:txBody>
      </p:sp>
      <p:sp>
        <p:nvSpPr>
          <p:cNvPr id="76" name="Shape 74"/>
          <p:cNvSpPr/>
          <p:nvPr/>
        </p:nvSpPr>
        <p:spPr>
          <a:xfrm>
            <a:off x="9619488" y="4480560"/>
            <a:ext cx="804672" cy="621792"/>
          </a:xfrm>
          <a:prstGeom prst="rect">
            <a:avLst/>
          </a:prstGeom>
          <a:solidFill>
            <a:srgbClr val="FFFFFF"/>
          </a:solidFill>
          <a:ln w="7620">
            <a:solidFill>
              <a:srgbClr val="D8E6DD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77" name="Text 75"/>
          <p:cNvSpPr/>
          <p:nvPr/>
        </p:nvSpPr>
        <p:spPr>
          <a:xfrm>
            <a:off x="9660636" y="4517136"/>
            <a:ext cx="72237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90" dirty="0">
                <a:solidFill>
                  <a:srgbClr val="1F1F1F"/>
                </a:solidFill>
              </a:rPr>
              <a:t>5</a:t>
            </a:r>
            <a:endParaRPr lang="en-US" sz="790" dirty="0"/>
          </a:p>
        </p:txBody>
      </p:sp>
      <p:sp>
        <p:nvSpPr>
          <p:cNvPr id="78" name="Shape 76"/>
          <p:cNvSpPr/>
          <p:nvPr/>
        </p:nvSpPr>
        <p:spPr>
          <a:xfrm>
            <a:off x="10424160" y="4480560"/>
            <a:ext cx="822960" cy="621792"/>
          </a:xfrm>
          <a:prstGeom prst="rect">
            <a:avLst/>
          </a:prstGeom>
          <a:solidFill>
            <a:srgbClr val="FFFFFF"/>
          </a:solidFill>
          <a:ln w="7620">
            <a:solidFill>
              <a:srgbClr val="D8E6DD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79" name="Text 77"/>
          <p:cNvSpPr/>
          <p:nvPr/>
        </p:nvSpPr>
        <p:spPr>
          <a:xfrm>
            <a:off x="10465308" y="4517136"/>
            <a:ext cx="74066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90" b="1" dirty="0">
                <a:solidFill>
                  <a:srgbClr val="007D34"/>
                </a:solidFill>
              </a:rPr>
              <a:t>30</a:t>
            </a:r>
            <a:endParaRPr lang="en-US" sz="790" dirty="0"/>
          </a:p>
        </p:txBody>
      </p:sp>
      <p:sp>
        <p:nvSpPr>
          <p:cNvPr id="80" name="Shape 78"/>
          <p:cNvSpPr/>
          <p:nvPr/>
        </p:nvSpPr>
        <p:spPr>
          <a:xfrm>
            <a:off x="658368" y="5102352"/>
            <a:ext cx="3246120" cy="347472"/>
          </a:xfrm>
          <a:prstGeom prst="rect">
            <a:avLst/>
          </a:prstGeom>
          <a:solidFill>
            <a:srgbClr val="E9F5EE"/>
          </a:solidFill>
          <a:ln w="7620">
            <a:solidFill>
              <a:srgbClr val="D8E6DD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81" name="Text 79"/>
          <p:cNvSpPr/>
          <p:nvPr/>
        </p:nvSpPr>
        <p:spPr>
          <a:xfrm>
            <a:off x="699516" y="5138928"/>
            <a:ext cx="31638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07D34"/>
                </a:solidFill>
              </a:rPr>
              <a:t>Totale benchmark</a:t>
            </a:r>
            <a:endParaRPr lang="en-US" sz="900" dirty="0"/>
          </a:p>
        </p:txBody>
      </p:sp>
      <p:sp>
        <p:nvSpPr>
          <p:cNvPr id="82" name="Shape 80"/>
          <p:cNvSpPr/>
          <p:nvPr/>
        </p:nvSpPr>
        <p:spPr>
          <a:xfrm>
            <a:off x="3904488" y="5102352"/>
            <a:ext cx="5715000" cy="347472"/>
          </a:xfrm>
          <a:prstGeom prst="rect">
            <a:avLst/>
          </a:prstGeom>
          <a:solidFill>
            <a:srgbClr val="E9F5EE"/>
          </a:solidFill>
          <a:ln w="7620">
            <a:solidFill>
              <a:srgbClr val="D8E6DD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83" name="Text 81"/>
          <p:cNvSpPr/>
          <p:nvPr/>
        </p:nvSpPr>
        <p:spPr>
          <a:xfrm>
            <a:off x="3945636" y="5138928"/>
            <a:ext cx="56327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07D34"/>
                </a:solidFill>
              </a:rPr>
              <a:t>3 × 2 × 3 = 18 classi</a:t>
            </a:r>
            <a:endParaRPr lang="en-US" sz="900" dirty="0"/>
          </a:p>
        </p:txBody>
      </p:sp>
      <p:sp>
        <p:nvSpPr>
          <p:cNvPr id="84" name="Shape 82"/>
          <p:cNvSpPr/>
          <p:nvPr/>
        </p:nvSpPr>
        <p:spPr>
          <a:xfrm>
            <a:off x="9619488" y="5102352"/>
            <a:ext cx="804672" cy="347472"/>
          </a:xfrm>
          <a:prstGeom prst="rect">
            <a:avLst/>
          </a:prstGeom>
          <a:solidFill>
            <a:srgbClr val="E9F5EE"/>
          </a:solidFill>
          <a:ln w="7620">
            <a:solidFill>
              <a:srgbClr val="D8E6DD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85" name="Text 83"/>
          <p:cNvSpPr/>
          <p:nvPr/>
        </p:nvSpPr>
        <p:spPr>
          <a:xfrm>
            <a:off x="9660636" y="5138928"/>
            <a:ext cx="7223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07D34"/>
                </a:solidFill>
              </a:rPr>
              <a:t>5</a:t>
            </a:r>
            <a:endParaRPr lang="en-US" sz="900" dirty="0"/>
          </a:p>
        </p:txBody>
      </p:sp>
      <p:sp>
        <p:nvSpPr>
          <p:cNvPr id="86" name="Shape 84"/>
          <p:cNvSpPr/>
          <p:nvPr/>
        </p:nvSpPr>
        <p:spPr>
          <a:xfrm>
            <a:off x="10424160" y="5102352"/>
            <a:ext cx="822960" cy="347472"/>
          </a:xfrm>
          <a:prstGeom prst="rect">
            <a:avLst/>
          </a:prstGeom>
          <a:solidFill>
            <a:srgbClr val="E9F5EE"/>
          </a:solidFill>
          <a:ln w="7620">
            <a:solidFill>
              <a:srgbClr val="D8E6DD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87" name="Text 85"/>
          <p:cNvSpPr/>
          <p:nvPr/>
        </p:nvSpPr>
        <p:spPr>
          <a:xfrm>
            <a:off x="10465308" y="5138928"/>
            <a:ext cx="7406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7D34"/>
                </a:solidFill>
              </a:rPr>
              <a:t>90</a:t>
            </a:r>
            <a:endParaRPr lang="en-US" sz="1000" dirty="0"/>
          </a:p>
        </p:txBody>
      </p:sp>
      <p:sp>
        <p:nvSpPr>
          <p:cNvPr id="88" name="Shape 86"/>
          <p:cNvSpPr/>
          <p:nvPr/>
        </p:nvSpPr>
        <p:spPr>
          <a:xfrm>
            <a:off x="658368" y="5504688"/>
            <a:ext cx="10771632" cy="201168"/>
          </a:xfrm>
          <a:prstGeom prst="roundRect">
            <a:avLst>
              <a:gd name="adj" fmla="val 13636"/>
            </a:avLst>
          </a:prstGeom>
          <a:solidFill>
            <a:srgbClr val="F4F6F4"/>
          </a:solidFill>
          <a:ln w="12700">
            <a:solidFill>
              <a:srgbClr val="E3E3E3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89" name="Text 87"/>
          <p:cNvSpPr/>
          <p:nvPr/>
        </p:nvSpPr>
        <p:spPr>
          <a:xfrm>
            <a:off x="768096" y="5524530"/>
            <a:ext cx="10479024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40" dirty="0">
                <a:solidFill>
                  <a:srgbClr val="5D6A62"/>
                </a:solidFill>
              </a:rPr>
              <a:t>Esempio di classe: medium + uniform + tight = 100 comunità, 30 siti, p=5, punti uniformi, capacità con fattore 1.05; da questa classe nascono 5 istanze con seed diversi.</a:t>
            </a:r>
            <a:endParaRPr lang="en-US" sz="740" dirty="0"/>
          </a:p>
        </p:txBody>
      </p:sp>
      <p:sp>
        <p:nvSpPr>
          <p:cNvPr id="90" name="Shape 88"/>
          <p:cNvSpPr/>
          <p:nvPr/>
        </p:nvSpPr>
        <p:spPr>
          <a:xfrm>
            <a:off x="658368" y="5797296"/>
            <a:ext cx="2926080" cy="621792"/>
          </a:xfrm>
          <a:prstGeom prst="roundRect">
            <a:avLst>
              <a:gd name="adj" fmla="val 9259"/>
            </a:avLst>
          </a:prstGeom>
          <a:solidFill>
            <a:srgbClr val="F6FBF8"/>
          </a:solidFill>
          <a:ln w="12700">
            <a:solidFill>
              <a:srgbClr val="BBD8C4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91" name="Text 89"/>
          <p:cNvSpPr/>
          <p:nvPr/>
        </p:nvSpPr>
        <p:spPr>
          <a:xfrm>
            <a:off x="768096" y="5819728"/>
            <a:ext cx="2706624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07D34"/>
                </a:solidFill>
              </a:rPr>
              <a:t>GARANZIA</a:t>
            </a:r>
            <a:endParaRPr lang="en-US" sz="900" dirty="0"/>
          </a:p>
        </p:txBody>
      </p:sp>
      <p:sp>
        <p:nvSpPr>
          <p:cNvPr id="92" name="Text 90"/>
          <p:cNvSpPr/>
          <p:nvPr/>
        </p:nvSpPr>
        <p:spPr>
          <a:xfrm>
            <a:off x="658368" y="5943600"/>
            <a:ext cx="2921594" cy="49170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5D6A62"/>
                </a:solidFill>
              </a:rPr>
              <a:t>Partizione nascosta su p siti anchor: assicura almeno una soluzione ammissibile.</a:t>
            </a:r>
            <a:endParaRPr lang="en-US" sz="1200" dirty="0"/>
          </a:p>
        </p:txBody>
      </p:sp>
      <p:sp>
        <p:nvSpPr>
          <p:cNvPr id="93" name="Shape 91"/>
          <p:cNvSpPr/>
          <p:nvPr/>
        </p:nvSpPr>
        <p:spPr>
          <a:xfrm>
            <a:off x="3767328" y="5797295"/>
            <a:ext cx="2926080" cy="621791"/>
          </a:xfrm>
          <a:prstGeom prst="roundRect">
            <a:avLst>
              <a:gd name="adj" fmla="val 9259"/>
            </a:avLst>
          </a:prstGeom>
          <a:solidFill>
            <a:srgbClr val="F6FBF8"/>
          </a:solidFill>
          <a:ln w="12700">
            <a:solidFill>
              <a:srgbClr val="BBD8C4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94" name="Text 92"/>
          <p:cNvSpPr/>
          <p:nvPr/>
        </p:nvSpPr>
        <p:spPr>
          <a:xfrm>
            <a:off x="3877056" y="5819728"/>
            <a:ext cx="2706624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07D34"/>
                </a:solidFill>
              </a:rPr>
              <a:t>RIPRODUCIBILITÀ</a:t>
            </a:r>
            <a:endParaRPr lang="en-US" sz="900" dirty="0"/>
          </a:p>
        </p:txBody>
      </p:sp>
      <p:sp>
        <p:nvSpPr>
          <p:cNvPr id="95" name="Text 93"/>
          <p:cNvSpPr/>
          <p:nvPr/>
        </p:nvSpPr>
        <p:spPr>
          <a:xfrm>
            <a:off x="3769743" y="5934974"/>
            <a:ext cx="2932981" cy="4140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5D6A62"/>
                </a:solidFill>
              </a:rPr>
              <a:t>Ogni istanza salva seed, classe, parametri e percorso JSON nel manifest.</a:t>
            </a:r>
            <a:endParaRPr lang="en-US" sz="1200" dirty="0"/>
          </a:p>
        </p:txBody>
      </p:sp>
      <p:sp>
        <p:nvSpPr>
          <p:cNvPr id="96" name="Shape 94"/>
          <p:cNvSpPr/>
          <p:nvPr/>
        </p:nvSpPr>
        <p:spPr>
          <a:xfrm>
            <a:off x="6876288" y="5797295"/>
            <a:ext cx="2926080" cy="621791"/>
          </a:xfrm>
          <a:prstGeom prst="roundRect">
            <a:avLst>
              <a:gd name="adj" fmla="val 9259"/>
            </a:avLst>
          </a:prstGeom>
          <a:solidFill>
            <a:srgbClr val="F6FBF8"/>
          </a:solidFill>
          <a:ln w="12700">
            <a:solidFill>
              <a:srgbClr val="BBD8C4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97" name="Text 95"/>
          <p:cNvSpPr/>
          <p:nvPr/>
        </p:nvSpPr>
        <p:spPr>
          <a:xfrm>
            <a:off x="6986016" y="5819728"/>
            <a:ext cx="2706624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07D34"/>
                </a:solidFill>
              </a:rPr>
              <a:t>FUORI BENCHMARK</a:t>
            </a:r>
            <a:endParaRPr lang="en-US" sz="900" dirty="0"/>
          </a:p>
        </p:txBody>
      </p:sp>
      <p:sp>
        <p:nvSpPr>
          <p:cNvPr id="98" name="Text 96"/>
          <p:cNvSpPr/>
          <p:nvPr/>
        </p:nvSpPr>
        <p:spPr>
          <a:xfrm>
            <a:off x="6892506" y="5943600"/>
            <a:ext cx="2907102" cy="47445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5D6A62"/>
                </a:solidFill>
              </a:rPr>
              <a:t>3 XXLarge da 1200 comunità, 300 siti e p=30 usate solo come stress test.</a:t>
            </a:r>
            <a:endParaRPr lang="en-US" sz="1200" dirty="0"/>
          </a:p>
        </p:txBody>
      </p:sp>
      <p:sp>
        <p:nvSpPr>
          <p:cNvPr id="99" name="Shape 97"/>
          <p:cNvSpPr/>
          <p:nvPr/>
        </p:nvSpPr>
        <p:spPr>
          <a:xfrm>
            <a:off x="9985248" y="5797296"/>
            <a:ext cx="1444752" cy="621792"/>
          </a:xfrm>
          <a:prstGeom prst="roundRect">
            <a:avLst>
              <a:gd name="adj" fmla="val 9259"/>
            </a:avLst>
          </a:prstGeom>
          <a:solidFill>
            <a:srgbClr val="F6FBF8"/>
          </a:solidFill>
          <a:ln w="12700">
            <a:solidFill>
              <a:srgbClr val="BBD8C4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00" name="Text 98"/>
          <p:cNvSpPr/>
          <p:nvPr/>
        </p:nvSpPr>
        <p:spPr>
          <a:xfrm>
            <a:off x="10094976" y="5819728"/>
            <a:ext cx="1225296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07D34"/>
                </a:solidFill>
              </a:rPr>
              <a:t>FORMATO</a:t>
            </a:r>
            <a:endParaRPr lang="en-US" sz="900" dirty="0"/>
          </a:p>
        </p:txBody>
      </p:sp>
      <p:sp>
        <p:nvSpPr>
          <p:cNvPr id="101" name="Text 99"/>
          <p:cNvSpPr/>
          <p:nvPr/>
        </p:nvSpPr>
        <p:spPr>
          <a:xfrm>
            <a:off x="10012680" y="5943600"/>
            <a:ext cx="1399032" cy="46582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5D6A62"/>
                </a:solidFill>
              </a:rPr>
              <a:t>File JSON per le istanze e manifest CSV per lanciare gli esperimenti.</a:t>
            </a:r>
            <a:endParaRPr lang="en-US" sz="1000" dirty="0"/>
          </a:p>
        </p:txBody>
      </p:sp>
      <p:sp>
        <p:nvSpPr>
          <p:cNvPr id="103" name="Text 101"/>
          <p:cNvSpPr/>
          <p:nvPr/>
        </p:nvSpPr>
        <p:spPr>
          <a:xfrm>
            <a:off x="7909560" y="6547104"/>
            <a:ext cx="34290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80" dirty="0">
                <a:solidFill>
                  <a:srgbClr val="7F7F7F"/>
                </a:solidFill>
              </a:rPr>
              <a:t>AMOD · CMMOFLP Nuclear Siting</a:t>
            </a:r>
            <a:endParaRPr lang="en-US" sz="780" dirty="0"/>
          </a:p>
        </p:txBody>
      </p:sp>
      <p:sp>
        <p:nvSpPr>
          <p:cNvPr id="104" name="Text 102"/>
          <p:cNvSpPr/>
          <p:nvPr/>
        </p:nvSpPr>
        <p:spPr>
          <a:xfrm>
            <a:off x="11686032" y="6537960"/>
            <a:ext cx="12801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7F7F7F"/>
                </a:solidFill>
              </a:rPr>
              <a:t>8</a:t>
            </a:r>
            <a:endParaRPr lang="en-US" sz="800" dirty="0"/>
          </a:p>
        </p:txBody>
      </p:sp>
    </p:spTree>
    <p:extLst>
      <p:ext uri="{BB962C8B-B14F-4D97-AF65-F5344CB8AC3E}">
        <p14:creationId xmlns:p14="http://schemas.microsoft.com/office/powerpoint/2010/main" val="291069025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1408176"/>
            <a:ext cx="6858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>
              <a:buNone/>
            </a:pPr>
            <a:r>
              <a:rPr lang="en-US" sz="3200" b="1" dirty="0">
                <a:solidFill>
                  <a:srgbClr val="007D34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Protocollo sperimentale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85800" y="1920240"/>
            <a:ext cx="9509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80" dirty="0">
                <a:solidFill>
                  <a:srgbClr val="7F7F7F"/>
                </a:solidFill>
              </a:rPr>
              <a:t>Abbiamo separato generazione, esecuzione e analisi per confrontare in modo riproducibile metodi esatti ed euristici.</a:t>
            </a:r>
            <a:endParaRPr lang="en-US" sz="1280" dirty="0"/>
          </a:p>
        </p:txBody>
      </p:sp>
      <p:sp>
        <p:nvSpPr>
          <p:cNvPr id="4" name="Shape 2"/>
          <p:cNvSpPr/>
          <p:nvPr/>
        </p:nvSpPr>
        <p:spPr>
          <a:xfrm>
            <a:off x="9902952" y="1307592"/>
            <a:ext cx="1508760" cy="301752"/>
          </a:xfrm>
          <a:prstGeom prst="roundRect">
            <a:avLst>
              <a:gd name="adj" fmla="val 18182"/>
            </a:avLst>
          </a:prstGeom>
          <a:solidFill>
            <a:srgbClr val="E9F5EE"/>
          </a:solidFill>
          <a:ln w="12700">
            <a:solidFill>
              <a:srgbClr val="E9F5EE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5" name="Text 3"/>
          <p:cNvSpPr/>
          <p:nvPr/>
        </p:nvSpPr>
        <p:spPr>
          <a:xfrm>
            <a:off x="9976104" y="1406104"/>
            <a:ext cx="1362456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20" b="1" dirty="0">
                <a:solidFill>
                  <a:srgbClr val="007D34"/>
                </a:solidFill>
              </a:rPr>
              <a:t>ESPERIMENTI</a:t>
            </a:r>
            <a:endParaRPr lang="en-US" sz="920" dirty="0"/>
          </a:p>
        </p:txBody>
      </p:sp>
      <p:sp>
        <p:nvSpPr>
          <p:cNvPr id="6" name="Shape 4"/>
          <p:cNvSpPr/>
          <p:nvPr/>
        </p:nvSpPr>
        <p:spPr>
          <a:xfrm>
            <a:off x="658368" y="2377440"/>
            <a:ext cx="4800600" cy="3145536"/>
          </a:xfrm>
          <a:prstGeom prst="roundRect">
            <a:avLst>
              <a:gd name="adj" fmla="val 2326"/>
            </a:avLst>
          </a:prstGeom>
          <a:solidFill>
            <a:srgbClr val="F6FBF8"/>
          </a:solidFill>
          <a:ln w="12700">
            <a:solidFill>
              <a:srgbClr val="BBD8C4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7" name="Text 5"/>
          <p:cNvSpPr/>
          <p:nvPr/>
        </p:nvSpPr>
        <p:spPr>
          <a:xfrm>
            <a:off x="877824" y="2615184"/>
            <a:ext cx="2468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40" b="1" dirty="0">
                <a:solidFill>
                  <a:srgbClr val="1F1F1F"/>
                </a:solidFill>
              </a:rPr>
              <a:t>Pipeline di valutazione</a:t>
            </a:r>
            <a:endParaRPr lang="en-US" sz="1440" dirty="0"/>
          </a:p>
        </p:txBody>
      </p:sp>
      <p:sp>
        <p:nvSpPr>
          <p:cNvPr id="8" name="Text 6"/>
          <p:cNvSpPr/>
          <p:nvPr/>
        </p:nvSpPr>
        <p:spPr>
          <a:xfrm>
            <a:off x="877824" y="2834640"/>
            <a:ext cx="39319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880" dirty="0">
                <a:solidFill>
                  <a:srgbClr val="5D6A62"/>
                </a:solidFill>
              </a:rPr>
              <a:t>Stesso input, stessi criteri, output aggregabili per classe.</a:t>
            </a:r>
            <a:endParaRPr lang="en-US" sz="880" dirty="0"/>
          </a:p>
        </p:txBody>
      </p:sp>
      <p:sp>
        <p:nvSpPr>
          <p:cNvPr id="9" name="Shape 7"/>
          <p:cNvSpPr/>
          <p:nvPr/>
        </p:nvSpPr>
        <p:spPr>
          <a:xfrm>
            <a:off x="1024128" y="3456432"/>
            <a:ext cx="0" cy="347472"/>
          </a:xfrm>
          <a:prstGeom prst="line">
            <a:avLst/>
          </a:prstGeom>
          <a:noFill/>
          <a:ln w="12700">
            <a:solidFill>
              <a:srgbClr val="BBD8C4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it-IT"/>
          </a:p>
        </p:txBody>
      </p:sp>
      <p:sp>
        <p:nvSpPr>
          <p:cNvPr id="10" name="Shape 8"/>
          <p:cNvSpPr/>
          <p:nvPr/>
        </p:nvSpPr>
        <p:spPr>
          <a:xfrm>
            <a:off x="1024128" y="4041648"/>
            <a:ext cx="0" cy="347472"/>
          </a:xfrm>
          <a:prstGeom prst="line">
            <a:avLst/>
          </a:prstGeom>
          <a:noFill/>
          <a:ln w="12700">
            <a:solidFill>
              <a:srgbClr val="BBD8C4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it-IT"/>
          </a:p>
        </p:txBody>
      </p:sp>
      <p:sp>
        <p:nvSpPr>
          <p:cNvPr id="11" name="Shape 9"/>
          <p:cNvSpPr/>
          <p:nvPr/>
        </p:nvSpPr>
        <p:spPr>
          <a:xfrm>
            <a:off x="1024128" y="4626864"/>
            <a:ext cx="0" cy="347472"/>
          </a:xfrm>
          <a:prstGeom prst="line">
            <a:avLst/>
          </a:prstGeom>
          <a:noFill/>
          <a:ln w="12700">
            <a:solidFill>
              <a:srgbClr val="BBD8C4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it-IT"/>
          </a:p>
        </p:txBody>
      </p:sp>
      <p:sp>
        <p:nvSpPr>
          <p:cNvPr id="12" name="Shape 10"/>
          <p:cNvSpPr/>
          <p:nvPr/>
        </p:nvSpPr>
        <p:spPr>
          <a:xfrm>
            <a:off x="877824" y="3182112"/>
            <a:ext cx="292608" cy="292608"/>
          </a:xfrm>
          <a:prstGeom prst="ellipse">
            <a:avLst/>
          </a:prstGeom>
          <a:solidFill>
            <a:srgbClr val="007D34"/>
          </a:solidFill>
          <a:ln w="12700">
            <a:solidFill>
              <a:srgbClr val="007D34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3" name="Text 11"/>
          <p:cNvSpPr/>
          <p:nvPr/>
        </p:nvSpPr>
        <p:spPr>
          <a:xfrm>
            <a:off x="969264" y="3280624"/>
            <a:ext cx="109728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40" b="1" dirty="0">
                <a:solidFill>
                  <a:srgbClr val="FFFFFF"/>
                </a:solidFill>
              </a:rPr>
              <a:t>1</a:t>
            </a:r>
            <a:endParaRPr lang="en-US" sz="840" dirty="0"/>
          </a:p>
        </p:txBody>
      </p:sp>
      <p:sp>
        <p:nvSpPr>
          <p:cNvPr id="14" name="Text 12"/>
          <p:cNvSpPr/>
          <p:nvPr/>
        </p:nvSpPr>
        <p:spPr>
          <a:xfrm>
            <a:off x="1307592" y="3154680"/>
            <a:ext cx="373075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1050" b="1" dirty="0">
                <a:solidFill>
                  <a:srgbClr val="007D34"/>
                </a:solidFill>
              </a:rPr>
              <a:t>Generazione istanze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1307592" y="3328416"/>
            <a:ext cx="37033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00" dirty="0">
                <a:solidFill>
                  <a:srgbClr val="5D6A62"/>
                </a:solidFill>
              </a:rPr>
              <a:t>90 istanze finali da manifest CSV: dimensione, distribuzione, capacità e seed.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877824" y="3767328"/>
            <a:ext cx="292608" cy="292608"/>
          </a:xfrm>
          <a:prstGeom prst="ellipse">
            <a:avLst/>
          </a:prstGeom>
          <a:solidFill>
            <a:srgbClr val="007D34"/>
          </a:solidFill>
          <a:ln w="12700">
            <a:solidFill>
              <a:srgbClr val="007D34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7" name="Text 15"/>
          <p:cNvSpPr/>
          <p:nvPr/>
        </p:nvSpPr>
        <p:spPr>
          <a:xfrm>
            <a:off x="969264" y="3865840"/>
            <a:ext cx="109728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40" b="1" dirty="0">
                <a:solidFill>
                  <a:srgbClr val="FFFFFF"/>
                </a:solidFill>
              </a:rPr>
              <a:t>2</a:t>
            </a:r>
            <a:endParaRPr lang="en-US" sz="840" dirty="0"/>
          </a:p>
        </p:txBody>
      </p:sp>
      <p:sp>
        <p:nvSpPr>
          <p:cNvPr id="18" name="Text 16"/>
          <p:cNvSpPr/>
          <p:nvPr/>
        </p:nvSpPr>
        <p:spPr>
          <a:xfrm>
            <a:off x="1307592" y="3739896"/>
            <a:ext cx="373075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1050" b="1" dirty="0">
                <a:solidFill>
                  <a:srgbClr val="007D34"/>
                </a:solidFill>
              </a:rPr>
              <a:t>Esecuzione metodi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1307592" y="3913632"/>
            <a:ext cx="37033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00" dirty="0">
                <a:solidFill>
                  <a:srgbClr val="5D6A62"/>
                </a:solidFill>
              </a:rPr>
              <a:t>Compact, Greedy, Greedy + 1-swap e GRASP-VND con parametri fissati.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877824" y="4352544"/>
            <a:ext cx="292608" cy="292608"/>
          </a:xfrm>
          <a:prstGeom prst="ellipse">
            <a:avLst/>
          </a:prstGeom>
          <a:solidFill>
            <a:srgbClr val="007D34"/>
          </a:solidFill>
          <a:ln w="12700">
            <a:solidFill>
              <a:srgbClr val="007D34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1" name="Text 19"/>
          <p:cNvSpPr/>
          <p:nvPr/>
        </p:nvSpPr>
        <p:spPr>
          <a:xfrm>
            <a:off x="969264" y="4451056"/>
            <a:ext cx="109728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40" b="1" dirty="0">
                <a:solidFill>
                  <a:srgbClr val="FFFFFF"/>
                </a:solidFill>
              </a:rPr>
              <a:t>3</a:t>
            </a:r>
            <a:endParaRPr lang="en-US" sz="840" dirty="0"/>
          </a:p>
        </p:txBody>
      </p:sp>
      <p:sp>
        <p:nvSpPr>
          <p:cNvPr id="22" name="Text 20"/>
          <p:cNvSpPr/>
          <p:nvPr/>
        </p:nvSpPr>
        <p:spPr>
          <a:xfrm>
            <a:off x="1307592" y="4325112"/>
            <a:ext cx="373075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1050" b="1" dirty="0">
                <a:solidFill>
                  <a:srgbClr val="007D34"/>
                </a:solidFill>
              </a:rPr>
              <a:t>Validazione risultati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1307592" y="4498848"/>
            <a:ext cx="37033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00" dirty="0">
                <a:solidFill>
                  <a:srgbClr val="5D6A62"/>
                </a:solidFill>
              </a:rPr>
              <a:t>Controllo ammissibilità, valore obiettivo, gap e motivi di arresto.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877824" y="4937760"/>
            <a:ext cx="292608" cy="292608"/>
          </a:xfrm>
          <a:prstGeom prst="ellipse">
            <a:avLst/>
          </a:prstGeom>
          <a:solidFill>
            <a:srgbClr val="007D34"/>
          </a:solidFill>
          <a:ln w="12700">
            <a:solidFill>
              <a:srgbClr val="007D34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5" name="Text 23"/>
          <p:cNvSpPr/>
          <p:nvPr/>
        </p:nvSpPr>
        <p:spPr>
          <a:xfrm>
            <a:off x="969264" y="5027646"/>
            <a:ext cx="109728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40" b="1" dirty="0">
                <a:solidFill>
                  <a:srgbClr val="FFFFFF"/>
                </a:solidFill>
              </a:rPr>
              <a:t>4</a:t>
            </a:r>
            <a:endParaRPr lang="en-US" sz="840" dirty="0"/>
          </a:p>
        </p:txBody>
      </p:sp>
      <p:sp>
        <p:nvSpPr>
          <p:cNvPr id="26" name="Text 24"/>
          <p:cNvSpPr/>
          <p:nvPr/>
        </p:nvSpPr>
        <p:spPr>
          <a:xfrm>
            <a:off x="1307592" y="4910328"/>
            <a:ext cx="373075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1050" b="1" dirty="0">
                <a:solidFill>
                  <a:srgbClr val="007D34"/>
                </a:solidFill>
              </a:rPr>
              <a:t>Aggregazione finale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1307592" y="5084064"/>
            <a:ext cx="37033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00" dirty="0">
                <a:solidFill>
                  <a:srgbClr val="5D6A62"/>
                </a:solidFill>
              </a:rPr>
              <a:t>Sintesi per metodo, dimensione, distribuzione, capacità, istanza e seed.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5705856" y="2377440"/>
            <a:ext cx="5833872" cy="3145536"/>
          </a:xfrm>
          <a:prstGeom prst="roundRect">
            <a:avLst>
              <a:gd name="adj" fmla="val 2326"/>
            </a:avLst>
          </a:prstGeom>
          <a:solidFill>
            <a:srgbClr val="FFFFFF"/>
          </a:solidFill>
          <a:ln w="12700">
            <a:solidFill>
              <a:srgbClr val="BBD8C4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9" name="Text 27"/>
          <p:cNvSpPr/>
          <p:nvPr/>
        </p:nvSpPr>
        <p:spPr>
          <a:xfrm>
            <a:off x="5925312" y="2615184"/>
            <a:ext cx="2926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40" b="1" dirty="0">
                <a:solidFill>
                  <a:srgbClr val="1F1F1F"/>
                </a:solidFill>
              </a:rPr>
              <a:t>Disegno sperimentale finale</a:t>
            </a:r>
            <a:endParaRPr lang="en-US" sz="1440" dirty="0"/>
          </a:p>
        </p:txBody>
      </p:sp>
      <p:sp>
        <p:nvSpPr>
          <p:cNvPr id="30" name="Text 28"/>
          <p:cNvSpPr/>
          <p:nvPr/>
        </p:nvSpPr>
        <p:spPr>
          <a:xfrm>
            <a:off x="5925312" y="2834640"/>
            <a:ext cx="41148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880" dirty="0">
                <a:solidFill>
                  <a:srgbClr val="5D6A62"/>
                </a:solidFill>
              </a:rPr>
              <a:t>Ogni metodo viene misurato con lo stesso insieme di istanze.</a:t>
            </a:r>
            <a:endParaRPr lang="en-US" sz="880" dirty="0"/>
          </a:p>
        </p:txBody>
      </p:sp>
      <p:sp>
        <p:nvSpPr>
          <p:cNvPr id="31" name="Shape 29"/>
          <p:cNvSpPr/>
          <p:nvPr/>
        </p:nvSpPr>
        <p:spPr>
          <a:xfrm>
            <a:off x="5925312" y="3099816"/>
            <a:ext cx="1280160" cy="320040"/>
          </a:xfrm>
          <a:prstGeom prst="rect">
            <a:avLst/>
          </a:prstGeom>
          <a:solidFill>
            <a:srgbClr val="007D34"/>
          </a:solidFill>
          <a:ln w="6985">
            <a:solidFill>
              <a:srgbClr val="D8E6DD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2" name="Text 30"/>
          <p:cNvSpPr/>
          <p:nvPr/>
        </p:nvSpPr>
        <p:spPr>
          <a:xfrm>
            <a:off x="5975604" y="3140964"/>
            <a:ext cx="11795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90" b="1" dirty="0">
                <a:solidFill>
                  <a:srgbClr val="FFFFFF"/>
                </a:solidFill>
              </a:rPr>
              <a:t>Metodo</a:t>
            </a:r>
            <a:endParaRPr lang="en-US" sz="790" dirty="0"/>
          </a:p>
        </p:txBody>
      </p:sp>
      <p:sp>
        <p:nvSpPr>
          <p:cNvPr id="33" name="Shape 31"/>
          <p:cNvSpPr/>
          <p:nvPr/>
        </p:nvSpPr>
        <p:spPr>
          <a:xfrm>
            <a:off x="7205472" y="3099816"/>
            <a:ext cx="1783080" cy="320040"/>
          </a:xfrm>
          <a:prstGeom prst="rect">
            <a:avLst/>
          </a:prstGeom>
          <a:solidFill>
            <a:srgbClr val="007D34"/>
          </a:solidFill>
          <a:ln w="6985">
            <a:solidFill>
              <a:srgbClr val="D8E6DD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4" name="Text 32"/>
          <p:cNvSpPr/>
          <p:nvPr/>
        </p:nvSpPr>
        <p:spPr>
          <a:xfrm>
            <a:off x="7255764" y="3140964"/>
            <a:ext cx="16824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90" b="1" dirty="0">
                <a:solidFill>
                  <a:srgbClr val="FFFFFF"/>
                </a:solidFill>
              </a:rPr>
              <a:t>Configurazione</a:t>
            </a:r>
            <a:endParaRPr lang="en-US" sz="790" dirty="0"/>
          </a:p>
        </p:txBody>
      </p:sp>
      <p:sp>
        <p:nvSpPr>
          <p:cNvPr id="35" name="Shape 33"/>
          <p:cNvSpPr/>
          <p:nvPr/>
        </p:nvSpPr>
        <p:spPr>
          <a:xfrm>
            <a:off x="8988552" y="3099816"/>
            <a:ext cx="1417320" cy="320040"/>
          </a:xfrm>
          <a:prstGeom prst="rect">
            <a:avLst/>
          </a:prstGeom>
          <a:solidFill>
            <a:srgbClr val="007D34"/>
          </a:solidFill>
          <a:ln w="6985">
            <a:solidFill>
              <a:srgbClr val="D8E6DD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6" name="Text 34"/>
          <p:cNvSpPr/>
          <p:nvPr/>
        </p:nvSpPr>
        <p:spPr>
          <a:xfrm>
            <a:off x="9038844" y="3140964"/>
            <a:ext cx="13167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90" b="1" dirty="0">
                <a:solidFill>
                  <a:srgbClr val="FFFFFF"/>
                </a:solidFill>
              </a:rPr>
              <a:t>Run</a:t>
            </a:r>
            <a:endParaRPr lang="en-US" sz="790" dirty="0"/>
          </a:p>
        </p:txBody>
      </p:sp>
      <p:sp>
        <p:nvSpPr>
          <p:cNvPr id="37" name="Shape 35"/>
          <p:cNvSpPr/>
          <p:nvPr/>
        </p:nvSpPr>
        <p:spPr>
          <a:xfrm>
            <a:off x="10405872" y="3099816"/>
            <a:ext cx="987552" cy="320040"/>
          </a:xfrm>
          <a:prstGeom prst="rect">
            <a:avLst/>
          </a:prstGeom>
          <a:solidFill>
            <a:srgbClr val="007D34"/>
          </a:solidFill>
          <a:ln w="6985">
            <a:solidFill>
              <a:srgbClr val="D8E6DD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8" name="Text 36"/>
          <p:cNvSpPr/>
          <p:nvPr/>
        </p:nvSpPr>
        <p:spPr>
          <a:xfrm>
            <a:off x="10456164" y="3140964"/>
            <a:ext cx="8869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90" b="1" dirty="0">
                <a:solidFill>
                  <a:srgbClr val="FFFFFF"/>
                </a:solidFill>
              </a:rPr>
              <a:t>Time limit</a:t>
            </a:r>
            <a:endParaRPr lang="en-US" sz="790" dirty="0"/>
          </a:p>
        </p:txBody>
      </p:sp>
      <p:sp>
        <p:nvSpPr>
          <p:cNvPr id="39" name="Shape 37"/>
          <p:cNvSpPr/>
          <p:nvPr/>
        </p:nvSpPr>
        <p:spPr>
          <a:xfrm>
            <a:off x="5925312" y="3419856"/>
            <a:ext cx="1280160" cy="411480"/>
          </a:xfrm>
          <a:prstGeom prst="rect">
            <a:avLst/>
          </a:prstGeom>
          <a:solidFill>
            <a:srgbClr val="FFFFFF"/>
          </a:solidFill>
          <a:ln w="6985">
            <a:solidFill>
              <a:srgbClr val="D8E6DD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40" name="Text 38"/>
          <p:cNvSpPr/>
          <p:nvPr/>
        </p:nvSpPr>
        <p:spPr>
          <a:xfrm>
            <a:off x="5975604" y="3461004"/>
            <a:ext cx="117957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60" b="1" dirty="0">
                <a:solidFill>
                  <a:srgbClr val="007D34"/>
                </a:solidFill>
              </a:rPr>
              <a:t>Greedy</a:t>
            </a:r>
            <a:endParaRPr lang="en-US" sz="860" dirty="0"/>
          </a:p>
        </p:txBody>
      </p:sp>
      <p:sp>
        <p:nvSpPr>
          <p:cNvPr id="41" name="Shape 39"/>
          <p:cNvSpPr/>
          <p:nvPr/>
        </p:nvSpPr>
        <p:spPr>
          <a:xfrm>
            <a:off x="7205472" y="3419856"/>
            <a:ext cx="1783080" cy="411480"/>
          </a:xfrm>
          <a:prstGeom prst="rect">
            <a:avLst/>
          </a:prstGeom>
          <a:solidFill>
            <a:srgbClr val="FFFFFF"/>
          </a:solidFill>
          <a:ln w="6985">
            <a:solidFill>
              <a:srgbClr val="D8E6DD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42" name="Text 40"/>
          <p:cNvSpPr/>
          <p:nvPr/>
        </p:nvSpPr>
        <p:spPr>
          <a:xfrm>
            <a:off x="7255764" y="3461004"/>
            <a:ext cx="168249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dirty="0">
                <a:solidFill>
                  <a:srgbClr val="1F1F1F"/>
                </a:solidFill>
              </a:rPr>
              <a:t>1 run per istanza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8988552" y="3419856"/>
            <a:ext cx="1417320" cy="411480"/>
          </a:xfrm>
          <a:prstGeom prst="rect">
            <a:avLst/>
          </a:prstGeom>
          <a:solidFill>
            <a:srgbClr val="FFFFFF"/>
          </a:solidFill>
          <a:ln w="6985">
            <a:solidFill>
              <a:srgbClr val="D8E6DD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44" name="Text 42"/>
          <p:cNvSpPr/>
          <p:nvPr/>
        </p:nvSpPr>
        <p:spPr>
          <a:xfrm>
            <a:off x="9038844" y="3461004"/>
            <a:ext cx="13167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60" b="1" dirty="0">
                <a:solidFill>
                  <a:srgbClr val="007D34"/>
                </a:solidFill>
              </a:rPr>
              <a:t>90</a:t>
            </a:r>
            <a:endParaRPr lang="en-US" sz="860" dirty="0"/>
          </a:p>
        </p:txBody>
      </p:sp>
      <p:sp>
        <p:nvSpPr>
          <p:cNvPr id="45" name="Shape 43"/>
          <p:cNvSpPr/>
          <p:nvPr/>
        </p:nvSpPr>
        <p:spPr>
          <a:xfrm>
            <a:off x="10405872" y="3419856"/>
            <a:ext cx="987552" cy="411480"/>
          </a:xfrm>
          <a:prstGeom prst="rect">
            <a:avLst/>
          </a:prstGeom>
          <a:solidFill>
            <a:srgbClr val="FFFFFF"/>
          </a:solidFill>
          <a:ln w="6985">
            <a:solidFill>
              <a:srgbClr val="D8E6DD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46" name="Text 44"/>
          <p:cNvSpPr/>
          <p:nvPr/>
        </p:nvSpPr>
        <p:spPr>
          <a:xfrm>
            <a:off x="10456164" y="3461004"/>
            <a:ext cx="8869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60" dirty="0">
                <a:solidFill>
                  <a:srgbClr val="1F1F1F"/>
                </a:solidFill>
              </a:rPr>
              <a:t>—</a:t>
            </a:r>
            <a:endParaRPr lang="en-US" sz="860" dirty="0"/>
          </a:p>
        </p:txBody>
      </p:sp>
      <p:sp>
        <p:nvSpPr>
          <p:cNvPr id="47" name="Shape 45"/>
          <p:cNvSpPr/>
          <p:nvPr/>
        </p:nvSpPr>
        <p:spPr>
          <a:xfrm>
            <a:off x="5925312" y="3831336"/>
            <a:ext cx="1280160" cy="411480"/>
          </a:xfrm>
          <a:prstGeom prst="rect">
            <a:avLst/>
          </a:prstGeom>
          <a:solidFill>
            <a:srgbClr val="FAFCFA"/>
          </a:solidFill>
          <a:ln w="6985">
            <a:solidFill>
              <a:srgbClr val="D8E6DD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48" name="Text 46"/>
          <p:cNvSpPr/>
          <p:nvPr/>
        </p:nvSpPr>
        <p:spPr>
          <a:xfrm>
            <a:off x="5975604" y="3872484"/>
            <a:ext cx="117957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60" b="1" dirty="0">
                <a:solidFill>
                  <a:srgbClr val="007D34"/>
                </a:solidFill>
              </a:rPr>
              <a:t>Greedy + 1-swap</a:t>
            </a:r>
            <a:endParaRPr lang="en-US" sz="860" dirty="0"/>
          </a:p>
        </p:txBody>
      </p:sp>
      <p:sp>
        <p:nvSpPr>
          <p:cNvPr id="49" name="Shape 47"/>
          <p:cNvSpPr/>
          <p:nvPr/>
        </p:nvSpPr>
        <p:spPr>
          <a:xfrm>
            <a:off x="7205472" y="3831336"/>
            <a:ext cx="1783080" cy="411480"/>
          </a:xfrm>
          <a:prstGeom prst="rect">
            <a:avLst/>
          </a:prstGeom>
          <a:solidFill>
            <a:srgbClr val="FAFCFA"/>
          </a:solidFill>
          <a:ln w="6985">
            <a:solidFill>
              <a:srgbClr val="D8E6DD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50" name="Text 48"/>
          <p:cNvSpPr/>
          <p:nvPr/>
        </p:nvSpPr>
        <p:spPr>
          <a:xfrm>
            <a:off x="7255764" y="3872484"/>
            <a:ext cx="168249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dirty="0">
                <a:solidFill>
                  <a:srgbClr val="1F1F1F"/>
                </a:solidFill>
              </a:rPr>
              <a:t>Greedy + ricerca locale</a:t>
            </a:r>
            <a:endParaRPr lang="en-US" sz="1100" dirty="0"/>
          </a:p>
        </p:txBody>
      </p:sp>
      <p:sp>
        <p:nvSpPr>
          <p:cNvPr id="51" name="Shape 49"/>
          <p:cNvSpPr/>
          <p:nvPr/>
        </p:nvSpPr>
        <p:spPr>
          <a:xfrm>
            <a:off x="8988552" y="3831336"/>
            <a:ext cx="1417320" cy="411480"/>
          </a:xfrm>
          <a:prstGeom prst="rect">
            <a:avLst/>
          </a:prstGeom>
          <a:solidFill>
            <a:srgbClr val="FAFCFA"/>
          </a:solidFill>
          <a:ln w="6985">
            <a:solidFill>
              <a:srgbClr val="D8E6DD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52" name="Text 50"/>
          <p:cNvSpPr/>
          <p:nvPr/>
        </p:nvSpPr>
        <p:spPr>
          <a:xfrm>
            <a:off x="9038844" y="3872484"/>
            <a:ext cx="13167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60" b="1" dirty="0">
                <a:solidFill>
                  <a:srgbClr val="007D34"/>
                </a:solidFill>
              </a:rPr>
              <a:t>90</a:t>
            </a:r>
            <a:endParaRPr lang="en-US" sz="860" dirty="0"/>
          </a:p>
        </p:txBody>
      </p:sp>
      <p:sp>
        <p:nvSpPr>
          <p:cNvPr id="53" name="Shape 51"/>
          <p:cNvSpPr/>
          <p:nvPr/>
        </p:nvSpPr>
        <p:spPr>
          <a:xfrm>
            <a:off x="10405872" y="3831336"/>
            <a:ext cx="987552" cy="411480"/>
          </a:xfrm>
          <a:prstGeom prst="rect">
            <a:avLst/>
          </a:prstGeom>
          <a:solidFill>
            <a:srgbClr val="FAFCFA"/>
          </a:solidFill>
          <a:ln w="6985">
            <a:solidFill>
              <a:srgbClr val="D8E6DD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54" name="Text 52"/>
          <p:cNvSpPr/>
          <p:nvPr/>
        </p:nvSpPr>
        <p:spPr>
          <a:xfrm>
            <a:off x="10456164" y="3872484"/>
            <a:ext cx="8869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60" dirty="0">
                <a:solidFill>
                  <a:srgbClr val="1F1F1F"/>
                </a:solidFill>
              </a:rPr>
              <a:t>—</a:t>
            </a:r>
            <a:endParaRPr lang="en-US" sz="860" dirty="0"/>
          </a:p>
        </p:txBody>
      </p:sp>
      <p:sp>
        <p:nvSpPr>
          <p:cNvPr id="55" name="Shape 53"/>
          <p:cNvSpPr/>
          <p:nvPr/>
        </p:nvSpPr>
        <p:spPr>
          <a:xfrm>
            <a:off x="5925312" y="4242816"/>
            <a:ext cx="1280160" cy="411480"/>
          </a:xfrm>
          <a:prstGeom prst="rect">
            <a:avLst/>
          </a:prstGeom>
          <a:solidFill>
            <a:srgbClr val="FFFFFF"/>
          </a:solidFill>
          <a:ln w="6985">
            <a:solidFill>
              <a:srgbClr val="D8E6DD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56" name="Text 54"/>
          <p:cNvSpPr/>
          <p:nvPr/>
        </p:nvSpPr>
        <p:spPr>
          <a:xfrm>
            <a:off x="5975604" y="4283964"/>
            <a:ext cx="117957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60" b="1" dirty="0">
                <a:solidFill>
                  <a:srgbClr val="007D34"/>
                </a:solidFill>
              </a:rPr>
              <a:t>GRASP-VND</a:t>
            </a:r>
            <a:endParaRPr lang="en-US" sz="860" dirty="0"/>
          </a:p>
        </p:txBody>
      </p:sp>
      <p:sp>
        <p:nvSpPr>
          <p:cNvPr id="57" name="Shape 55"/>
          <p:cNvSpPr/>
          <p:nvPr/>
        </p:nvSpPr>
        <p:spPr>
          <a:xfrm>
            <a:off x="7205472" y="4242816"/>
            <a:ext cx="1783080" cy="411480"/>
          </a:xfrm>
          <a:prstGeom prst="rect">
            <a:avLst/>
          </a:prstGeom>
          <a:solidFill>
            <a:srgbClr val="FFFFFF"/>
          </a:solidFill>
          <a:ln w="6985">
            <a:solidFill>
              <a:srgbClr val="D8E6DD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58" name="Text 56"/>
          <p:cNvSpPr/>
          <p:nvPr/>
        </p:nvSpPr>
        <p:spPr>
          <a:xfrm>
            <a:off x="7255764" y="4283964"/>
            <a:ext cx="168249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dirty="0">
                <a:solidFill>
                  <a:srgbClr val="1F1F1F"/>
                </a:solidFill>
              </a:rPr>
              <a:t>5 seed · max 100 start · </a:t>
            </a:r>
            <a:r>
              <a:rPr lang="en-US" sz="1100" dirty="0" err="1">
                <a:solidFill>
                  <a:srgbClr val="1F1F1F"/>
                </a:solidFill>
              </a:rPr>
              <a:t>stagnazione</a:t>
            </a:r>
            <a:r>
              <a:rPr lang="en-US" sz="1100" dirty="0">
                <a:solidFill>
                  <a:srgbClr val="1F1F1F"/>
                </a:solidFill>
              </a:rPr>
              <a:t> 20</a:t>
            </a:r>
            <a:endParaRPr lang="en-US" sz="1100" dirty="0"/>
          </a:p>
        </p:txBody>
      </p:sp>
      <p:sp>
        <p:nvSpPr>
          <p:cNvPr id="59" name="Shape 57"/>
          <p:cNvSpPr/>
          <p:nvPr/>
        </p:nvSpPr>
        <p:spPr>
          <a:xfrm>
            <a:off x="8988552" y="4242816"/>
            <a:ext cx="1417320" cy="411480"/>
          </a:xfrm>
          <a:prstGeom prst="rect">
            <a:avLst/>
          </a:prstGeom>
          <a:solidFill>
            <a:srgbClr val="FFFFFF"/>
          </a:solidFill>
          <a:ln w="6985">
            <a:solidFill>
              <a:srgbClr val="D8E6DD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60" name="Text 58"/>
          <p:cNvSpPr/>
          <p:nvPr/>
        </p:nvSpPr>
        <p:spPr>
          <a:xfrm>
            <a:off x="9038844" y="4283964"/>
            <a:ext cx="13167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60" b="1" dirty="0">
                <a:solidFill>
                  <a:srgbClr val="007D34"/>
                </a:solidFill>
              </a:rPr>
              <a:t>450</a:t>
            </a:r>
            <a:endParaRPr lang="en-US" sz="860" dirty="0"/>
          </a:p>
        </p:txBody>
      </p:sp>
      <p:sp>
        <p:nvSpPr>
          <p:cNvPr id="61" name="Shape 59"/>
          <p:cNvSpPr/>
          <p:nvPr/>
        </p:nvSpPr>
        <p:spPr>
          <a:xfrm>
            <a:off x="10405872" y="4242816"/>
            <a:ext cx="987552" cy="411480"/>
          </a:xfrm>
          <a:prstGeom prst="rect">
            <a:avLst/>
          </a:prstGeom>
          <a:solidFill>
            <a:srgbClr val="FFFFFF"/>
          </a:solidFill>
          <a:ln w="6985">
            <a:solidFill>
              <a:srgbClr val="D8E6DD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62" name="Text 60"/>
          <p:cNvSpPr/>
          <p:nvPr/>
        </p:nvSpPr>
        <p:spPr>
          <a:xfrm>
            <a:off x="10456164" y="4283964"/>
            <a:ext cx="8869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60" dirty="0">
                <a:solidFill>
                  <a:srgbClr val="1F1F1F"/>
                </a:solidFill>
              </a:rPr>
              <a:t>20 s per seed</a:t>
            </a:r>
            <a:endParaRPr lang="en-US" sz="860" dirty="0"/>
          </a:p>
        </p:txBody>
      </p:sp>
      <p:sp>
        <p:nvSpPr>
          <p:cNvPr id="63" name="Shape 61"/>
          <p:cNvSpPr/>
          <p:nvPr/>
        </p:nvSpPr>
        <p:spPr>
          <a:xfrm>
            <a:off x="5925312" y="4654296"/>
            <a:ext cx="1280160" cy="411480"/>
          </a:xfrm>
          <a:prstGeom prst="rect">
            <a:avLst/>
          </a:prstGeom>
          <a:solidFill>
            <a:srgbClr val="FAFCFA"/>
          </a:solidFill>
          <a:ln w="6985">
            <a:solidFill>
              <a:srgbClr val="D8E6DD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64" name="Text 62"/>
          <p:cNvSpPr/>
          <p:nvPr/>
        </p:nvSpPr>
        <p:spPr>
          <a:xfrm>
            <a:off x="5975604" y="4695444"/>
            <a:ext cx="117957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60" b="1" dirty="0">
                <a:solidFill>
                  <a:srgbClr val="007D34"/>
                </a:solidFill>
              </a:rPr>
              <a:t>Compact</a:t>
            </a:r>
            <a:endParaRPr lang="en-US" sz="860" dirty="0"/>
          </a:p>
        </p:txBody>
      </p:sp>
      <p:sp>
        <p:nvSpPr>
          <p:cNvPr id="65" name="Shape 63"/>
          <p:cNvSpPr/>
          <p:nvPr/>
        </p:nvSpPr>
        <p:spPr>
          <a:xfrm>
            <a:off x="7205472" y="4654296"/>
            <a:ext cx="1783080" cy="411480"/>
          </a:xfrm>
          <a:prstGeom prst="rect">
            <a:avLst/>
          </a:prstGeom>
          <a:solidFill>
            <a:srgbClr val="FAFCFA"/>
          </a:solidFill>
          <a:ln w="6985">
            <a:solidFill>
              <a:srgbClr val="D8E6DD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66" name="Text 64"/>
          <p:cNvSpPr/>
          <p:nvPr/>
        </p:nvSpPr>
        <p:spPr>
          <a:xfrm>
            <a:off x="7255764" y="4695444"/>
            <a:ext cx="168249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it-IT" sz="1100" dirty="0">
                <a:solidFill>
                  <a:srgbClr val="1F1F1F"/>
                </a:solidFill>
              </a:rPr>
              <a:t>1 esecuzione esatta per istanza</a:t>
            </a:r>
            <a:endParaRPr lang="en-US" sz="1100" dirty="0"/>
          </a:p>
        </p:txBody>
      </p:sp>
      <p:sp>
        <p:nvSpPr>
          <p:cNvPr id="67" name="Shape 65"/>
          <p:cNvSpPr/>
          <p:nvPr/>
        </p:nvSpPr>
        <p:spPr>
          <a:xfrm>
            <a:off x="8988552" y="4654296"/>
            <a:ext cx="1417320" cy="411480"/>
          </a:xfrm>
          <a:prstGeom prst="rect">
            <a:avLst/>
          </a:prstGeom>
          <a:solidFill>
            <a:srgbClr val="FAFCFA"/>
          </a:solidFill>
          <a:ln w="6985">
            <a:solidFill>
              <a:srgbClr val="D8E6DD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68" name="Text 66"/>
          <p:cNvSpPr/>
          <p:nvPr/>
        </p:nvSpPr>
        <p:spPr>
          <a:xfrm>
            <a:off x="9038844" y="4695444"/>
            <a:ext cx="13167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60" b="1" dirty="0">
                <a:solidFill>
                  <a:srgbClr val="007D34"/>
                </a:solidFill>
              </a:rPr>
              <a:t>90</a:t>
            </a:r>
            <a:endParaRPr lang="en-US" sz="860" dirty="0"/>
          </a:p>
        </p:txBody>
      </p:sp>
      <p:sp>
        <p:nvSpPr>
          <p:cNvPr id="69" name="Shape 67"/>
          <p:cNvSpPr/>
          <p:nvPr/>
        </p:nvSpPr>
        <p:spPr>
          <a:xfrm>
            <a:off x="10405872" y="4654296"/>
            <a:ext cx="987552" cy="411480"/>
          </a:xfrm>
          <a:prstGeom prst="rect">
            <a:avLst/>
          </a:prstGeom>
          <a:solidFill>
            <a:srgbClr val="FAFCFA"/>
          </a:solidFill>
          <a:ln w="6985">
            <a:solidFill>
              <a:srgbClr val="D8E6DD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70" name="Text 68"/>
          <p:cNvSpPr/>
          <p:nvPr/>
        </p:nvSpPr>
        <p:spPr>
          <a:xfrm>
            <a:off x="10456164" y="4695444"/>
            <a:ext cx="8869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60" dirty="0">
                <a:solidFill>
                  <a:srgbClr val="1F1F1F"/>
                </a:solidFill>
              </a:rPr>
              <a:t>60 s</a:t>
            </a:r>
            <a:endParaRPr lang="en-US" sz="860" dirty="0"/>
          </a:p>
        </p:txBody>
      </p:sp>
      <p:sp>
        <p:nvSpPr>
          <p:cNvPr id="71" name="Shape 69"/>
          <p:cNvSpPr/>
          <p:nvPr/>
        </p:nvSpPr>
        <p:spPr>
          <a:xfrm>
            <a:off x="5925312" y="5074920"/>
            <a:ext cx="5468112" cy="256032"/>
          </a:xfrm>
          <a:prstGeom prst="roundRect">
            <a:avLst>
              <a:gd name="adj" fmla="val 14286"/>
            </a:avLst>
          </a:prstGeom>
          <a:solidFill>
            <a:srgbClr val="E9F5EE"/>
          </a:solidFill>
          <a:ln w="12700">
            <a:solidFill>
              <a:srgbClr val="BBD8C4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72" name="Text 70"/>
          <p:cNvSpPr/>
          <p:nvPr/>
        </p:nvSpPr>
        <p:spPr>
          <a:xfrm>
            <a:off x="6016752" y="5165324"/>
            <a:ext cx="5285232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20000"/>
          </a:bodyPr>
          <a:lstStyle/>
          <a:p>
            <a:pPr marL="0" indent="0" algn="ctr">
              <a:buNone/>
            </a:pPr>
            <a:r>
              <a:rPr lang="en-US" sz="810" b="1" dirty="0">
                <a:solidFill>
                  <a:srgbClr val="007D34"/>
                </a:solidFill>
              </a:rPr>
              <a:t>Semi GRASP-VND: 42 · 123 · 2026 · 31415 · 98765</a:t>
            </a:r>
            <a:endParaRPr lang="en-US" sz="810" dirty="0"/>
          </a:p>
        </p:txBody>
      </p:sp>
      <p:sp>
        <p:nvSpPr>
          <p:cNvPr id="73" name="Shape 71"/>
          <p:cNvSpPr/>
          <p:nvPr/>
        </p:nvSpPr>
        <p:spPr>
          <a:xfrm>
            <a:off x="658368" y="5678424"/>
            <a:ext cx="10881360" cy="658368"/>
          </a:xfrm>
          <a:prstGeom prst="roundRect">
            <a:avLst>
              <a:gd name="adj" fmla="val 8333"/>
            </a:avLst>
          </a:prstGeom>
          <a:solidFill>
            <a:srgbClr val="F4F6F4"/>
          </a:solidFill>
          <a:ln w="12700">
            <a:solidFill>
              <a:srgbClr val="E3E3E3">
                <a:alpha val="8500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74" name="Text 72"/>
          <p:cNvSpPr/>
          <p:nvPr/>
        </p:nvSpPr>
        <p:spPr>
          <a:xfrm>
            <a:off x="868680" y="5852160"/>
            <a:ext cx="13258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20" b="1" dirty="0">
                <a:solidFill>
                  <a:srgbClr val="1F1F1F"/>
                </a:solidFill>
              </a:rPr>
              <a:t>Indicatori letti</a:t>
            </a:r>
            <a:endParaRPr lang="en-US" sz="1120" dirty="0"/>
          </a:p>
        </p:txBody>
      </p:sp>
      <p:sp>
        <p:nvSpPr>
          <p:cNvPr id="75" name="Shape 73"/>
          <p:cNvSpPr/>
          <p:nvPr/>
        </p:nvSpPr>
        <p:spPr>
          <a:xfrm>
            <a:off x="2468880" y="5687568"/>
            <a:ext cx="1024128" cy="640080"/>
          </a:xfrm>
          <a:prstGeom prst="roundRect">
            <a:avLst>
              <a:gd name="adj" fmla="val 7143"/>
            </a:avLst>
          </a:prstGeom>
          <a:solidFill>
            <a:srgbClr val="F6FBF8"/>
          </a:solidFill>
          <a:ln w="12700">
            <a:solidFill>
              <a:srgbClr val="BBD8C4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76" name="Text 74"/>
          <p:cNvSpPr/>
          <p:nvPr/>
        </p:nvSpPr>
        <p:spPr>
          <a:xfrm>
            <a:off x="2523744" y="5779008"/>
            <a:ext cx="91440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07D34"/>
                </a:solidFill>
              </a:rPr>
              <a:t>✓</a:t>
            </a:r>
            <a:endParaRPr lang="en-US" sz="1600" dirty="0"/>
          </a:p>
        </p:txBody>
      </p:sp>
      <p:sp>
        <p:nvSpPr>
          <p:cNvPr id="77" name="Text 75"/>
          <p:cNvSpPr/>
          <p:nvPr/>
        </p:nvSpPr>
        <p:spPr>
          <a:xfrm>
            <a:off x="2542032" y="6053328"/>
            <a:ext cx="87782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80" dirty="0">
                <a:solidFill>
                  <a:srgbClr val="5D6A62"/>
                </a:solidFill>
              </a:rPr>
              <a:t>fattibilità</a:t>
            </a:r>
            <a:endParaRPr lang="en-US" sz="780" dirty="0"/>
          </a:p>
        </p:txBody>
      </p:sp>
      <p:sp>
        <p:nvSpPr>
          <p:cNvPr id="78" name="Shape 76"/>
          <p:cNvSpPr/>
          <p:nvPr/>
        </p:nvSpPr>
        <p:spPr>
          <a:xfrm>
            <a:off x="3639312" y="5687568"/>
            <a:ext cx="1188720" cy="640080"/>
          </a:xfrm>
          <a:prstGeom prst="roundRect">
            <a:avLst>
              <a:gd name="adj" fmla="val 7143"/>
            </a:avLst>
          </a:prstGeom>
          <a:solidFill>
            <a:srgbClr val="F6FBF8"/>
          </a:solidFill>
          <a:ln w="12700">
            <a:solidFill>
              <a:srgbClr val="BBD8C4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79" name="Text 77"/>
          <p:cNvSpPr/>
          <p:nvPr/>
        </p:nvSpPr>
        <p:spPr>
          <a:xfrm>
            <a:off x="3694176" y="5779008"/>
            <a:ext cx="1078992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07D34"/>
                </a:solidFill>
              </a:rPr>
              <a:t>z</a:t>
            </a:r>
            <a:endParaRPr lang="en-US" sz="1600" dirty="0"/>
          </a:p>
        </p:txBody>
      </p:sp>
      <p:sp>
        <p:nvSpPr>
          <p:cNvPr id="80" name="Text 78"/>
          <p:cNvSpPr/>
          <p:nvPr/>
        </p:nvSpPr>
        <p:spPr>
          <a:xfrm>
            <a:off x="3712464" y="6053328"/>
            <a:ext cx="10424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80" dirty="0">
                <a:solidFill>
                  <a:srgbClr val="5D6A62"/>
                </a:solidFill>
              </a:rPr>
              <a:t>qualità soluzione</a:t>
            </a:r>
            <a:endParaRPr lang="en-US" sz="780" dirty="0"/>
          </a:p>
        </p:txBody>
      </p:sp>
      <p:sp>
        <p:nvSpPr>
          <p:cNvPr id="81" name="Shape 79"/>
          <p:cNvSpPr/>
          <p:nvPr/>
        </p:nvSpPr>
        <p:spPr>
          <a:xfrm>
            <a:off x="4974336" y="5687568"/>
            <a:ext cx="1417320" cy="640080"/>
          </a:xfrm>
          <a:prstGeom prst="roundRect">
            <a:avLst>
              <a:gd name="adj" fmla="val 7143"/>
            </a:avLst>
          </a:prstGeom>
          <a:solidFill>
            <a:srgbClr val="F6FBF8"/>
          </a:solidFill>
          <a:ln w="12700">
            <a:solidFill>
              <a:srgbClr val="BBD8C4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82" name="Text 80"/>
          <p:cNvSpPr/>
          <p:nvPr/>
        </p:nvSpPr>
        <p:spPr>
          <a:xfrm>
            <a:off x="5029200" y="5779008"/>
            <a:ext cx="1307592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07D34"/>
                </a:solidFill>
              </a:rPr>
              <a:t>gap</a:t>
            </a:r>
            <a:endParaRPr lang="en-US" sz="1600" dirty="0"/>
          </a:p>
        </p:txBody>
      </p:sp>
      <p:sp>
        <p:nvSpPr>
          <p:cNvPr id="83" name="Text 81"/>
          <p:cNvSpPr/>
          <p:nvPr/>
        </p:nvSpPr>
        <p:spPr>
          <a:xfrm>
            <a:off x="5047488" y="6053328"/>
            <a:ext cx="12710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80" dirty="0">
                <a:solidFill>
                  <a:srgbClr val="5D6A62"/>
                </a:solidFill>
              </a:rPr>
              <a:t>scarto dall’ottimo noto</a:t>
            </a:r>
            <a:endParaRPr lang="en-US" sz="780" dirty="0"/>
          </a:p>
        </p:txBody>
      </p:sp>
      <p:sp>
        <p:nvSpPr>
          <p:cNvPr id="84" name="Shape 82"/>
          <p:cNvSpPr/>
          <p:nvPr/>
        </p:nvSpPr>
        <p:spPr>
          <a:xfrm>
            <a:off x="6547104" y="5687568"/>
            <a:ext cx="1463040" cy="640080"/>
          </a:xfrm>
          <a:prstGeom prst="roundRect">
            <a:avLst>
              <a:gd name="adj" fmla="val 7143"/>
            </a:avLst>
          </a:prstGeom>
          <a:solidFill>
            <a:srgbClr val="F6FBF8"/>
          </a:solidFill>
          <a:ln w="12700">
            <a:solidFill>
              <a:srgbClr val="BBD8C4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85" name="Text 83"/>
          <p:cNvSpPr/>
          <p:nvPr/>
        </p:nvSpPr>
        <p:spPr>
          <a:xfrm>
            <a:off x="6601968" y="5779008"/>
            <a:ext cx="1353312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07D34"/>
                </a:solidFill>
              </a:rPr>
              <a:t>t</a:t>
            </a:r>
            <a:endParaRPr lang="en-US" sz="1600" dirty="0"/>
          </a:p>
        </p:txBody>
      </p:sp>
      <p:sp>
        <p:nvSpPr>
          <p:cNvPr id="86" name="Text 84"/>
          <p:cNvSpPr/>
          <p:nvPr/>
        </p:nvSpPr>
        <p:spPr>
          <a:xfrm>
            <a:off x="6620256" y="6053328"/>
            <a:ext cx="131673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80" dirty="0">
                <a:solidFill>
                  <a:srgbClr val="5D6A62"/>
                </a:solidFill>
              </a:rPr>
              <a:t>runtime / time-to-best</a:t>
            </a:r>
            <a:endParaRPr lang="en-US" sz="780" dirty="0"/>
          </a:p>
        </p:txBody>
      </p:sp>
      <p:sp>
        <p:nvSpPr>
          <p:cNvPr id="87" name="Shape 85"/>
          <p:cNvSpPr/>
          <p:nvPr/>
        </p:nvSpPr>
        <p:spPr>
          <a:xfrm>
            <a:off x="8156448" y="5687568"/>
            <a:ext cx="1261872" cy="640080"/>
          </a:xfrm>
          <a:prstGeom prst="roundRect">
            <a:avLst>
              <a:gd name="adj" fmla="val 7143"/>
            </a:avLst>
          </a:prstGeom>
          <a:solidFill>
            <a:srgbClr val="F6FBF8"/>
          </a:solidFill>
          <a:ln w="12700">
            <a:solidFill>
              <a:srgbClr val="BBD8C4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88" name="Text 86"/>
          <p:cNvSpPr/>
          <p:nvPr/>
        </p:nvSpPr>
        <p:spPr>
          <a:xfrm>
            <a:off x="8211312" y="5779008"/>
            <a:ext cx="1152144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07D34"/>
                </a:solidFill>
              </a:rPr>
              <a:t>stop</a:t>
            </a:r>
            <a:endParaRPr lang="en-US" sz="1600" dirty="0"/>
          </a:p>
        </p:txBody>
      </p:sp>
      <p:sp>
        <p:nvSpPr>
          <p:cNvPr id="89" name="Text 87"/>
          <p:cNvSpPr/>
          <p:nvPr/>
        </p:nvSpPr>
        <p:spPr>
          <a:xfrm>
            <a:off x="8229600" y="6053328"/>
            <a:ext cx="11155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80" dirty="0">
                <a:solidFill>
                  <a:srgbClr val="5D6A62"/>
                </a:solidFill>
              </a:rPr>
              <a:t>motivo di arresto</a:t>
            </a:r>
            <a:endParaRPr lang="en-US" sz="780" dirty="0"/>
          </a:p>
        </p:txBody>
      </p:sp>
      <p:sp>
        <p:nvSpPr>
          <p:cNvPr id="90" name="Shape 88"/>
          <p:cNvSpPr/>
          <p:nvPr/>
        </p:nvSpPr>
        <p:spPr>
          <a:xfrm>
            <a:off x="9564624" y="5687568"/>
            <a:ext cx="1389888" cy="640080"/>
          </a:xfrm>
          <a:prstGeom prst="roundRect">
            <a:avLst>
              <a:gd name="adj" fmla="val 7143"/>
            </a:avLst>
          </a:prstGeom>
          <a:solidFill>
            <a:srgbClr val="F6FBF8"/>
          </a:solidFill>
          <a:ln w="12700">
            <a:solidFill>
              <a:srgbClr val="BBD8C4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91" name="Text 89"/>
          <p:cNvSpPr/>
          <p:nvPr/>
        </p:nvSpPr>
        <p:spPr>
          <a:xfrm>
            <a:off x="9619488" y="5779008"/>
            <a:ext cx="128016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07D34"/>
                </a:solidFill>
              </a:rPr>
              <a:t>seed</a:t>
            </a:r>
            <a:endParaRPr lang="en-US" sz="1600" dirty="0"/>
          </a:p>
        </p:txBody>
      </p:sp>
      <p:sp>
        <p:nvSpPr>
          <p:cNvPr id="92" name="Text 90"/>
          <p:cNvSpPr/>
          <p:nvPr/>
        </p:nvSpPr>
        <p:spPr>
          <a:xfrm>
            <a:off x="9637776" y="6053328"/>
            <a:ext cx="12435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80" dirty="0">
                <a:solidFill>
                  <a:srgbClr val="5D6A62"/>
                </a:solidFill>
              </a:rPr>
              <a:t>robustezza multi-run</a:t>
            </a:r>
            <a:endParaRPr lang="en-US" sz="780" dirty="0"/>
          </a:p>
        </p:txBody>
      </p:sp>
      <p:sp>
        <p:nvSpPr>
          <p:cNvPr id="94" name="Text 92"/>
          <p:cNvSpPr/>
          <p:nvPr/>
        </p:nvSpPr>
        <p:spPr>
          <a:xfrm>
            <a:off x="7909560" y="6547104"/>
            <a:ext cx="34290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80" dirty="0">
                <a:solidFill>
                  <a:srgbClr val="7F7F7F"/>
                </a:solidFill>
              </a:rPr>
              <a:t>AMOD · CMMOFLP Nuclear Siting</a:t>
            </a:r>
            <a:endParaRPr lang="en-US" sz="780" dirty="0"/>
          </a:p>
        </p:txBody>
      </p:sp>
      <p:sp>
        <p:nvSpPr>
          <p:cNvPr id="95" name="Text 93"/>
          <p:cNvSpPr/>
          <p:nvPr/>
        </p:nvSpPr>
        <p:spPr>
          <a:xfrm>
            <a:off x="11686032" y="6537960"/>
            <a:ext cx="12801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7F7F7F"/>
                </a:solidFill>
              </a:rPr>
              <a:t>9</a:t>
            </a:r>
            <a:endParaRPr lang="en-US" sz="800" dirty="0"/>
          </a:p>
        </p:txBody>
      </p:sp>
    </p:spTree>
    <p:extLst>
      <p:ext uri="{BB962C8B-B14F-4D97-AF65-F5344CB8AC3E}">
        <p14:creationId xmlns:p14="http://schemas.microsoft.com/office/powerpoint/2010/main" val="122168737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89720" y="164592"/>
            <a:ext cx="2514600" cy="530352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411480" y="1179576"/>
            <a:ext cx="4480560" cy="54864"/>
          </a:xfrm>
          <a:prstGeom prst="rect">
            <a:avLst/>
          </a:prstGeom>
          <a:solidFill>
            <a:srgbClr val="007D34"/>
          </a:solidFill>
          <a:ln>
            <a:solidFill>
              <a:srgbClr val="007D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85800" y="832104"/>
            <a:ext cx="5760720" cy="10972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860" b="0">
                <a:solidFill>
                  <a:srgbClr val="7F7F7F"/>
                </a:solidFill>
                <a:latin typeface="Aptos"/>
              </a:rPr>
              <a:t>Messaggio chiave: il modello esatto certifica quasi tutto; GRASP-VND ottiene soluzioni robuste e competitive.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408176"/>
            <a:ext cx="6217920" cy="42062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3200" b="1">
                <a:solidFill>
                  <a:srgbClr val="007D34"/>
                </a:solidFill>
                <a:latin typeface="Aptos"/>
              </a:rPr>
              <a:t>Risultati principali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901952"/>
            <a:ext cx="850392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1280" b="0">
                <a:solidFill>
                  <a:srgbClr val="7F7F7F"/>
                </a:solidFill>
                <a:latin typeface="Aptos"/>
              </a:rPr>
              <a:t>Confronto finale tra metodi esatti, baseline e GRASP-VND sulle 90 istanze del benchmark.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802368" y="1307592"/>
            <a:ext cx="1719072" cy="310896"/>
          </a:xfrm>
          <a:prstGeom prst="roundRect">
            <a:avLst>
              <a:gd name="adj" fmla="val 5000"/>
            </a:avLst>
          </a:prstGeom>
          <a:solidFill>
            <a:srgbClr val="E9F5EE"/>
          </a:solidFill>
          <a:ln w="10160">
            <a:solidFill>
              <a:srgbClr val="E9F5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875520" y="1411950"/>
            <a:ext cx="1572768" cy="11887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919" b="1" dirty="0">
                <a:solidFill>
                  <a:srgbClr val="007D34"/>
                </a:solidFill>
                <a:latin typeface="Aptos"/>
              </a:rPr>
              <a:t>BENCHMARK FINALE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" y="2267712"/>
            <a:ext cx="10872216" cy="713232"/>
          </a:xfrm>
          <a:prstGeom prst="roundRect">
            <a:avLst>
              <a:gd name="adj" fmla="val 5000"/>
            </a:avLst>
          </a:prstGeom>
          <a:solidFill>
            <a:srgbClr val="F5F6F4"/>
          </a:solidFill>
          <a:ln w="10160">
            <a:solidFill>
              <a:srgbClr val="E3E3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96112" y="2487168"/>
            <a:ext cx="822960" cy="14630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1180" b="1">
                <a:solidFill>
                  <a:srgbClr val="1F1F1F"/>
                </a:solidFill>
                <a:latin typeface="Aptos"/>
              </a:rPr>
              <a:t>Sintesi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965960" y="2377440"/>
            <a:ext cx="9144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900" b="1">
                <a:solidFill>
                  <a:srgbClr val="007D34"/>
                </a:solidFill>
                <a:latin typeface="Aptos"/>
              </a:rPr>
              <a:t>90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984248" y="2679192"/>
            <a:ext cx="877824" cy="28346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869" b="0">
                <a:solidFill>
                  <a:srgbClr val="5D6A62"/>
                </a:solidFill>
                <a:latin typeface="Aptos"/>
              </a:rPr>
              <a:t>istanze finali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310128" y="2377440"/>
            <a:ext cx="123444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900" b="1">
                <a:solidFill>
                  <a:srgbClr val="007D34"/>
                </a:solidFill>
                <a:latin typeface="Aptos"/>
              </a:rPr>
              <a:t>89/90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328416" y="2679192"/>
            <a:ext cx="1197864" cy="28346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869" b="0">
                <a:solidFill>
                  <a:srgbClr val="5D6A62"/>
                </a:solidFill>
                <a:latin typeface="Aptos"/>
              </a:rPr>
              <a:t>ottimi certificati Compact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47488" y="2377440"/>
            <a:ext cx="146304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900" b="1">
                <a:solidFill>
                  <a:srgbClr val="007D34"/>
                </a:solidFill>
                <a:latin typeface="Aptos"/>
              </a:rPr>
              <a:t>85/89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65775" y="2679192"/>
            <a:ext cx="1426464" cy="28346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869" b="0">
                <a:solidFill>
                  <a:srgbClr val="5D6A62"/>
                </a:solidFill>
                <a:latin typeface="Aptos"/>
              </a:rPr>
              <a:t>ottimi GRASP-VND best-of-5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086600" y="2377440"/>
            <a:ext cx="155448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900" b="1">
                <a:solidFill>
                  <a:srgbClr val="007D34"/>
                </a:solidFill>
                <a:latin typeface="Aptos"/>
              </a:rPr>
              <a:t>449/450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104888" y="2679192"/>
            <a:ext cx="1517904" cy="28346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869" b="0">
                <a:solidFill>
                  <a:srgbClr val="5D6A62"/>
                </a:solidFill>
                <a:latin typeface="Aptos"/>
              </a:rPr>
              <a:t>run GRASP-VND ammissibili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253728" y="2377440"/>
            <a:ext cx="109728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900" b="1">
                <a:solidFill>
                  <a:srgbClr val="007D34"/>
                </a:solidFill>
                <a:latin typeface="Aptos"/>
              </a:rPr>
              <a:t>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272015" y="2679192"/>
            <a:ext cx="1060704" cy="28346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869" b="0">
                <a:solidFill>
                  <a:srgbClr val="5D6A62"/>
                </a:solidFill>
                <a:latin typeface="Aptos"/>
              </a:rPr>
              <a:t>errori software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13232" y="3227832"/>
            <a:ext cx="2194560" cy="16459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1300" b="1">
                <a:solidFill>
                  <a:srgbClr val="1F1F1F"/>
                </a:solidFill>
                <a:latin typeface="Aptos"/>
              </a:rPr>
              <a:t>Confronto dei metodi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13232" y="3502152"/>
            <a:ext cx="2148840" cy="329184"/>
          </a:xfrm>
          <a:prstGeom prst="roundRect">
            <a:avLst>
              <a:gd name="adj" fmla="val 5000"/>
            </a:avLst>
          </a:prstGeom>
          <a:solidFill>
            <a:srgbClr val="E9F5EE"/>
          </a:solidFill>
          <a:ln w="10160">
            <a:solidFill>
              <a:srgbClr val="E9F5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768096" y="3593592"/>
            <a:ext cx="2039112" cy="10972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850" b="1">
                <a:solidFill>
                  <a:srgbClr val="007D34"/>
                </a:solidFill>
                <a:latin typeface="Aptos"/>
              </a:rPr>
              <a:t>Metodo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2898648" y="3502152"/>
            <a:ext cx="1417320" cy="329184"/>
          </a:xfrm>
          <a:prstGeom prst="roundRect">
            <a:avLst>
              <a:gd name="adj" fmla="val 5000"/>
            </a:avLst>
          </a:prstGeom>
          <a:solidFill>
            <a:srgbClr val="E9F5EE"/>
          </a:solidFill>
          <a:ln w="10160">
            <a:solidFill>
              <a:srgbClr val="E9F5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2953512" y="3593592"/>
            <a:ext cx="1307592" cy="10972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850" b="1">
                <a:solidFill>
                  <a:srgbClr val="007D34"/>
                </a:solidFill>
                <a:latin typeface="Aptos"/>
              </a:rPr>
              <a:t>Ammissibilità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352544" y="3502152"/>
            <a:ext cx="1389888" cy="329184"/>
          </a:xfrm>
          <a:prstGeom prst="roundRect">
            <a:avLst>
              <a:gd name="adj" fmla="val 5000"/>
            </a:avLst>
          </a:prstGeom>
          <a:solidFill>
            <a:srgbClr val="E9F5EE"/>
          </a:solidFill>
          <a:ln w="10160">
            <a:solidFill>
              <a:srgbClr val="E9F5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4795815" y="3593592"/>
            <a:ext cx="503343" cy="130805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lang="it-IT" sz="850" b="1" dirty="0">
                <a:solidFill>
                  <a:srgbClr val="007D34"/>
                </a:solidFill>
                <a:latin typeface="Aptos"/>
              </a:rPr>
              <a:t>Ottimalità</a:t>
            </a:r>
            <a:endParaRPr sz="850" b="1" dirty="0">
              <a:solidFill>
                <a:srgbClr val="007D34"/>
              </a:solidFill>
              <a:latin typeface="Aptos"/>
            </a:endParaRPr>
          </a:p>
        </p:txBody>
      </p:sp>
      <p:sp>
        <p:nvSpPr>
          <p:cNvPr id="28" name="Rounded Rectangle 27"/>
          <p:cNvSpPr/>
          <p:nvPr/>
        </p:nvSpPr>
        <p:spPr>
          <a:xfrm>
            <a:off x="5779008" y="3502152"/>
            <a:ext cx="1371600" cy="329184"/>
          </a:xfrm>
          <a:prstGeom prst="roundRect">
            <a:avLst>
              <a:gd name="adj" fmla="val 5000"/>
            </a:avLst>
          </a:prstGeom>
          <a:solidFill>
            <a:srgbClr val="E9F5EE"/>
          </a:solidFill>
          <a:ln w="10160">
            <a:solidFill>
              <a:srgbClr val="E9F5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5833872" y="3593592"/>
            <a:ext cx="1261872" cy="10972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850" b="1">
                <a:solidFill>
                  <a:srgbClr val="007D34"/>
                </a:solidFill>
                <a:latin typeface="Aptos"/>
              </a:rPr>
              <a:t>Gap medio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187184" y="3502152"/>
            <a:ext cx="1417320" cy="329184"/>
          </a:xfrm>
          <a:prstGeom prst="roundRect">
            <a:avLst>
              <a:gd name="adj" fmla="val 5000"/>
            </a:avLst>
          </a:prstGeom>
          <a:solidFill>
            <a:srgbClr val="E9F5EE"/>
          </a:solidFill>
          <a:ln w="10160">
            <a:solidFill>
              <a:srgbClr val="E9F5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7242048" y="3593592"/>
            <a:ext cx="1307592" cy="10972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850" b="1">
                <a:solidFill>
                  <a:srgbClr val="007D34"/>
                </a:solidFill>
                <a:latin typeface="Aptos"/>
              </a:rPr>
              <a:t>Runtime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641080" y="3502152"/>
            <a:ext cx="2615184" cy="329184"/>
          </a:xfrm>
          <a:prstGeom prst="roundRect">
            <a:avLst>
              <a:gd name="adj" fmla="val 5000"/>
            </a:avLst>
          </a:prstGeom>
          <a:solidFill>
            <a:srgbClr val="E9F5EE"/>
          </a:solidFill>
          <a:ln w="10160">
            <a:solidFill>
              <a:srgbClr val="E9F5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8695944" y="3593592"/>
            <a:ext cx="2505456" cy="10972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850" b="1">
                <a:solidFill>
                  <a:srgbClr val="007D34"/>
                </a:solidFill>
                <a:latin typeface="Aptos"/>
              </a:rPr>
              <a:t>Interpretazione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713232" y="3886200"/>
            <a:ext cx="2148840" cy="438912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0160">
            <a:solidFill>
              <a:srgbClr val="E1EA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786384" y="4014215"/>
            <a:ext cx="2002536" cy="14630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960" b="1">
                <a:solidFill>
                  <a:srgbClr val="1F1F1F"/>
                </a:solidFill>
                <a:latin typeface="Aptos"/>
              </a:rPr>
              <a:t>Compact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2898648" y="3886200"/>
            <a:ext cx="1417320" cy="438912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0160">
            <a:solidFill>
              <a:srgbClr val="E1EA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2971800" y="4014215"/>
            <a:ext cx="1271016" cy="14630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960" b="0">
                <a:solidFill>
                  <a:srgbClr val="1F1F1F"/>
                </a:solidFill>
                <a:latin typeface="Aptos"/>
              </a:rPr>
              <a:t>90/90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4352544" y="3886200"/>
            <a:ext cx="1389888" cy="438912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0160">
            <a:solidFill>
              <a:srgbClr val="E1EA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4425696" y="4014215"/>
            <a:ext cx="1243584" cy="14630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960" b="0" dirty="0">
                <a:solidFill>
                  <a:srgbClr val="1F1F1F"/>
                </a:solidFill>
                <a:latin typeface="Aptos"/>
              </a:rPr>
              <a:t>89/90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5779008" y="3886200"/>
            <a:ext cx="1371600" cy="438912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0160">
            <a:solidFill>
              <a:srgbClr val="E1EA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5852160" y="4014215"/>
            <a:ext cx="1225296" cy="14630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960" b="0">
                <a:solidFill>
                  <a:srgbClr val="1F1F1F"/>
                </a:solidFill>
                <a:latin typeface="Aptos"/>
              </a:rPr>
              <a:t>—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7187184" y="3886200"/>
            <a:ext cx="1417320" cy="438912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0160">
            <a:solidFill>
              <a:srgbClr val="E1EA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7260336" y="4014215"/>
            <a:ext cx="1271016" cy="14630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960" b="0">
                <a:solidFill>
                  <a:srgbClr val="1F1F1F"/>
                </a:solidFill>
                <a:latin typeface="Aptos"/>
              </a:rPr>
              <a:t>4,959 s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8641080" y="3886200"/>
            <a:ext cx="2615184" cy="438912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0160">
            <a:solidFill>
              <a:srgbClr val="E1EA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8952190" y="3912743"/>
            <a:ext cx="1846659" cy="33855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100" b="0" dirty="0" err="1">
                <a:solidFill>
                  <a:srgbClr val="1F1F1F"/>
                </a:solidFill>
                <a:latin typeface="Aptos"/>
              </a:rPr>
              <a:t>Riferimento</a:t>
            </a:r>
            <a:r>
              <a:rPr sz="1100" b="0" dirty="0">
                <a:solidFill>
                  <a:srgbClr val="1F1F1F"/>
                </a:solidFill>
                <a:latin typeface="Aptos"/>
              </a:rPr>
              <a:t> </a:t>
            </a:r>
            <a:r>
              <a:rPr sz="1100" b="0" dirty="0" err="1">
                <a:solidFill>
                  <a:srgbClr val="1F1F1F"/>
                </a:solidFill>
                <a:latin typeface="Aptos"/>
              </a:rPr>
              <a:t>esatto</a:t>
            </a:r>
            <a:r>
              <a:rPr sz="1100" b="0" dirty="0">
                <a:solidFill>
                  <a:srgbClr val="1F1F1F"/>
                </a:solidFill>
                <a:latin typeface="Aptos"/>
              </a:rPr>
              <a:t>: quasi tutte</a:t>
            </a:r>
            <a:endParaRPr lang="it-IT" sz="1100" b="0" dirty="0">
              <a:solidFill>
                <a:srgbClr val="1F1F1F"/>
              </a:solidFill>
              <a:latin typeface="Aptos"/>
            </a:endParaRPr>
          </a:p>
          <a:p>
            <a:pPr algn="l"/>
            <a:r>
              <a:rPr sz="1100" b="0" dirty="0">
                <a:solidFill>
                  <a:srgbClr val="1F1F1F"/>
                </a:solidFill>
                <a:latin typeface="Aptos"/>
              </a:rPr>
              <a:t> le </a:t>
            </a:r>
            <a:r>
              <a:rPr sz="1100" b="0" dirty="0" err="1">
                <a:solidFill>
                  <a:srgbClr val="1F1F1F"/>
                </a:solidFill>
                <a:latin typeface="Aptos"/>
              </a:rPr>
              <a:t>istanze</a:t>
            </a:r>
            <a:r>
              <a:rPr sz="1100" b="0" dirty="0">
                <a:solidFill>
                  <a:srgbClr val="1F1F1F"/>
                </a:solidFill>
                <a:latin typeface="Aptos"/>
              </a:rPr>
              <a:t> certificate.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713232" y="4389120"/>
            <a:ext cx="2148840" cy="438912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0160">
            <a:solidFill>
              <a:srgbClr val="E1EA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786384" y="4517136"/>
            <a:ext cx="2002536" cy="14630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960" b="1">
                <a:solidFill>
                  <a:srgbClr val="1F1F1F"/>
                </a:solidFill>
                <a:latin typeface="Aptos"/>
              </a:rPr>
              <a:t>Greedy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2898648" y="4389120"/>
            <a:ext cx="1417320" cy="438912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0160">
            <a:solidFill>
              <a:srgbClr val="E1EA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2971800" y="4517136"/>
            <a:ext cx="1271016" cy="14630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960" b="0">
                <a:solidFill>
                  <a:srgbClr val="1F1F1F"/>
                </a:solidFill>
                <a:latin typeface="Aptos"/>
              </a:rPr>
              <a:t>80/90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4352544" y="4389120"/>
            <a:ext cx="1389888" cy="438912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0160">
            <a:solidFill>
              <a:srgbClr val="E1EA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4425696" y="4517136"/>
            <a:ext cx="1243584" cy="14630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960" b="0">
                <a:solidFill>
                  <a:srgbClr val="1F1F1F"/>
                </a:solidFill>
                <a:latin typeface="Aptos"/>
              </a:rPr>
              <a:t>75/89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5779008" y="4389120"/>
            <a:ext cx="1371600" cy="438912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0160">
            <a:solidFill>
              <a:srgbClr val="E1EA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5852160" y="4517136"/>
            <a:ext cx="1225296" cy="14630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960" b="0">
                <a:solidFill>
                  <a:srgbClr val="1F1F1F"/>
                </a:solidFill>
                <a:latin typeface="Aptos"/>
              </a:rPr>
              <a:t>1,072%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7187184" y="4389120"/>
            <a:ext cx="1417320" cy="438912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0160">
            <a:solidFill>
              <a:srgbClr val="E1EA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TextBox 54"/>
          <p:cNvSpPr txBox="1"/>
          <p:nvPr/>
        </p:nvSpPr>
        <p:spPr>
          <a:xfrm>
            <a:off x="7260336" y="4517136"/>
            <a:ext cx="1271016" cy="14630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960" b="0">
                <a:solidFill>
                  <a:srgbClr val="1F1F1F"/>
                </a:solidFill>
                <a:latin typeface="Aptos"/>
              </a:rPr>
              <a:t>0,251 s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8641080" y="4389120"/>
            <a:ext cx="2615184" cy="438912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0160">
            <a:solidFill>
              <a:srgbClr val="E1EA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TextBox 56"/>
          <p:cNvSpPr txBox="1"/>
          <p:nvPr/>
        </p:nvSpPr>
        <p:spPr>
          <a:xfrm>
            <a:off x="8947595" y="4439299"/>
            <a:ext cx="2002151" cy="33855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100" b="0" dirty="0">
                <a:solidFill>
                  <a:srgbClr val="1F1F1F"/>
                </a:solidFill>
                <a:latin typeface="Aptos"/>
              </a:rPr>
              <a:t>Molto veloce, ma </a:t>
            </a:r>
            <a:r>
              <a:rPr sz="1100" b="0" dirty="0" err="1">
                <a:solidFill>
                  <a:srgbClr val="1F1F1F"/>
                </a:solidFill>
                <a:latin typeface="Aptos"/>
              </a:rPr>
              <a:t>fallisce</a:t>
            </a:r>
            <a:r>
              <a:rPr sz="1100" b="0" dirty="0">
                <a:solidFill>
                  <a:srgbClr val="1F1F1F"/>
                </a:solidFill>
                <a:latin typeface="Aptos"/>
              </a:rPr>
              <a:t> </a:t>
            </a:r>
            <a:r>
              <a:rPr sz="1100" b="0" dirty="0" err="1">
                <a:solidFill>
                  <a:srgbClr val="1F1F1F"/>
                </a:solidFill>
                <a:latin typeface="Aptos"/>
              </a:rPr>
              <a:t>su</a:t>
            </a:r>
            <a:r>
              <a:rPr sz="1100" b="0" dirty="0">
                <a:solidFill>
                  <a:srgbClr val="1F1F1F"/>
                </a:solidFill>
                <a:latin typeface="Aptos"/>
              </a:rPr>
              <a:t> </a:t>
            </a:r>
            <a:r>
              <a:rPr sz="1100" b="0" dirty="0" err="1">
                <a:solidFill>
                  <a:srgbClr val="1F1F1F"/>
                </a:solidFill>
                <a:latin typeface="Aptos"/>
              </a:rPr>
              <a:t>casi</a:t>
            </a:r>
            <a:r>
              <a:rPr sz="1100" b="0" dirty="0">
                <a:solidFill>
                  <a:srgbClr val="1F1F1F"/>
                </a:solidFill>
                <a:latin typeface="Aptos"/>
              </a:rPr>
              <a:t> </a:t>
            </a:r>
            <a:endParaRPr lang="it-IT" sz="1100" b="0" dirty="0">
              <a:solidFill>
                <a:srgbClr val="1F1F1F"/>
              </a:solidFill>
              <a:latin typeface="Aptos"/>
            </a:endParaRPr>
          </a:p>
          <a:p>
            <a:pPr algn="l"/>
            <a:r>
              <a:rPr sz="1100" b="0" dirty="0">
                <a:solidFill>
                  <a:srgbClr val="1F1F1F"/>
                </a:solidFill>
                <a:latin typeface="Aptos"/>
              </a:rPr>
              <a:t>tight e </a:t>
            </a:r>
            <a:r>
              <a:rPr sz="1100" b="0" dirty="0" err="1">
                <a:solidFill>
                  <a:srgbClr val="1F1F1F"/>
                </a:solidFill>
                <a:latin typeface="Aptos"/>
              </a:rPr>
              <a:t>può</a:t>
            </a:r>
            <a:r>
              <a:rPr sz="1100" b="0" dirty="0">
                <a:solidFill>
                  <a:srgbClr val="1F1F1F"/>
                </a:solidFill>
                <a:latin typeface="Aptos"/>
              </a:rPr>
              <a:t> </a:t>
            </a:r>
            <a:r>
              <a:rPr sz="1100" b="0" dirty="0" err="1">
                <a:solidFill>
                  <a:srgbClr val="1F1F1F"/>
                </a:solidFill>
                <a:latin typeface="Aptos"/>
              </a:rPr>
              <a:t>perdere</a:t>
            </a:r>
            <a:r>
              <a:rPr sz="1100" b="0" dirty="0">
                <a:solidFill>
                  <a:srgbClr val="1F1F1F"/>
                </a:solidFill>
                <a:latin typeface="Aptos"/>
              </a:rPr>
              <a:t> </a:t>
            </a:r>
            <a:r>
              <a:rPr sz="1100" b="0" dirty="0" err="1">
                <a:solidFill>
                  <a:srgbClr val="1F1F1F"/>
                </a:solidFill>
                <a:latin typeface="Aptos"/>
              </a:rPr>
              <a:t>qualità</a:t>
            </a:r>
            <a:r>
              <a:rPr sz="1100" b="0" dirty="0">
                <a:solidFill>
                  <a:srgbClr val="1F1F1F"/>
                </a:solidFill>
                <a:latin typeface="Aptos"/>
              </a:rPr>
              <a:t>.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713232" y="4892040"/>
            <a:ext cx="2148840" cy="438912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0160">
            <a:solidFill>
              <a:srgbClr val="E1EA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TextBox 58"/>
          <p:cNvSpPr txBox="1"/>
          <p:nvPr/>
        </p:nvSpPr>
        <p:spPr>
          <a:xfrm>
            <a:off x="786384" y="5020055"/>
            <a:ext cx="2002536" cy="14630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960" b="1">
                <a:solidFill>
                  <a:srgbClr val="1F1F1F"/>
                </a:solidFill>
                <a:latin typeface="Aptos"/>
              </a:rPr>
              <a:t>Greedy + 1-swap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2898648" y="4892040"/>
            <a:ext cx="1417320" cy="438912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0160">
            <a:solidFill>
              <a:srgbClr val="E1EA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TextBox 60"/>
          <p:cNvSpPr txBox="1"/>
          <p:nvPr/>
        </p:nvSpPr>
        <p:spPr>
          <a:xfrm>
            <a:off x="2971800" y="5020055"/>
            <a:ext cx="1271016" cy="14630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960" b="0">
                <a:solidFill>
                  <a:srgbClr val="1F1F1F"/>
                </a:solidFill>
                <a:latin typeface="Aptos"/>
              </a:rPr>
              <a:t>80/90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4352544" y="4892040"/>
            <a:ext cx="1389888" cy="438912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0160">
            <a:solidFill>
              <a:srgbClr val="E1EA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TextBox 62"/>
          <p:cNvSpPr txBox="1"/>
          <p:nvPr/>
        </p:nvSpPr>
        <p:spPr>
          <a:xfrm>
            <a:off x="4425696" y="5020055"/>
            <a:ext cx="1243584" cy="14630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960" b="0">
                <a:solidFill>
                  <a:srgbClr val="1F1F1F"/>
                </a:solidFill>
                <a:latin typeface="Aptos"/>
              </a:rPr>
              <a:t>75/89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5779008" y="4892040"/>
            <a:ext cx="1371600" cy="438912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0160">
            <a:solidFill>
              <a:srgbClr val="E1EA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TextBox 64"/>
          <p:cNvSpPr txBox="1"/>
          <p:nvPr/>
        </p:nvSpPr>
        <p:spPr>
          <a:xfrm>
            <a:off x="5852160" y="5020055"/>
            <a:ext cx="1225296" cy="14630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960" b="0">
                <a:solidFill>
                  <a:srgbClr val="1F1F1F"/>
                </a:solidFill>
                <a:latin typeface="Aptos"/>
              </a:rPr>
              <a:t>1,072%</a:t>
            </a:r>
          </a:p>
        </p:txBody>
      </p:sp>
      <p:sp>
        <p:nvSpPr>
          <p:cNvPr id="66" name="Rounded Rectangle 65"/>
          <p:cNvSpPr/>
          <p:nvPr/>
        </p:nvSpPr>
        <p:spPr>
          <a:xfrm>
            <a:off x="7187184" y="4892040"/>
            <a:ext cx="1417320" cy="438912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0160">
            <a:solidFill>
              <a:srgbClr val="E1EA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7" name="TextBox 66"/>
          <p:cNvSpPr txBox="1"/>
          <p:nvPr/>
        </p:nvSpPr>
        <p:spPr>
          <a:xfrm>
            <a:off x="7260336" y="5020055"/>
            <a:ext cx="1271016" cy="14630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960" b="0">
                <a:solidFill>
                  <a:srgbClr val="1F1F1F"/>
                </a:solidFill>
                <a:latin typeface="Aptos"/>
              </a:rPr>
              <a:t>0,652 s</a:t>
            </a:r>
          </a:p>
        </p:txBody>
      </p:sp>
      <p:sp>
        <p:nvSpPr>
          <p:cNvPr id="68" name="Rounded Rectangle 67"/>
          <p:cNvSpPr/>
          <p:nvPr/>
        </p:nvSpPr>
        <p:spPr>
          <a:xfrm>
            <a:off x="8641080" y="4892040"/>
            <a:ext cx="2615184" cy="438912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0160">
            <a:solidFill>
              <a:srgbClr val="E1EA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9" name="TextBox 68"/>
          <p:cNvSpPr txBox="1"/>
          <p:nvPr/>
        </p:nvSpPr>
        <p:spPr>
          <a:xfrm>
            <a:off x="8947595" y="4923930"/>
            <a:ext cx="2109552" cy="33855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100" b="0" dirty="0" err="1">
                <a:solidFill>
                  <a:srgbClr val="1F1F1F"/>
                </a:solidFill>
                <a:latin typeface="Aptos"/>
              </a:rPr>
              <a:t>Aumenta</a:t>
            </a:r>
            <a:r>
              <a:rPr sz="1100" b="0" dirty="0">
                <a:solidFill>
                  <a:srgbClr val="1F1F1F"/>
                </a:solidFill>
                <a:latin typeface="Aptos"/>
              </a:rPr>
              <a:t> il tempo senza </a:t>
            </a:r>
            <a:r>
              <a:rPr sz="1100" b="0" dirty="0" err="1">
                <a:solidFill>
                  <a:srgbClr val="1F1F1F"/>
                </a:solidFill>
                <a:latin typeface="Aptos"/>
              </a:rPr>
              <a:t>migliorare</a:t>
            </a:r>
            <a:endParaRPr lang="it-IT" sz="1100" b="0" dirty="0">
              <a:solidFill>
                <a:srgbClr val="1F1F1F"/>
              </a:solidFill>
              <a:latin typeface="Aptos"/>
            </a:endParaRPr>
          </a:p>
          <a:p>
            <a:pPr algn="l"/>
            <a:r>
              <a:rPr sz="1100" b="0" dirty="0">
                <a:solidFill>
                  <a:srgbClr val="1F1F1F"/>
                </a:solidFill>
                <a:latin typeface="Aptos"/>
              </a:rPr>
              <a:t> la </a:t>
            </a:r>
            <a:r>
              <a:rPr sz="1100" b="0" dirty="0" err="1">
                <a:solidFill>
                  <a:srgbClr val="1F1F1F"/>
                </a:solidFill>
                <a:latin typeface="Aptos"/>
              </a:rPr>
              <a:t>soluzione</a:t>
            </a:r>
            <a:r>
              <a:rPr sz="1100" b="0" dirty="0">
                <a:solidFill>
                  <a:srgbClr val="1F1F1F"/>
                </a:solidFill>
                <a:latin typeface="Aptos"/>
              </a:rPr>
              <a:t> di </a:t>
            </a:r>
            <a:r>
              <a:rPr sz="1100" b="0" dirty="0" err="1">
                <a:solidFill>
                  <a:srgbClr val="1F1F1F"/>
                </a:solidFill>
                <a:latin typeface="Aptos"/>
              </a:rPr>
              <a:t>partenza</a:t>
            </a:r>
            <a:r>
              <a:rPr sz="1100" b="0" dirty="0">
                <a:solidFill>
                  <a:srgbClr val="1F1F1F"/>
                </a:solidFill>
                <a:latin typeface="Aptos"/>
              </a:rPr>
              <a:t>.</a:t>
            </a:r>
          </a:p>
        </p:txBody>
      </p:sp>
      <p:sp>
        <p:nvSpPr>
          <p:cNvPr id="70" name="Rounded Rectangle 69"/>
          <p:cNvSpPr/>
          <p:nvPr/>
        </p:nvSpPr>
        <p:spPr>
          <a:xfrm>
            <a:off x="713232" y="5394959"/>
            <a:ext cx="2148840" cy="438912"/>
          </a:xfrm>
          <a:prstGeom prst="roundRect">
            <a:avLst>
              <a:gd name="adj" fmla="val 5000"/>
            </a:avLst>
          </a:prstGeom>
          <a:solidFill>
            <a:srgbClr val="F7FCF9"/>
          </a:solidFill>
          <a:ln w="10160">
            <a:solidFill>
              <a:srgbClr val="E1EA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1" name="TextBox 70"/>
          <p:cNvSpPr txBox="1"/>
          <p:nvPr/>
        </p:nvSpPr>
        <p:spPr>
          <a:xfrm>
            <a:off x="786384" y="5522975"/>
            <a:ext cx="2002536" cy="14630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960" b="1">
                <a:solidFill>
                  <a:srgbClr val="1F1F1F"/>
                </a:solidFill>
                <a:latin typeface="Aptos"/>
              </a:rPr>
              <a:t>GRASP-VND best-of-5</a:t>
            </a:r>
          </a:p>
        </p:txBody>
      </p:sp>
      <p:sp>
        <p:nvSpPr>
          <p:cNvPr id="72" name="Rounded Rectangle 71"/>
          <p:cNvSpPr/>
          <p:nvPr/>
        </p:nvSpPr>
        <p:spPr>
          <a:xfrm>
            <a:off x="2898648" y="5394959"/>
            <a:ext cx="1417320" cy="438912"/>
          </a:xfrm>
          <a:prstGeom prst="roundRect">
            <a:avLst>
              <a:gd name="adj" fmla="val 5000"/>
            </a:avLst>
          </a:prstGeom>
          <a:solidFill>
            <a:srgbClr val="F7FCF9"/>
          </a:solidFill>
          <a:ln w="10160">
            <a:solidFill>
              <a:srgbClr val="E1EA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3" name="TextBox 72"/>
          <p:cNvSpPr txBox="1"/>
          <p:nvPr/>
        </p:nvSpPr>
        <p:spPr>
          <a:xfrm>
            <a:off x="2971800" y="5522975"/>
            <a:ext cx="1271016" cy="14630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960" b="0">
                <a:solidFill>
                  <a:srgbClr val="1F1F1F"/>
                </a:solidFill>
                <a:latin typeface="Aptos"/>
              </a:rPr>
              <a:t>90/90</a:t>
            </a:r>
          </a:p>
        </p:txBody>
      </p:sp>
      <p:sp>
        <p:nvSpPr>
          <p:cNvPr id="74" name="Rounded Rectangle 73"/>
          <p:cNvSpPr/>
          <p:nvPr/>
        </p:nvSpPr>
        <p:spPr>
          <a:xfrm>
            <a:off x="4352544" y="5394959"/>
            <a:ext cx="1389888" cy="438912"/>
          </a:xfrm>
          <a:prstGeom prst="roundRect">
            <a:avLst>
              <a:gd name="adj" fmla="val 5000"/>
            </a:avLst>
          </a:prstGeom>
          <a:solidFill>
            <a:srgbClr val="F7FCF9"/>
          </a:solidFill>
          <a:ln w="10160">
            <a:solidFill>
              <a:srgbClr val="E1EA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5" name="TextBox 74"/>
          <p:cNvSpPr txBox="1"/>
          <p:nvPr/>
        </p:nvSpPr>
        <p:spPr>
          <a:xfrm>
            <a:off x="4425696" y="5522975"/>
            <a:ext cx="1243584" cy="14630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960" b="0">
                <a:solidFill>
                  <a:srgbClr val="1F1F1F"/>
                </a:solidFill>
                <a:latin typeface="Aptos"/>
              </a:rPr>
              <a:t>85/89</a:t>
            </a:r>
          </a:p>
        </p:txBody>
      </p:sp>
      <p:sp>
        <p:nvSpPr>
          <p:cNvPr id="76" name="Rounded Rectangle 75"/>
          <p:cNvSpPr/>
          <p:nvPr/>
        </p:nvSpPr>
        <p:spPr>
          <a:xfrm>
            <a:off x="5779008" y="5394959"/>
            <a:ext cx="1371600" cy="438912"/>
          </a:xfrm>
          <a:prstGeom prst="roundRect">
            <a:avLst>
              <a:gd name="adj" fmla="val 5000"/>
            </a:avLst>
          </a:prstGeom>
          <a:solidFill>
            <a:srgbClr val="F7FCF9"/>
          </a:solidFill>
          <a:ln w="10160">
            <a:solidFill>
              <a:srgbClr val="E1EA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7" name="TextBox 76"/>
          <p:cNvSpPr txBox="1"/>
          <p:nvPr/>
        </p:nvSpPr>
        <p:spPr>
          <a:xfrm>
            <a:off x="5852160" y="5522975"/>
            <a:ext cx="1225296" cy="14630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960" b="0">
                <a:solidFill>
                  <a:srgbClr val="1F1F1F"/>
                </a:solidFill>
                <a:latin typeface="Aptos"/>
              </a:rPr>
              <a:t>0,223%</a:t>
            </a:r>
          </a:p>
        </p:txBody>
      </p:sp>
      <p:sp>
        <p:nvSpPr>
          <p:cNvPr id="78" name="Rounded Rectangle 77"/>
          <p:cNvSpPr/>
          <p:nvPr/>
        </p:nvSpPr>
        <p:spPr>
          <a:xfrm>
            <a:off x="7187184" y="5394959"/>
            <a:ext cx="1417320" cy="438912"/>
          </a:xfrm>
          <a:prstGeom prst="roundRect">
            <a:avLst>
              <a:gd name="adj" fmla="val 5000"/>
            </a:avLst>
          </a:prstGeom>
          <a:solidFill>
            <a:srgbClr val="F7FCF9"/>
          </a:solidFill>
          <a:ln w="10160">
            <a:solidFill>
              <a:srgbClr val="E1EA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9" name="TextBox 78"/>
          <p:cNvSpPr txBox="1"/>
          <p:nvPr/>
        </p:nvSpPr>
        <p:spPr>
          <a:xfrm>
            <a:off x="7260336" y="5522975"/>
            <a:ext cx="1271016" cy="14630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960" b="0">
                <a:solidFill>
                  <a:srgbClr val="1F1F1F"/>
                </a:solidFill>
                <a:latin typeface="Aptos"/>
              </a:rPr>
              <a:t>11,747 s</a:t>
            </a:r>
          </a:p>
        </p:txBody>
      </p:sp>
      <p:sp>
        <p:nvSpPr>
          <p:cNvPr id="80" name="Rounded Rectangle 79"/>
          <p:cNvSpPr/>
          <p:nvPr/>
        </p:nvSpPr>
        <p:spPr>
          <a:xfrm>
            <a:off x="8641080" y="5394959"/>
            <a:ext cx="2615184" cy="438912"/>
          </a:xfrm>
          <a:prstGeom prst="roundRect">
            <a:avLst>
              <a:gd name="adj" fmla="val 5000"/>
            </a:avLst>
          </a:prstGeom>
          <a:solidFill>
            <a:srgbClr val="F7FCF9"/>
          </a:solidFill>
          <a:ln w="10160">
            <a:solidFill>
              <a:srgbClr val="E1EA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1" name="TextBox 80"/>
          <p:cNvSpPr txBox="1"/>
          <p:nvPr/>
        </p:nvSpPr>
        <p:spPr>
          <a:xfrm>
            <a:off x="8954007" y="5435728"/>
            <a:ext cx="2103140" cy="33855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100" b="0" dirty="0" err="1">
                <a:solidFill>
                  <a:srgbClr val="1F1F1F"/>
                </a:solidFill>
                <a:latin typeface="Aptos"/>
              </a:rPr>
              <a:t>Metodo</a:t>
            </a:r>
            <a:r>
              <a:rPr sz="1100" b="0" dirty="0">
                <a:solidFill>
                  <a:srgbClr val="1F1F1F"/>
                </a:solidFill>
                <a:latin typeface="Aptos"/>
              </a:rPr>
              <a:t> </a:t>
            </a:r>
            <a:r>
              <a:rPr sz="1100" b="0" dirty="0" err="1">
                <a:solidFill>
                  <a:srgbClr val="1F1F1F"/>
                </a:solidFill>
                <a:latin typeface="Aptos"/>
              </a:rPr>
              <a:t>euristico</a:t>
            </a:r>
            <a:r>
              <a:rPr sz="1100" b="0" dirty="0">
                <a:solidFill>
                  <a:srgbClr val="1F1F1F"/>
                </a:solidFill>
                <a:latin typeface="Aptos"/>
              </a:rPr>
              <a:t> </a:t>
            </a:r>
            <a:r>
              <a:rPr sz="1100" b="0" dirty="0" err="1">
                <a:solidFill>
                  <a:srgbClr val="1F1F1F"/>
                </a:solidFill>
                <a:latin typeface="Aptos"/>
              </a:rPr>
              <a:t>principale</a:t>
            </a:r>
            <a:r>
              <a:rPr sz="1100" b="0" dirty="0">
                <a:solidFill>
                  <a:srgbClr val="1F1F1F"/>
                </a:solidFill>
                <a:latin typeface="Aptos"/>
              </a:rPr>
              <a:t>: </a:t>
            </a:r>
            <a:r>
              <a:rPr sz="1100" b="0" dirty="0" err="1">
                <a:solidFill>
                  <a:srgbClr val="1F1F1F"/>
                </a:solidFill>
                <a:latin typeface="Aptos"/>
              </a:rPr>
              <a:t>piena</a:t>
            </a:r>
            <a:r>
              <a:rPr sz="1100" b="0" dirty="0">
                <a:solidFill>
                  <a:srgbClr val="1F1F1F"/>
                </a:solidFill>
                <a:latin typeface="Aptos"/>
              </a:rPr>
              <a:t> </a:t>
            </a:r>
            <a:endParaRPr lang="it-IT" sz="1100" b="0" dirty="0">
              <a:solidFill>
                <a:srgbClr val="1F1F1F"/>
              </a:solidFill>
              <a:latin typeface="Aptos"/>
            </a:endParaRPr>
          </a:p>
          <a:p>
            <a:pPr algn="l"/>
            <a:r>
              <a:rPr sz="1100" b="0" dirty="0" err="1">
                <a:solidFill>
                  <a:srgbClr val="1F1F1F"/>
                </a:solidFill>
                <a:latin typeface="Aptos"/>
              </a:rPr>
              <a:t>ammissibilità</a:t>
            </a:r>
            <a:r>
              <a:rPr sz="1100" b="0" dirty="0">
                <a:solidFill>
                  <a:srgbClr val="1F1F1F"/>
                </a:solidFill>
                <a:latin typeface="Aptos"/>
              </a:rPr>
              <a:t> e gap </a:t>
            </a:r>
            <a:r>
              <a:rPr sz="1100" b="0" dirty="0" err="1">
                <a:solidFill>
                  <a:srgbClr val="1F1F1F"/>
                </a:solidFill>
                <a:latin typeface="Aptos"/>
              </a:rPr>
              <a:t>più</a:t>
            </a:r>
            <a:r>
              <a:rPr sz="1100" b="0" dirty="0">
                <a:solidFill>
                  <a:srgbClr val="1F1F1F"/>
                </a:solidFill>
                <a:latin typeface="Aptos"/>
              </a:rPr>
              <a:t> basso.</a:t>
            </a:r>
          </a:p>
        </p:txBody>
      </p:sp>
      <p:sp>
        <p:nvSpPr>
          <p:cNvPr id="82" name="Rounded Rectangle 81"/>
          <p:cNvSpPr/>
          <p:nvPr/>
        </p:nvSpPr>
        <p:spPr>
          <a:xfrm>
            <a:off x="713232" y="6016752"/>
            <a:ext cx="10808208" cy="356616"/>
          </a:xfrm>
          <a:prstGeom prst="roundRect">
            <a:avLst>
              <a:gd name="adj" fmla="val 5000"/>
            </a:avLst>
          </a:prstGeom>
          <a:solidFill>
            <a:srgbClr val="E9F5EE"/>
          </a:solidFill>
          <a:ln w="10160">
            <a:solidFill>
              <a:srgbClr val="BBD8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3" name="TextBox 82"/>
          <p:cNvSpPr txBox="1"/>
          <p:nvPr/>
        </p:nvSpPr>
        <p:spPr>
          <a:xfrm>
            <a:off x="896112" y="6126480"/>
            <a:ext cx="9492983" cy="13542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880" b="1" dirty="0" err="1">
                <a:solidFill>
                  <a:srgbClr val="007D34"/>
                </a:solidFill>
                <a:latin typeface="Aptos"/>
              </a:rPr>
              <a:t>Lettura</a:t>
            </a:r>
            <a:r>
              <a:rPr sz="880" b="1" dirty="0">
                <a:solidFill>
                  <a:srgbClr val="007D34"/>
                </a:solidFill>
                <a:latin typeface="Aptos"/>
              </a:rPr>
              <a:t> finale: </a:t>
            </a:r>
            <a:r>
              <a:rPr lang="it-IT" sz="880" b="1" dirty="0">
                <a:solidFill>
                  <a:srgbClr val="007D34"/>
                </a:solidFill>
                <a:latin typeface="Aptos"/>
              </a:rPr>
              <a:t>Le classi tight concentrano le maggiori difficoltà di fattibilità e qualità</a:t>
            </a:r>
            <a:r>
              <a:rPr sz="880" b="1" dirty="0">
                <a:solidFill>
                  <a:srgbClr val="007D34"/>
                </a:solidFill>
                <a:latin typeface="Aptos"/>
              </a:rPr>
              <a:t>; GRASP-VND </a:t>
            </a:r>
            <a:r>
              <a:rPr sz="880" b="1" dirty="0" err="1">
                <a:solidFill>
                  <a:srgbClr val="007D34"/>
                </a:solidFill>
                <a:latin typeface="Aptos"/>
              </a:rPr>
              <a:t>migliora</a:t>
            </a:r>
            <a:r>
              <a:rPr sz="880" b="1" dirty="0">
                <a:solidFill>
                  <a:srgbClr val="007D34"/>
                </a:solidFill>
                <a:latin typeface="Aptos"/>
              </a:rPr>
              <a:t> </a:t>
            </a:r>
            <a:r>
              <a:rPr sz="880" b="1" dirty="0" err="1">
                <a:solidFill>
                  <a:srgbClr val="007D34"/>
                </a:solidFill>
                <a:latin typeface="Aptos"/>
              </a:rPr>
              <a:t>nettamente</a:t>
            </a:r>
            <a:r>
              <a:rPr sz="880" b="1" dirty="0">
                <a:solidFill>
                  <a:srgbClr val="007D34"/>
                </a:solidFill>
                <a:latin typeface="Aptos"/>
              </a:rPr>
              <a:t> </a:t>
            </a:r>
            <a:r>
              <a:rPr sz="880" b="1" dirty="0" err="1">
                <a:solidFill>
                  <a:srgbClr val="007D34"/>
                </a:solidFill>
                <a:latin typeface="Aptos"/>
              </a:rPr>
              <a:t>robustezza</a:t>
            </a:r>
            <a:r>
              <a:rPr sz="880" b="1" dirty="0">
                <a:solidFill>
                  <a:srgbClr val="007D34"/>
                </a:solidFill>
                <a:latin typeface="Aptos"/>
              </a:rPr>
              <a:t> e </a:t>
            </a:r>
            <a:r>
              <a:rPr sz="880" b="1" dirty="0" err="1">
                <a:solidFill>
                  <a:srgbClr val="007D34"/>
                </a:solidFill>
                <a:latin typeface="Aptos"/>
              </a:rPr>
              <a:t>qualità</a:t>
            </a:r>
            <a:r>
              <a:rPr sz="880" b="1" dirty="0">
                <a:solidFill>
                  <a:srgbClr val="007D34"/>
                </a:solidFill>
                <a:latin typeface="Aptos"/>
              </a:rPr>
              <a:t>, </a:t>
            </a:r>
            <a:r>
              <a:rPr sz="880" b="1" dirty="0" err="1">
                <a:solidFill>
                  <a:srgbClr val="007D34"/>
                </a:solidFill>
                <a:latin typeface="Aptos"/>
              </a:rPr>
              <a:t>mentre</a:t>
            </a:r>
            <a:r>
              <a:rPr sz="880" b="1" dirty="0">
                <a:solidFill>
                  <a:srgbClr val="007D34"/>
                </a:solidFill>
                <a:latin typeface="Aptos"/>
              </a:rPr>
              <a:t> il 1-swap </a:t>
            </a:r>
            <a:r>
              <a:rPr sz="880" b="1" dirty="0" err="1">
                <a:solidFill>
                  <a:srgbClr val="007D34"/>
                </a:solidFill>
                <a:latin typeface="Aptos"/>
              </a:rPr>
              <a:t>isolato</a:t>
            </a:r>
            <a:r>
              <a:rPr sz="880" b="1" dirty="0">
                <a:solidFill>
                  <a:srgbClr val="007D34"/>
                </a:solidFill>
                <a:latin typeface="Aptos"/>
              </a:rPr>
              <a:t> non </a:t>
            </a:r>
            <a:r>
              <a:rPr sz="880" b="1" dirty="0" err="1">
                <a:solidFill>
                  <a:srgbClr val="007D34"/>
                </a:solidFill>
                <a:latin typeface="Aptos"/>
              </a:rPr>
              <a:t>aggiunge</a:t>
            </a:r>
            <a:r>
              <a:rPr sz="880" b="1" dirty="0">
                <a:solidFill>
                  <a:srgbClr val="007D34"/>
                </a:solidFill>
                <a:latin typeface="Aptos"/>
              </a:rPr>
              <a:t> </a:t>
            </a:r>
            <a:r>
              <a:rPr sz="880" b="1" dirty="0" err="1">
                <a:solidFill>
                  <a:srgbClr val="007D34"/>
                </a:solidFill>
                <a:latin typeface="Aptos"/>
              </a:rPr>
              <a:t>valore</a:t>
            </a:r>
            <a:r>
              <a:rPr sz="880" b="1" dirty="0">
                <a:solidFill>
                  <a:srgbClr val="007D34"/>
                </a:solidFill>
                <a:latin typeface="Aptos"/>
              </a:rPr>
              <a:t>.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475488" y="6565392"/>
            <a:ext cx="4389120" cy="12801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780" b="0">
                <a:solidFill>
                  <a:srgbClr val="7F7F7F"/>
                </a:solidFill>
                <a:latin typeface="Aptos"/>
              </a:rPr>
              <a:t>Università degli Studi di Roma Tor Vergata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7909560" y="6547104"/>
            <a:ext cx="3429000" cy="12801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r>
              <a:rPr sz="780" b="0">
                <a:solidFill>
                  <a:srgbClr val="7F7F7F"/>
                </a:solidFill>
                <a:latin typeface="Aptos"/>
              </a:rPr>
              <a:t>AMOD · CMMOFLP Nuclear Siting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11640312" y="6537960"/>
            <a:ext cx="201168" cy="10972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r>
              <a:rPr sz="800" b="0">
                <a:solidFill>
                  <a:srgbClr val="7F7F7F"/>
                </a:solidFill>
                <a:latin typeface="Aptos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145553892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1382297"/>
            <a:ext cx="8046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>
              <a:buNone/>
            </a:pPr>
            <a:r>
              <a:rPr lang="en-US" sz="3100" b="1" dirty="0">
                <a:solidFill>
                  <a:srgbClr val="007D34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Risultati principali in grafici</a:t>
            </a:r>
            <a:endParaRPr lang="en-US" sz="3100" dirty="0"/>
          </a:p>
        </p:txBody>
      </p:sp>
      <p:sp>
        <p:nvSpPr>
          <p:cNvPr id="3" name="Text 1"/>
          <p:cNvSpPr/>
          <p:nvPr/>
        </p:nvSpPr>
        <p:spPr>
          <a:xfrm>
            <a:off x="685800" y="1901952"/>
            <a:ext cx="8046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80" dirty="0">
                <a:solidFill>
                  <a:srgbClr val="7F7F7F"/>
                </a:solidFill>
              </a:rPr>
              <a:t>Dalla tabella ai grafici: si vede meglio il salto tra baseline semplici e GRASP-VND.</a:t>
            </a:r>
            <a:endParaRPr lang="en-US" sz="1280" dirty="0"/>
          </a:p>
        </p:txBody>
      </p:sp>
      <p:sp>
        <p:nvSpPr>
          <p:cNvPr id="4" name="Shape 2"/>
          <p:cNvSpPr/>
          <p:nvPr/>
        </p:nvSpPr>
        <p:spPr>
          <a:xfrm>
            <a:off x="9802368" y="1307592"/>
            <a:ext cx="1719072" cy="301752"/>
          </a:xfrm>
          <a:prstGeom prst="roundRect">
            <a:avLst>
              <a:gd name="adj" fmla="val 18182"/>
            </a:avLst>
          </a:prstGeom>
          <a:solidFill>
            <a:srgbClr val="E9F5EE"/>
          </a:solidFill>
          <a:ln w="12700">
            <a:solidFill>
              <a:srgbClr val="E9F5EE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5" name="Text 3"/>
          <p:cNvSpPr/>
          <p:nvPr/>
        </p:nvSpPr>
        <p:spPr>
          <a:xfrm>
            <a:off x="9875520" y="1406104"/>
            <a:ext cx="1572768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20" b="1" dirty="0">
                <a:solidFill>
                  <a:srgbClr val="007D34"/>
                </a:solidFill>
              </a:rPr>
              <a:t>FOCUS RISULTATI</a:t>
            </a:r>
            <a:endParaRPr lang="en-US" sz="920" dirty="0"/>
          </a:p>
        </p:txBody>
      </p:sp>
      <p:sp>
        <p:nvSpPr>
          <p:cNvPr id="6" name="Shape 4"/>
          <p:cNvSpPr/>
          <p:nvPr/>
        </p:nvSpPr>
        <p:spPr>
          <a:xfrm>
            <a:off x="414068" y="2221992"/>
            <a:ext cx="5602684" cy="3529584"/>
          </a:xfrm>
          <a:prstGeom prst="roundRect">
            <a:avLst>
              <a:gd name="adj" fmla="val 1609"/>
            </a:avLst>
          </a:prstGeom>
          <a:solidFill>
            <a:srgbClr val="FFFFFF"/>
          </a:solidFill>
          <a:ln w="12700">
            <a:solidFill>
              <a:srgbClr val="BBD8C4">
                <a:alpha val="8500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7" name="Shape 5"/>
          <p:cNvSpPr/>
          <p:nvPr/>
        </p:nvSpPr>
        <p:spPr>
          <a:xfrm>
            <a:off x="6172200" y="2229583"/>
            <a:ext cx="5547820" cy="3521993"/>
          </a:xfrm>
          <a:prstGeom prst="roundRect">
            <a:avLst>
              <a:gd name="adj" fmla="val 1609"/>
            </a:avLst>
          </a:prstGeom>
          <a:solidFill>
            <a:srgbClr val="FFFFFF"/>
          </a:solidFill>
          <a:ln w="12700">
            <a:solidFill>
              <a:srgbClr val="BBD8C4">
                <a:alpha val="8500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8" name="Text 6"/>
          <p:cNvSpPr/>
          <p:nvPr/>
        </p:nvSpPr>
        <p:spPr>
          <a:xfrm>
            <a:off x="564167" y="2316548"/>
            <a:ext cx="4389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80" b="1" dirty="0">
                <a:solidFill>
                  <a:srgbClr val="1F1F1F"/>
                </a:solidFill>
              </a:rPr>
              <a:t>Fattibilità e qualità delle varianti euristiche</a:t>
            </a:r>
            <a:endParaRPr lang="en-US" sz="1080" dirty="0"/>
          </a:p>
        </p:txBody>
      </p:sp>
      <p:sp>
        <p:nvSpPr>
          <p:cNvPr id="9" name="Text 7"/>
          <p:cNvSpPr/>
          <p:nvPr/>
        </p:nvSpPr>
        <p:spPr>
          <a:xfrm>
            <a:off x="6309360" y="2314799"/>
            <a:ext cx="3840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80" b="1" dirty="0">
                <a:solidFill>
                  <a:srgbClr val="1F1F1F"/>
                </a:solidFill>
              </a:rPr>
              <a:t>Compromesso qualità / runtime</a:t>
            </a:r>
            <a:endParaRPr lang="en-US" sz="1080" dirty="0"/>
          </a:p>
        </p:txBody>
      </p:sp>
      <p:sp>
        <p:nvSpPr>
          <p:cNvPr id="12" name="Shape 8"/>
          <p:cNvSpPr/>
          <p:nvPr/>
        </p:nvSpPr>
        <p:spPr>
          <a:xfrm>
            <a:off x="658368" y="5888736"/>
            <a:ext cx="3529584" cy="585216"/>
          </a:xfrm>
          <a:prstGeom prst="roundRect">
            <a:avLst>
              <a:gd name="adj" fmla="val 6250"/>
            </a:avLst>
          </a:prstGeom>
          <a:solidFill>
            <a:srgbClr val="F5F6F4"/>
          </a:solidFill>
          <a:ln w="12700">
            <a:solidFill>
              <a:srgbClr val="E3E3E3">
                <a:alpha val="8500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3" name="Shape 9"/>
          <p:cNvSpPr/>
          <p:nvPr/>
        </p:nvSpPr>
        <p:spPr>
          <a:xfrm>
            <a:off x="658368" y="5888736"/>
            <a:ext cx="54864" cy="585216"/>
          </a:xfrm>
          <a:prstGeom prst="rect">
            <a:avLst/>
          </a:prstGeom>
          <a:solidFill>
            <a:srgbClr val="007D34"/>
          </a:solidFill>
          <a:ln w="12700">
            <a:solidFill>
              <a:srgbClr val="007D34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4" name="Text 10"/>
          <p:cNvSpPr/>
          <p:nvPr/>
        </p:nvSpPr>
        <p:spPr>
          <a:xfrm>
            <a:off x="804672" y="5980176"/>
            <a:ext cx="323697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40" b="1" dirty="0">
                <a:solidFill>
                  <a:srgbClr val="007D34"/>
                </a:solidFill>
              </a:rPr>
              <a:t>COSA SI VEDE</a:t>
            </a:r>
            <a:endParaRPr lang="en-US" sz="940" dirty="0"/>
          </a:p>
        </p:txBody>
      </p:sp>
      <p:sp>
        <p:nvSpPr>
          <p:cNvPr id="15" name="Text 11"/>
          <p:cNvSpPr/>
          <p:nvPr/>
        </p:nvSpPr>
        <p:spPr>
          <a:xfrm>
            <a:off x="804672" y="6153912"/>
            <a:ext cx="32369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>
              <a:buNone/>
            </a:pPr>
            <a:r>
              <a:rPr lang="en-US" sz="850" dirty="0">
                <a:solidFill>
                  <a:srgbClr val="5D6A62"/>
                </a:solidFill>
              </a:rPr>
              <a:t>GRASP-VND porta l’ammissibilità al 100% e aumenta le istanze risolte all’ottimo noto rispetto alle baseline.</a:t>
            </a:r>
            <a:endParaRPr lang="en-US" sz="850" dirty="0"/>
          </a:p>
        </p:txBody>
      </p:sp>
      <p:sp>
        <p:nvSpPr>
          <p:cNvPr id="16" name="Shape 12"/>
          <p:cNvSpPr/>
          <p:nvPr/>
        </p:nvSpPr>
        <p:spPr>
          <a:xfrm>
            <a:off x="4334256" y="5888736"/>
            <a:ext cx="3749040" cy="585216"/>
          </a:xfrm>
          <a:prstGeom prst="roundRect">
            <a:avLst>
              <a:gd name="adj" fmla="val 6250"/>
            </a:avLst>
          </a:prstGeom>
          <a:solidFill>
            <a:srgbClr val="F5F6F4"/>
          </a:solidFill>
          <a:ln w="12700">
            <a:solidFill>
              <a:srgbClr val="E3E3E3">
                <a:alpha val="8500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7" name="Shape 13"/>
          <p:cNvSpPr/>
          <p:nvPr/>
        </p:nvSpPr>
        <p:spPr>
          <a:xfrm>
            <a:off x="4334256" y="5888736"/>
            <a:ext cx="54864" cy="585216"/>
          </a:xfrm>
          <a:prstGeom prst="rect">
            <a:avLst/>
          </a:prstGeom>
          <a:solidFill>
            <a:srgbClr val="007D34"/>
          </a:solidFill>
          <a:ln w="12700">
            <a:solidFill>
              <a:srgbClr val="007D34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8" name="Text 14"/>
          <p:cNvSpPr/>
          <p:nvPr/>
        </p:nvSpPr>
        <p:spPr>
          <a:xfrm>
            <a:off x="4480560" y="5980176"/>
            <a:ext cx="345643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40" b="1" dirty="0">
                <a:solidFill>
                  <a:srgbClr val="007D34"/>
                </a:solidFill>
              </a:rPr>
              <a:t>TRADE-OFF</a:t>
            </a:r>
            <a:endParaRPr lang="en-US" sz="940" dirty="0"/>
          </a:p>
        </p:txBody>
      </p:sp>
      <p:sp>
        <p:nvSpPr>
          <p:cNvPr id="19" name="Text 15"/>
          <p:cNvSpPr/>
          <p:nvPr/>
        </p:nvSpPr>
        <p:spPr>
          <a:xfrm>
            <a:off x="4480560" y="6153912"/>
            <a:ext cx="34564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>
              <a:buNone/>
            </a:pPr>
            <a:r>
              <a:rPr lang="en-US" sz="850" dirty="0">
                <a:solidFill>
                  <a:srgbClr val="5D6A62"/>
                </a:solidFill>
              </a:rPr>
              <a:t>Il best-of-5 riduce il gap medio, ma richiede più tempo: per uso pratico il seed singolo è spesso il miglior compromesso.</a:t>
            </a:r>
            <a:endParaRPr lang="en-US" sz="850" dirty="0"/>
          </a:p>
        </p:txBody>
      </p:sp>
      <p:sp>
        <p:nvSpPr>
          <p:cNvPr id="20" name="Shape 16"/>
          <p:cNvSpPr/>
          <p:nvPr/>
        </p:nvSpPr>
        <p:spPr>
          <a:xfrm>
            <a:off x="8229600" y="5888736"/>
            <a:ext cx="3300984" cy="585216"/>
          </a:xfrm>
          <a:prstGeom prst="roundRect">
            <a:avLst>
              <a:gd name="adj" fmla="val 6250"/>
            </a:avLst>
          </a:prstGeom>
          <a:solidFill>
            <a:srgbClr val="F5F6F4"/>
          </a:solidFill>
          <a:ln w="12700">
            <a:solidFill>
              <a:srgbClr val="E3E3E3">
                <a:alpha val="8500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1" name="Shape 17"/>
          <p:cNvSpPr/>
          <p:nvPr/>
        </p:nvSpPr>
        <p:spPr>
          <a:xfrm>
            <a:off x="8229600" y="5888736"/>
            <a:ext cx="54864" cy="585216"/>
          </a:xfrm>
          <a:prstGeom prst="rect">
            <a:avLst/>
          </a:prstGeom>
          <a:solidFill>
            <a:srgbClr val="007D34"/>
          </a:solidFill>
          <a:ln w="12700">
            <a:solidFill>
              <a:srgbClr val="007D34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2" name="Text 18"/>
          <p:cNvSpPr/>
          <p:nvPr/>
        </p:nvSpPr>
        <p:spPr>
          <a:xfrm>
            <a:off x="8375904" y="5980176"/>
            <a:ext cx="300837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40" b="1" dirty="0">
                <a:solidFill>
                  <a:srgbClr val="007D34"/>
                </a:solidFill>
              </a:rPr>
              <a:t>MESSAGGIO</a:t>
            </a:r>
            <a:endParaRPr lang="en-US" sz="940" dirty="0"/>
          </a:p>
        </p:txBody>
      </p:sp>
      <p:sp>
        <p:nvSpPr>
          <p:cNvPr id="23" name="Text 19"/>
          <p:cNvSpPr/>
          <p:nvPr/>
        </p:nvSpPr>
        <p:spPr>
          <a:xfrm>
            <a:off x="8375904" y="6153912"/>
            <a:ext cx="30083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>
              <a:buNone/>
            </a:pPr>
            <a:r>
              <a:rPr lang="en-US" sz="850" dirty="0">
                <a:solidFill>
                  <a:srgbClr val="5D6A62"/>
                </a:solidFill>
              </a:rPr>
              <a:t>Il 1-swap isolato costa più della greedy ma non migliora: il valore nasce dalla combinazione GRASP + VND.</a:t>
            </a:r>
            <a:endParaRPr lang="en-US" sz="850" dirty="0"/>
          </a:p>
        </p:txBody>
      </p:sp>
      <p:sp>
        <p:nvSpPr>
          <p:cNvPr id="25" name="Text 21"/>
          <p:cNvSpPr/>
          <p:nvPr/>
        </p:nvSpPr>
        <p:spPr>
          <a:xfrm>
            <a:off x="7909560" y="6547104"/>
            <a:ext cx="34290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80" dirty="0">
                <a:solidFill>
                  <a:srgbClr val="7F7F7F"/>
                </a:solidFill>
              </a:rPr>
              <a:t>AMOD · CMMOFLP Nuclear Siting</a:t>
            </a:r>
            <a:endParaRPr lang="en-US" sz="780" dirty="0"/>
          </a:p>
        </p:txBody>
      </p:sp>
      <p:sp>
        <p:nvSpPr>
          <p:cNvPr id="26" name="Text 22"/>
          <p:cNvSpPr/>
          <p:nvPr/>
        </p:nvSpPr>
        <p:spPr>
          <a:xfrm>
            <a:off x="11658600" y="6537960"/>
            <a:ext cx="1828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7F7F7F"/>
                </a:solidFill>
              </a:rPr>
              <a:t>11</a:t>
            </a:r>
            <a:endParaRPr lang="en-US" sz="800" dirty="0"/>
          </a:p>
        </p:txBody>
      </p:sp>
      <p:pic>
        <p:nvPicPr>
          <p:cNvPr id="28" name="Immagine 27">
            <a:extLst>
              <a:ext uri="{FF2B5EF4-FFF2-40B4-BE49-F238E27FC236}">
                <a16:creationId xmlns:a16="http://schemas.microsoft.com/office/drawing/2014/main" id="{69910856-476F-3310-4755-8FFADEAC21A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1026" y="2566544"/>
            <a:ext cx="5214263" cy="2995764"/>
          </a:xfrm>
          <a:prstGeom prst="rect">
            <a:avLst/>
          </a:prstGeom>
        </p:spPr>
      </p:pic>
      <p:pic>
        <p:nvPicPr>
          <p:cNvPr id="30" name="Immagine 29">
            <a:extLst>
              <a:ext uri="{FF2B5EF4-FFF2-40B4-BE49-F238E27FC236}">
                <a16:creationId xmlns:a16="http://schemas.microsoft.com/office/drawing/2014/main" id="{01B23EDD-2E77-E200-196D-4B442464AB3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64118" y="2475086"/>
            <a:ext cx="5057322" cy="32304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3174161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1408176"/>
            <a:ext cx="8549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>
              <a:buNone/>
            </a:pPr>
            <a:r>
              <a:rPr lang="en-US" sz="3000" b="1" dirty="0">
                <a:solidFill>
                  <a:srgbClr val="007D34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Ablation, limiti e caso non certificato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85800" y="1901952"/>
            <a:ext cx="8412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7F7F7F"/>
                </a:solidFill>
              </a:rPr>
              <a:t>Separiamo il contributo dei componenti e spieghiamo cosa resta fuori dalla certificazione esatta.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9802368" y="1307592"/>
            <a:ext cx="1719072" cy="301752"/>
          </a:xfrm>
          <a:prstGeom prst="roundRect">
            <a:avLst>
              <a:gd name="adj" fmla="val 18182"/>
            </a:avLst>
          </a:prstGeom>
          <a:solidFill>
            <a:srgbClr val="E9F5EE"/>
          </a:solidFill>
          <a:ln w="12700">
            <a:solidFill>
              <a:srgbClr val="E9F5EE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5" name="Text 3"/>
          <p:cNvSpPr/>
          <p:nvPr/>
        </p:nvSpPr>
        <p:spPr>
          <a:xfrm>
            <a:off x="9875520" y="1407112"/>
            <a:ext cx="1572768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20" b="1" dirty="0">
                <a:solidFill>
                  <a:srgbClr val="007D34"/>
                </a:solidFill>
              </a:rPr>
              <a:t>ANALISI CRITICA</a:t>
            </a:r>
            <a:endParaRPr lang="en-US" sz="920" dirty="0"/>
          </a:p>
        </p:txBody>
      </p:sp>
      <p:sp>
        <p:nvSpPr>
          <p:cNvPr id="7" name="Shape 5"/>
          <p:cNvSpPr/>
          <p:nvPr/>
        </p:nvSpPr>
        <p:spPr>
          <a:xfrm>
            <a:off x="658368" y="2377440"/>
            <a:ext cx="5486400" cy="3054096"/>
          </a:xfrm>
          <a:prstGeom prst="roundRect">
            <a:avLst>
              <a:gd name="adj" fmla="val 1796"/>
            </a:avLst>
          </a:prstGeom>
          <a:solidFill>
            <a:srgbClr val="F6FBF8"/>
          </a:solidFill>
          <a:ln w="12700">
            <a:solidFill>
              <a:srgbClr val="BBD8C4">
                <a:alpha val="8800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8" name="Shape 6"/>
          <p:cNvSpPr/>
          <p:nvPr/>
        </p:nvSpPr>
        <p:spPr>
          <a:xfrm>
            <a:off x="868680" y="2578608"/>
            <a:ext cx="1600200" cy="301752"/>
          </a:xfrm>
          <a:prstGeom prst="roundRect">
            <a:avLst>
              <a:gd name="adj" fmla="val 18182"/>
            </a:avLst>
          </a:prstGeom>
          <a:solidFill>
            <a:srgbClr val="E9F5EE"/>
          </a:solidFill>
          <a:ln w="12700">
            <a:solidFill>
              <a:srgbClr val="E9F5EE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9" name="Text 7"/>
          <p:cNvSpPr/>
          <p:nvPr/>
        </p:nvSpPr>
        <p:spPr>
          <a:xfrm>
            <a:off x="941832" y="2642616"/>
            <a:ext cx="1453896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20" b="1" dirty="0">
                <a:solidFill>
                  <a:srgbClr val="007D34"/>
                </a:solidFill>
              </a:rPr>
              <a:t>ABLATION STUDY</a:t>
            </a:r>
            <a:endParaRPr lang="en-US" sz="920" dirty="0"/>
          </a:p>
        </p:txBody>
      </p:sp>
      <p:sp>
        <p:nvSpPr>
          <p:cNvPr id="10" name="Text 8"/>
          <p:cNvSpPr/>
          <p:nvPr/>
        </p:nvSpPr>
        <p:spPr>
          <a:xfrm>
            <a:off x="868680" y="2962656"/>
            <a:ext cx="28803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30" b="1" dirty="0">
                <a:solidFill>
                  <a:srgbClr val="1F1F1F"/>
                </a:solidFill>
              </a:rPr>
              <a:t>Quanto pesa ogni componente?</a:t>
            </a:r>
            <a:endParaRPr lang="en-US" sz="1230" dirty="0"/>
          </a:p>
        </p:txBody>
      </p:sp>
      <p:sp>
        <p:nvSpPr>
          <p:cNvPr id="11" name="Text 9"/>
          <p:cNvSpPr/>
          <p:nvPr/>
        </p:nvSpPr>
        <p:spPr>
          <a:xfrm>
            <a:off x="868680" y="3191256"/>
            <a:ext cx="48920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890" dirty="0">
                <a:solidFill>
                  <a:srgbClr val="5D6A62"/>
                </a:solidFill>
              </a:rPr>
              <a:t>Il confronto mostra che il 1-swap isolato non aggiunge qualità; il salto arriva dalla combinazione GRASP + repair + VND.</a:t>
            </a:r>
            <a:endParaRPr lang="en-US" sz="890" dirty="0"/>
          </a:p>
        </p:txBody>
      </p:sp>
      <p:sp>
        <p:nvSpPr>
          <p:cNvPr id="12" name="Shape 10"/>
          <p:cNvSpPr/>
          <p:nvPr/>
        </p:nvSpPr>
        <p:spPr>
          <a:xfrm>
            <a:off x="868680" y="3566160"/>
            <a:ext cx="1847088" cy="310896"/>
          </a:xfrm>
          <a:prstGeom prst="rect">
            <a:avLst/>
          </a:prstGeom>
          <a:solidFill>
            <a:srgbClr val="007D34"/>
          </a:solidFill>
          <a:ln w="12700">
            <a:solidFill>
              <a:srgbClr val="007D34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3" name="Text 11"/>
          <p:cNvSpPr/>
          <p:nvPr/>
        </p:nvSpPr>
        <p:spPr>
          <a:xfrm>
            <a:off x="905256" y="3657600"/>
            <a:ext cx="1773936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40" b="1" dirty="0">
                <a:solidFill>
                  <a:srgbClr val="FFFFFF"/>
                </a:solidFill>
              </a:rPr>
              <a:t>Variante</a:t>
            </a:r>
            <a:endParaRPr lang="en-US" sz="740" dirty="0"/>
          </a:p>
        </p:txBody>
      </p:sp>
      <p:sp>
        <p:nvSpPr>
          <p:cNvPr id="14" name="Shape 12"/>
          <p:cNvSpPr/>
          <p:nvPr/>
        </p:nvSpPr>
        <p:spPr>
          <a:xfrm>
            <a:off x="2715768" y="3566160"/>
            <a:ext cx="731520" cy="310896"/>
          </a:xfrm>
          <a:prstGeom prst="rect">
            <a:avLst/>
          </a:prstGeom>
          <a:solidFill>
            <a:srgbClr val="007D34"/>
          </a:solidFill>
          <a:ln w="12700">
            <a:solidFill>
              <a:srgbClr val="007D34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5" name="Text 13"/>
          <p:cNvSpPr/>
          <p:nvPr/>
        </p:nvSpPr>
        <p:spPr>
          <a:xfrm>
            <a:off x="2752344" y="3657600"/>
            <a:ext cx="658368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40" b="1" dirty="0">
                <a:solidFill>
                  <a:srgbClr val="FFFFFF"/>
                </a:solidFill>
              </a:rPr>
              <a:t>Amm.</a:t>
            </a:r>
            <a:endParaRPr lang="en-US" sz="740" dirty="0"/>
          </a:p>
        </p:txBody>
      </p:sp>
      <p:sp>
        <p:nvSpPr>
          <p:cNvPr id="16" name="Shape 14"/>
          <p:cNvSpPr/>
          <p:nvPr/>
        </p:nvSpPr>
        <p:spPr>
          <a:xfrm>
            <a:off x="3447288" y="3566160"/>
            <a:ext cx="658368" cy="310896"/>
          </a:xfrm>
          <a:prstGeom prst="rect">
            <a:avLst/>
          </a:prstGeom>
          <a:solidFill>
            <a:srgbClr val="007D34"/>
          </a:solidFill>
          <a:ln w="12700">
            <a:solidFill>
              <a:srgbClr val="007D34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7" name="Text 15"/>
          <p:cNvSpPr/>
          <p:nvPr/>
        </p:nvSpPr>
        <p:spPr>
          <a:xfrm>
            <a:off x="3483864" y="3657600"/>
            <a:ext cx="585216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40" b="1" dirty="0">
                <a:solidFill>
                  <a:srgbClr val="FFFFFF"/>
                </a:solidFill>
              </a:rPr>
              <a:t>Ottime</a:t>
            </a:r>
            <a:endParaRPr lang="en-US" sz="740" dirty="0"/>
          </a:p>
        </p:txBody>
      </p:sp>
      <p:sp>
        <p:nvSpPr>
          <p:cNvPr id="18" name="Shape 16"/>
          <p:cNvSpPr/>
          <p:nvPr/>
        </p:nvSpPr>
        <p:spPr>
          <a:xfrm>
            <a:off x="4105656" y="3566160"/>
            <a:ext cx="676656" cy="310896"/>
          </a:xfrm>
          <a:prstGeom prst="rect">
            <a:avLst/>
          </a:prstGeom>
          <a:solidFill>
            <a:srgbClr val="007D34"/>
          </a:solidFill>
          <a:ln w="12700">
            <a:solidFill>
              <a:srgbClr val="007D34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9" name="Text 17"/>
          <p:cNvSpPr/>
          <p:nvPr/>
        </p:nvSpPr>
        <p:spPr>
          <a:xfrm>
            <a:off x="4142232" y="3657600"/>
            <a:ext cx="603504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40" b="1" dirty="0">
                <a:solidFill>
                  <a:srgbClr val="FFFFFF"/>
                </a:solidFill>
              </a:rPr>
              <a:t>Gap</a:t>
            </a:r>
            <a:endParaRPr lang="en-US" sz="740" dirty="0"/>
          </a:p>
        </p:txBody>
      </p:sp>
      <p:sp>
        <p:nvSpPr>
          <p:cNvPr id="20" name="Shape 18"/>
          <p:cNvSpPr/>
          <p:nvPr/>
        </p:nvSpPr>
        <p:spPr>
          <a:xfrm>
            <a:off x="4782312" y="3566160"/>
            <a:ext cx="694944" cy="310896"/>
          </a:xfrm>
          <a:prstGeom prst="rect">
            <a:avLst/>
          </a:prstGeom>
          <a:solidFill>
            <a:srgbClr val="007D34"/>
          </a:solidFill>
          <a:ln w="12700">
            <a:solidFill>
              <a:srgbClr val="007D34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1" name="Text 19"/>
          <p:cNvSpPr/>
          <p:nvPr/>
        </p:nvSpPr>
        <p:spPr>
          <a:xfrm>
            <a:off x="4818888" y="3657600"/>
            <a:ext cx="621792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40" b="1" dirty="0">
                <a:solidFill>
                  <a:srgbClr val="FFFFFF"/>
                </a:solidFill>
              </a:rPr>
              <a:t>Tempo</a:t>
            </a:r>
            <a:endParaRPr lang="en-US" sz="740" dirty="0"/>
          </a:p>
        </p:txBody>
      </p:sp>
      <p:sp>
        <p:nvSpPr>
          <p:cNvPr id="22" name="Shape 20"/>
          <p:cNvSpPr/>
          <p:nvPr/>
        </p:nvSpPr>
        <p:spPr>
          <a:xfrm>
            <a:off x="868680" y="3877056"/>
            <a:ext cx="1847088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DDE8E1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3" name="Text 21"/>
          <p:cNvSpPr/>
          <p:nvPr/>
        </p:nvSpPr>
        <p:spPr>
          <a:xfrm>
            <a:off x="905256" y="3986784"/>
            <a:ext cx="1773936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20000"/>
          </a:bodyPr>
          <a:lstStyle/>
          <a:p>
            <a:pPr marL="0" indent="0" algn="l">
              <a:buNone/>
            </a:pPr>
            <a:r>
              <a:rPr lang="en-US" sz="750" dirty="0">
                <a:solidFill>
                  <a:srgbClr val="1F1F1F"/>
                </a:solidFill>
              </a:rPr>
              <a:t>Greedy</a:t>
            </a:r>
            <a:endParaRPr lang="en-US" sz="750" dirty="0"/>
          </a:p>
        </p:txBody>
      </p:sp>
      <p:sp>
        <p:nvSpPr>
          <p:cNvPr id="24" name="Shape 22"/>
          <p:cNvSpPr/>
          <p:nvPr/>
        </p:nvSpPr>
        <p:spPr>
          <a:xfrm>
            <a:off x="2715768" y="3877056"/>
            <a:ext cx="73152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DDE8E1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5" name="Text 23"/>
          <p:cNvSpPr/>
          <p:nvPr/>
        </p:nvSpPr>
        <p:spPr>
          <a:xfrm>
            <a:off x="2752344" y="3986784"/>
            <a:ext cx="658368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20000"/>
          </a:bodyPr>
          <a:lstStyle/>
          <a:p>
            <a:pPr marL="0" indent="0" algn="ctr">
              <a:buNone/>
            </a:pPr>
            <a:r>
              <a:rPr lang="en-US" sz="720" dirty="0">
                <a:solidFill>
                  <a:srgbClr val="5D6A62"/>
                </a:solidFill>
              </a:rPr>
              <a:t>80/90</a:t>
            </a:r>
            <a:endParaRPr lang="en-US" sz="720" dirty="0"/>
          </a:p>
        </p:txBody>
      </p:sp>
      <p:sp>
        <p:nvSpPr>
          <p:cNvPr id="26" name="Shape 24"/>
          <p:cNvSpPr/>
          <p:nvPr/>
        </p:nvSpPr>
        <p:spPr>
          <a:xfrm>
            <a:off x="3447288" y="3877056"/>
            <a:ext cx="658368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DDE8E1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7" name="Text 25"/>
          <p:cNvSpPr/>
          <p:nvPr/>
        </p:nvSpPr>
        <p:spPr>
          <a:xfrm>
            <a:off x="3483864" y="3986784"/>
            <a:ext cx="585216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20000"/>
          </a:bodyPr>
          <a:lstStyle/>
          <a:p>
            <a:pPr marL="0" indent="0" algn="ctr">
              <a:buNone/>
            </a:pPr>
            <a:r>
              <a:rPr lang="en-US" sz="720" dirty="0">
                <a:solidFill>
                  <a:srgbClr val="5D6A62"/>
                </a:solidFill>
              </a:rPr>
              <a:t>75/89</a:t>
            </a:r>
            <a:endParaRPr lang="en-US" sz="720" dirty="0"/>
          </a:p>
        </p:txBody>
      </p:sp>
      <p:sp>
        <p:nvSpPr>
          <p:cNvPr id="28" name="Shape 26"/>
          <p:cNvSpPr/>
          <p:nvPr/>
        </p:nvSpPr>
        <p:spPr>
          <a:xfrm>
            <a:off x="4105656" y="3877056"/>
            <a:ext cx="676656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DDE8E1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9" name="Text 27"/>
          <p:cNvSpPr/>
          <p:nvPr/>
        </p:nvSpPr>
        <p:spPr>
          <a:xfrm>
            <a:off x="4142232" y="3986784"/>
            <a:ext cx="603504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20000"/>
          </a:bodyPr>
          <a:lstStyle/>
          <a:p>
            <a:pPr marL="0" indent="0" algn="ctr">
              <a:buNone/>
            </a:pPr>
            <a:r>
              <a:rPr lang="en-US" sz="720" dirty="0">
                <a:solidFill>
                  <a:srgbClr val="5D6A62"/>
                </a:solidFill>
              </a:rPr>
              <a:t>1,072%</a:t>
            </a:r>
            <a:endParaRPr lang="en-US" sz="720" dirty="0"/>
          </a:p>
        </p:txBody>
      </p:sp>
      <p:sp>
        <p:nvSpPr>
          <p:cNvPr id="30" name="Shape 28"/>
          <p:cNvSpPr/>
          <p:nvPr/>
        </p:nvSpPr>
        <p:spPr>
          <a:xfrm>
            <a:off x="4782312" y="3877056"/>
            <a:ext cx="694944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DDE8E1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1" name="Text 29"/>
          <p:cNvSpPr/>
          <p:nvPr/>
        </p:nvSpPr>
        <p:spPr>
          <a:xfrm>
            <a:off x="4818888" y="3986784"/>
            <a:ext cx="621792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20000"/>
          </a:bodyPr>
          <a:lstStyle/>
          <a:p>
            <a:pPr marL="0" indent="0" algn="ctr">
              <a:buNone/>
            </a:pPr>
            <a:r>
              <a:rPr lang="en-US" sz="720" dirty="0">
                <a:solidFill>
                  <a:srgbClr val="5D6A62"/>
                </a:solidFill>
              </a:rPr>
              <a:t>0,251s</a:t>
            </a:r>
            <a:endParaRPr lang="en-US" sz="720" dirty="0"/>
          </a:p>
        </p:txBody>
      </p:sp>
      <p:sp>
        <p:nvSpPr>
          <p:cNvPr id="32" name="Shape 30"/>
          <p:cNvSpPr/>
          <p:nvPr/>
        </p:nvSpPr>
        <p:spPr>
          <a:xfrm>
            <a:off x="868680" y="4224528"/>
            <a:ext cx="1847088" cy="347472"/>
          </a:xfrm>
          <a:prstGeom prst="rect">
            <a:avLst/>
          </a:prstGeom>
          <a:solidFill>
            <a:srgbClr val="F1F7F3"/>
          </a:solidFill>
          <a:ln w="12700">
            <a:solidFill>
              <a:srgbClr val="DDE8E1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3" name="Text 31"/>
          <p:cNvSpPr/>
          <p:nvPr/>
        </p:nvSpPr>
        <p:spPr>
          <a:xfrm>
            <a:off x="905256" y="4334256"/>
            <a:ext cx="1773936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20000"/>
          </a:bodyPr>
          <a:lstStyle/>
          <a:p>
            <a:pPr marL="0" indent="0" algn="l">
              <a:buNone/>
            </a:pPr>
            <a:r>
              <a:rPr lang="en-US" sz="750" dirty="0">
                <a:solidFill>
                  <a:srgbClr val="1F1F1F"/>
                </a:solidFill>
              </a:rPr>
              <a:t>Greedy + 1-swap</a:t>
            </a:r>
            <a:endParaRPr lang="en-US" sz="750" dirty="0"/>
          </a:p>
        </p:txBody>
      </p:sp>
      <p:sp>
        <p:nvSpPr>
          <p:cNvPr id="34" name="Shape 32"/>
          <p:cNvSpPr/>
          <p:nvPr/>
        </p:nvSpPr>
        <p:spPr>
          <a:xfrm>
            <a:off x="2715768" y="4224528"/>
            <a:ext cx="731520" cy="347472"/>
          </a:xfrm>
          <a:prstGeom prst="rect">
            <a:avLst/>
          </a:prstGeom>
          <a:solidFill>
            <a:srgbClr val="F1F7F3"/>
          </a:solidFill>
          <a:ln w="12700">
            <a:solidFill>
              <a:srgbClr val="DDE8E1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5" name="Text 33"/>
          <p:cNvSpPr/>
          <p:nvPr/>
        </p:nvSpPr>
        <p:spPr>
          <a:xfrm>
            <a:off x="2752344" y="4334256"/>
            <a:ext cx="658368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20000"/>
          </a:bodyPr>
          <a:lstStyle/>
          <a:p>
            <a:pPr marL="0" indent="0" algn="ctr">
              <a:buNone/>
            </a:pPr>
            <a:r>
              <a:rPr lang="en-US" sz="720" dirty="0">
                <a:solidFill>
                  <a:srgbClr val="5D6A62"/>
                </a:solidFill>
              </a:rPr>
              <a:t>80/90</a:t>
            </a:r>
            <a:endParaRPr lang="en-US" sz="720" dirty="0"/>
          </a:p>
        </p:txBody>
      </p:sp>
      <p:sp>
        <p:nvSpPr>
          <p:cNvPr id="36" name="Shape 34"/>
          <p:cNvSpPr/>
          <p:nvPr/>
        </p:nvSpPr>
        <p:spPr>
          <a:xfrm>
            <a:off x="3447288" y="4224528"/>
            <a:ext cx="658368" cy="347472"/>
          </a:xfrm>
          <a:prstGeom prst="rect">
            <a:avLst/>
          </a:prstGeom>
          <a:solidFill>
            <a:srgbClr val="F1F7F3"/>
          </a:solidFill>
          <a:ln w="12700">
            <a:solidFill>
              <a:srgbClr val="DDE8E1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7" name="Text 35"/>
          <p:cNvSpPr/>
          <p:nvPr/>
        </p:nvSpPr>
        <p:spPr>
          <a:xfrm>
            <a:off x="3483864" y="4334256"/>
            <a:ext cx="585216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20000"/>
          </a:bodyPr>
          <a:lstStyle/>
          <a:p>
            <a:pPr marL="0" indent="0" algn="ctr">
              <a:buNone/>
            </a:pPr>
            <a:r>
              <a:rPr lang="en-US" sz="720" dirty="0">
                <a:solidFill>
                  <a:srgbClr val="5D6A62"/>
                </a:solidFill>
              </a:rPr>
              <a:t>75/89</a:t>
            </a:r>
            <a:endParaRPr lang="en-US" sz="720" dirty="0"/>
          </a:p>
        </p:txBody>
      </p:sp>
      <p:sp>
        <p:nvSpPr>
          <p:cNvPr id="38" name="Shape 36"/>
          <p:cNvSpPr/>
          <p:nvPr/>
        </p:nvSpPr>
        <p:spPr>
          <a:xfrm>
            <a:off x="4105656" y="4224528"/>
            <a:ext cx="676656" cy="347472"/>
          </a:xfrm>
          <a:prstGeom prst="rect">
            <a:avLst/>
          </a:prstGeom>
          <a:solidFill>
            <a:srgbClr val="F1F7F3"/>
          </a:solidFill>
          <a:ln w="12700">
            <a:solidFill>
              <a:srgbClr val="DDE8E1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9" name="Text 37"/>
          <p:cNvSpPr/>
          <p:nvPr/>
        </p:nvSpPr>
        <p:spPr>
          <a:xfrm>
            <a:off x="4142232" y="4334256"/>
            <a:ext cx="603504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20000"/>
          </a:bodyPr>
          <a:lstStyle/>
          <a:p>
            <a:pPr marL="0" indent="0" algn="ctr">
              <a:buNone/>
            </a:pPr>
            <a:r>
              <a:rPr lang="en-US" sz="720" dirty="0">
                <a:solidFill>
                  <a:srgbClr val="5D6A62"/>
                </a:solidFill>
              </a:rPr>
              <a:t>1,072%</a:t>
            </a:r>
            <a:endParaRPr lang="en-US" sz="720" dirty="0"/>
          </a:p>
        </p:txBody>
      </p:sp>
      <p:sp>
        <p:nvSpPr>
          <p:cNvPr id="40" name="Shape 38"/>
          <p:cNvSpPr/>
          <p:nvPr/>
        </p:nvSpPr>
        <p:spPr>
          <a:xfrm>
            <a:off x="4782312" y="4224528"/>
            <a:ext cx="694944" cy="347472"/>
          </a:xfrm>
          <a:prstGeom prst="rect">
            <a:avLst/>
          </a:prstGeom>
          <a:solidFill>
            <a:srgbClr val="F1F7F3"/>
          </a:solidFill>
          <a:ln w="12700">
            <a:solidFill>
              <a:srgbClr val="DDE8E1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41" name="Text 39"/>
          <p:cNvSpPr/>
          <p:nvPr/>
        </p:nvSpPr>
        <p:spPr>
          <a:xfrm>
            <a:off x="4818888" y="4334256"/>
            <a:ext cx="621792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20000"/>
          </a:bodyPr>
          <a:lstStyle/>
          <a:p>
            <a:pPr marL="0" indent="0" algn="ctr">
              <a:buNone/>
            </a:pPr>
            <a:r>
              <a:rPr lang="en-US" sz="720" dirty="0">
                <a:solidFill>
                  <a:srgbClr val="5D6A62"/>
                </a:solidFill>
              </a:rPr>
              <a:t>0,652s</a:t>
            </a:r>
            <a:endParaRPr lang="en-US" sz="720" dirty="0"/>
          </a:p>
        </p:txBody>
      </p:sp>
      <p:sp>
        <p:nvSpPr>
          <p:cNvPr id="42" name="Shape 40"/>
          <p:cNvSpPr/>
          <p:nvPr/>
        </p:nvSpPr>
        <p:spPr>
          <a:xfrm>
            <a:off x="868680" y="4572000"/>
            <a:ext cx="1847088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DDE8E1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43" name="Text 41"/>
          <p:cNvSpPr/>
          <p:nvPr/>
        </p:nvSpPr>
        <p:spPr>
          <a:xfrm>
            <a:off x="905256" y="4681728"/>
            <a:ext cx="1773936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20000"/>
          </a:bodyPr>
          <a:lstStyle/>
          <a:p>
            <a:pPr marL="0" indent="0" algn="l">
              <a:buNone/>
            </a:pPr>
            <a:r>
              <a:rPr lang="en-US" sz="750" b="1" dirty="0">
                <a:solidFill>
                  <a:srgbClr val="1F1F1F"/>
                </a:solidFill>
              </a:rPr>
              <a:t>GRASP-VND seed 42</a:t>
            </a:r>
            <a:endParaRPr lang="en-US" sz="750" dirty="0"/>
          </a:p>
        </p:txBody>
      </p:sp>
      <p:sp>
        <p:nvSpPr>
          <p:cNvPr id="44" name="Shape 42"/>
          <p:cNvSpPr/>
          <p:nvPr/>
        </p:nvSpPr>
        <p:spPr>
          <a:xfrm>
            <a:off x="2715768" y="4572000"/>
            <a:ext cx="73152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DDE8E1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45" name="Text 43"/>
          <p:cNvSpPr/>
          <p:nvPr/>
        </p:nvSpPr>
        <p:spPr>
          <a:xfrm>
            <a:off x="2752344" y="4681728"/>
            <a:ext cx="658368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20000"/>
          </a:bodyPr>
          <a:lstStyle/>
          <a:p>
            <a:pPr marL="0" indent="0" algn="ctr">
              <a:buNone/>
            </a:pPr>
            <a:r>
              <a:rPr lang="en-US" sz="720" dirty="0">
                <a:solidFill>
                  <a:srgbClr val="5D6A62"/>
                </a:solidFill>
              </a:rPr>
              <a:t>90/90</a:t>
            </a:r>
            <a:endParaRPr lang="en-US" sz="720" dirty="0"/>
          </a:p>
        </p:txBody>
      </p:sp>
      <p:sp>
        <p:nvSpPr>
          <p:cNvPr id="46" name="Shape 44"/>
          <p:cNvSpPr/>
          <p:nvPr/>
        </p:nvSpPr>
        <p:spPr>
          <a:xfrm>
            <a:off x="3447288" y="4572000"/>
            <a:ext cx="658368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DDE8E1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47" name="Text 45"/>
          <p:cNvSpPr/>
          <p:nvPr/>
        </p:nvSpPr>
        <p:spPr>
          <a:xfrm>
            <a:off x="3483864" y="4681728"/>
            <a:ext cx="585216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20000"/>
          </a:bodyPr>
          <a:lstStyle/>
          <a:p>
            <a:pPr marL="0" indent="0" algn="ctr">
              <a:buNone/>
            </a:pPr>
            <a:r>
              <a:rPr lang="en-US" sz="720" dirty="0">
                <a:solidFill>
                  <a:srgbClr val="5D6A62"/>
                </a:solidFill>
              </a:rPr>
              <a:t>85/89</a:t>
            </a:r>
            <a:endParaRPr lang="en-US" sz="720" dirty="0"/>
          </a:p>
        </p:txBody>
      </p:sp>
      <p:sp>
        <p:nvSpPr>
          <p:cNvPr id="48" name="Shape 46"/>
          <p:cNvSpPr/>
          <p:nvPr/>
        </p:nvSpPr>
        <p:spPr>
          <a:xfrm>
            <a:off x="4105656" y="4572000"/>
            <a:ext cx="676656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DDE8E1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49" name="Text 47"/>
          <p:cNvSpPr/>
          <p:nvPr/>
        </p:nvSpPr>
        <p:spPr>
          <a:xfrm>
            <a:off x="4142232" y="4681728"/>
            <a:ext cx="603504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20000"/>
          </a:bodyPr>
          <a:lstStyle/>
          <a:p>
            <a:pPr marL="0" indent="0" algn="ctr">
              <a:buNone/>
            </a:pPr>
            <a:r>
              <a:rPr lang="en-US" sz="720" dirty="0">
                <a:solidFill>
                  <a:srgbClr val="5D6A62"/>
                </a:solidFill>
              </a:rPr>
              <a:t>0,316%</a:t>
            </a:r>
            <a:endParaRPr lang="en-US" sz="720" dirty="0"/>
          </a:p>
        </p:txBody>
      </p:sp>
      <p:sp>
        <p:nvSpPr>
          <p:cNvPr id="50" name="Shape 48"/>
          <p:cNvSpPr/>
          <p:nvPr/>
        </p:nvSpPr>
        <p:spPr>
          <a:xfrm>
            <a:off x="4782312" y="4572000"/>
            <a:ext cx="694944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DDE8E1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51" name="Text 49"/>
          <p:cNvSpPr/>
          <p:nvPr/>
        </p:nvSpPr>
        <p:spPr>
          <a:xfrm>
            <a:off x="4818888" y="4681728"/>
            <a:ext cx="621792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20000"/>
          </a:bodyPr>
          <a:lstStyle/>
          <a:p>
            <a:pPr marL="0" indent="0" algn="ctr">
              <a:buNone/>
            </a:pPr>
            <a:r>
              <a:rPr lang="en-US" sz="720" dirty="0">
                <a:solidFill>
                  <a:srgbClr val="5D6A62"/>
                </a:solidFill>
              </a:rPr>
              <a:t>2,283s</a:t>
            </a:r>
            <a:endParaRPr lang="en-US" sz="720" dirty="0"/>
          </a:p>
        </p:txBody>
      </p:sp>
      <p:sp>
        <p:nvSpPr>
          <p:cNvPr id="52" name="Shape 50"/>
          <p:cNvSpPr/>
          <p:nvPr/>
        </p:nvSpPr>
        <p:spPr>
          <a:xfrm>
            <a:off x="868680" y="4919472"/>
            <a:ext cx="1847088" cy="347472"/>
          </a:xfrm>
          <a:prstGeom prst="rect">
            <a:avLst/>
          </a:prstGeom>
          <a:solidFill>
            <a:srgbClr val="F1F7F3"/>
          </a:solidFill>
          <a:ln w="12700">
            <a:solidFill>
              <a:srgbClr val="DDE8E1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53" name="Text 51"/>
          <p:cNvSpPr/>
          <p:nvPr/>
        </p:nvSpPr>
        <p:spPr>
          <a:xfrm>
            <a:off x="905256" y="5029200"/>
            <a:ext cx="1773936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20000"/>
          </a:bodyPr>
          <a:lstStyle/>
          <a:p>
            <a:pPr marL="0" indent="0" algn="l">
              <a:buNone/>
            </a:pPr>
            <a:r>
              <a:rPr lang="en-US" sz="750" b="1" dirty="0">
                <a:solidFill>
                  <a:srgbClr val="1F1F1F"/>
                </a:solidFill>
              </a:rPr>
              <a:t>GRASP-VND best-of-5</a:t>
            </a:r>
            <a:endParaRPr lang="en-US" sz="750" dirty="0"/>
          </a:p>
        </p:txBody>
      </p:sp>
      <p:sp>
        <p:nvSpPr>
          <p:cNvPr id="54" name="Shape 52"/>
          <p:cNvSpPr/>
          <p:nvPr/>
        </p:nvSpPr>
        <p:spPr>
          <a:xfrm>
            <a:off x="2715768" y="4919472"/>
            <a:ext cx="731520" cy="347472"/>
          </a:xfrm>
          <a:prstGeom prst="rect">
            <a:avLst/>
          </a:prstGeom>
          <a:solidFill>
            <a:srgbClr val="F1F7F3"/>
          </a:solidFill>
          <a:ln w="12700">
            <a:solidFill>
              <a:srgbClr val="DDE8E1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55" name="Text 53"/>
          <p:cNvSpPr/>
          <p:nvPr/>
        </p:nvSpPr>
        <p:spPr>
          <a:xfrm>
            <a:off x="2752344" y="5029200"/>
            <a:ext cx="658368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20000"/>
          </a:bodyPr>
          <a:lstStyle/>
          <a:p>
            <a:pPr marL="0" indent="0" algn="ctr">
              <a:buNone/>
            </a:pPr>
            <a:r>
              <a:rPr lang="en-US" sz="720" dirty="0">
                <a:solidFill>
                  <a:srgbClr val="5D6A62"/>
                </a:solidFill>
              </a:rPr>
              <a:t>90/90</a:t>
            </a:r>
            <a:endParaRPr lang="en-US" sz="720" dirty="0"/>
          </a:p>
        </p:txBody>
      </p:sp>
      <p:sp>
        <p:nvSpPr>
          <p:cNvPr id="56" name="Shape 54"/>
          <p:cNvSpPr/>
          <p:nvPr/>
        </p:nvSpPr>
        <p:spPr>
          <a:xfrm>
            <a:off x="3447288" y="4919472"/>
            <a:ext cx="658368" cy="347472"/>
          </a:xfrm>
          <a:prstGeom prst="rect">
            <a:avLst/>
          </a:prstGeom>
          <a:solidFill>
            <a:srgbClr val="F1F7F3"/>
          </a:solidFill>
          <a:ln w="12700">
            <a:solidFill>
              <a:srgbClr val="DDE8E1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57" name="Text 55"/>
          <p:cNvSpPr/>
          <p:nvPr/>
        </p:nvSpPr>
        <p:spPr>
          <a:xfrm>
            <a:off x="3483864" y="5029200"/>
            <a:ext cx="585216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20000"/>
          </a:bodyPr>
          <a:lstStyle/>
          <a:p>
            <a:pPr marL="0" indent="0" algn="ctr">
              <a:buNone/>
            </a:pPr>
            <a:r>
              <a:rPr lang="en-US" sz="720" dirty="0">
                <a:solidFill>
                  <a:srgbClr val="5D6A62"/>
                </a:solidFill>
              </a:rPr>
              <a:t>85/89</a:t>
            </a:r>
            <a:endParaRPr lang="en-US" sz="720" dirty="0"/>
          </a:p>
        </p:txBody>
      </p:sp>
      <p:sp>
        <p:nvSpPr>
          <p:cNvPr id="58" name="Shape 56"/>
          <p:cNvSpPr/>
          <p:nvPr/>
        </p:nvSpPr>
        <p:spPr>
          <a:xfrm>
            <a:off x="4105656" y="4919472"/>
            <a:ext cx="676656" cy="347472"/>
          </a:xfrm>
          <a:prstGeom prst="rect">
            <a:avLst/>
          </a:prstGeom>
          <a:solidFill>
            <a:srgbClr val="F1F7F3"/>
          </a:solidFill>
          <a:ln w="12700">
            <a:solidFill>
              <a:srgbClr val="DDE8E1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59" name="Text 57"/>
          <p:cNvSpPr/>
          <p:nvPr/>
        </p:nvSpPr>
        <p:spPr>
          <a:xfrm>
            <a:off x="4142232" y="5029200"/>
            <a:ext cx="603504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20000"/>
          </a:bodyPr>
          <a:lstStyle/>
          <a:p>
            <a:pPr marL="0" indent="0" algn="ctr">
              <a:buNone/>
            </a:pPr>
            <a:r>
              <a:rPr lang="en-US" sz="720" dirty="0">
                <a:solidFill>
                  <a:srgbClr val="5D6A62"/>
                </a:solidFill>
              </a:rPr>
              <a:t>0,223%</a:t>
            </a:r>
            <a:endParaRPr lang="en-US" sz="720" dirty="0"/>
          </a:p>
        </p:txBody>
      </p:sp>
      <p:sp>
        <p:nvSpPr>
          <p:cNvPr id="60" name="Shape 58"/>
          <p:cNvSpPr/>
          <p:nvPr/>
        </p:nvSpPr>
        <p:spPr>
          <a:xfrm>
            <a:off x="4782312" y="4919472"/>
            <a:ext cx="694944" cy="347472"/>
          </a:xfrm>
          <a:prstGeom prst="rect">
            <a:avLst/>
          </a:prstGeom>
          <a:solidFill>
            <a:srgbClr val="F1F7F3"/>
          </a:solidFill>
          <a:ln w="12700">
            <a:solidFill>
              <a:srgbClr val="DDE8E1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61" name="Text 59"/>
          <p:cNvSpPr/>
          <p:nvPr/>
        </p:nvSpPr>
        <p:spPr>
          <a:xfrm>
            <a:off x="4818888" y="5029200"/>
            <a:ext cx="621792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20000"/>
          </a:bodyPr>
          <a:lstStyle/>
          <a:p>
            <a:pPr marL="0" indent="0" algn="ctr">
              <a:buNone/>
            </a:pPr>
            <a:r>
              <a:rPr lang="en-US" sz="720" dirty="0">
                <a:solidFill>
                  <a:srgbClr val="5D6A62"/>
                </a:solidFill>
              </a:rPr>
              <a:t>11,747s</a:t>
            </a:r>
            <a:endParaRPr lang="en-US" sz="720" dirty="0"/>
          </a:p>
        </p:txBody>
      </p:sp>
      <p:sp>
        <p:nvSpPr>
          <p:cNvPr id="62" name="Shape 60"/>
          <p:cNvSpPr/>
          <p:nvPr/>
        </p:nvSpPr>
        <p:spPr>
          <a:xfrm>
            <a:off x="6355080" y="2212848"/>
            <a:ext cx="5175504" cy="3218688"/>
          </a:xfrm>
          <a:prstGeom prst="roundRect">
            <a:avLst>
              <a:gd name="adj" fmla="val 1796"/>
            </a:avLst>
          </a:prstGeom>
          <a:solidFill>
            <a:srgbClr val="FFFFFF"/>
          </a:solidFill>
          <a:ln w="12700">
            <a:solidFill>
              <a:srgbClr val="BBD8C4">
                <a:alpha val="8800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64" name="Text 62"/>
          <p:cNvSpPr/>
          <p:nvPr/>
        </p:nvSpPr>
        <p:spPr>
          <a:xfrm>
            <a:off x="6176630" y="2296382"/>
            <a:ext cx="182880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20" b="1" dirty="0">
                <a:solidFill>
                  <a:srgbClr val="007D34"/>
                </a:solidFill>
              </a:rPr>
              <a:t>CASO NON CERTIFICATO</a:t>
            </a:r>
            <a:endParaRPr lang="en-US" sz="920" dirty="0"/>
          </a:p>
        </p:txBody>
      </p:sp>
      <p:sp>
        <p:nvSpPr>
          <p:cNvPr id="65" name="Text 63"/>
          <p:cNvSpPr/>
          <p:nvPr/>
        </p:nvSpPr>
        <p:spPr>
          <a:xfrm>
            <a:off x="8037292" y="2261054"/>
            <a:ext cx="24231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F1F1F"/>
                </a:solidFill>
              </a:rPr>
              <a:t>xlarge_uniform_tight_004</a:t>
            </a:r>
            <a:endParaRPr lang="en-US" sz="1200" dirty="0"/>
          </a:p>
        </p:txBody>
      </p:sp>
      <p:sp>
        <p:nvSpPr>
          <p:cNvPr id="66" name="Text 64"/>
          <p:cNvSpPr/>
          <p:nvPr/>
        </p:nvSpPr>
        <p:spPr>
          <a:xfrm>
            <a:off x="7017887" y="2516545"/>
            <a:ext cx="4434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90" dirty="0">
                <a:solidFill>
                  <a:srgbClr val="5D6A62"/>
                </a:solidFill>
              </a:rPr>
              <a:t>Il compact trova un incumbent, ma va in time limit senza certificare l’ottimo.</a:t>
            </a:r>
            <a:endParaRPr lang="en-US" sz="890" dirty="0"/>
          </a:p>
        </p:txBody>
      </p:sp>
      <p:sp>
        <p:nvSpPr>
          <p:cNvPr id="68" name="Shape 65"/>
          <p:cNvSpPr/>
          <p:nvPr/>
        </p:nvSpPr>
        <p:spPr>
          <a:xfrm>
            <a:off x="658368" y="5650992"/>
            <a:ext cx="10872216" cy="676656"/>
          </a:xfrm>
          <a:prstGeom prst="roundRect">
            <a:avLst>
              <a:gd name="adj" fmla="val 8108"/>
            </a:avLst>
          </a:prstGeom>
          <a:solidFill>
            <a:srgbClr val="F5F6F4"/>
          </a:solidFill>
          <a:ln w="12700">
            <a:solidFill>
              <a:srgbClr val="BBD8C4">
                <a:alpha val="8800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69" name="Text 66"/>
          <p:cNvSpPr/>
          <p:nvPr/>
        </p:nvSpPr>
        <p:spPr>
          <a:xfrm>
            <a:off x="868680" y="5925312"/>
            <a:ext cx="10515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F1F1F"/>
                </a:solidFill>
              </a:rPr>
              <a:t>Limiti emersi</a:t>
            </a:r>
            <a:endParaRPr lang="en-US" sz="1150" dirty="0"/>
          </a:p>
        </p:txBody>
      </p:sp>
      <p:sp>
        <p:nvSpPr>
          <p:cNvPr id="70" name="Shape 67"/>
          <p:cNvSpPr/>
          <p:nvPr/>
        </p:nvSpPr>
        <p:spPr>
          <a:xfrm>
            <a:off x="2103120" y="5820156"/>
            <a:ext cx="68580" cy="68580"/>
          </a:xfrm>
          <a:prstGeom prst="ellipse">
            <a:avLst/>
          </a:prstGeom>
          <a:solidFill>
            <a:srgbClr val="007D34"/>
          </a:solidFill>
          <a:ln w="12700">
            <a:solidFill>
              <a:srgbClr val="007D34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71" name="Text 68"/>
          <p:cNvSpPr/>
          <p:nvPr/>
        </p:nvSpPr>
        <p:spPr>
          <a:xfrm>
            <a:off x="2231135" y="5742432"/>
            <a:ext cx="359261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1F1F1F"/>
                </a:solidFill>
              </a:rPr>
              <a:t>Le classi tight concentrano fallimenti e perdita di qualità.</a:t>
            </a:r>
            <a:endParaRPr lang="en-US" sz="1200" dirty="0"/>
          </a:p>
        </p:txBody>
      </p:sp>
      <p:sp>
        <p:nvSpPr>
          <p:cNvPr id="72" name="Shape 69"/>
          <p:cNvSpPr/>
          <p:nvPr/>
        </p:nvSpPr>
        <p:spPr>
          <a:xfrm>
            <a:off x="4443984" y="6102777"/>
            <a:ext cx="68580" cy="68580"/>
          </a:xfrm>
          <a:prstGeom prst="ellipse">
            <a:avLst/>
          </a:prstGeom>
          <a:solidFill>
            <a:srgbClr val="007D34"/>
          </a:solidFill>
          <a:ln w="12700">
            <a:solidFill>
              <a:srgbClr val="007D34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73" name="Text 70"/>
          <p:cNvSpPr/>
          <p:nvPr/>
        </p:nvSpPr>
        <p:spPr>
          <a:xfrm>
            <a:off x="4647363" y="5989320"/>
            <a:ext cx="4194796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1F1F1F"/>
                </a:solidFill>
              </a:rPr>
              <a:t>L’upper bound H2 è valido, ma non sempre abbastanza stretto.</a:t>
            </a:r>
            <a:endParaRPr lang="en-US" sz="1200" dirty="0"/>
          </a:p>
        </p:txBody>
      </p:sp>
      <p:sp>
        <p:nvSpPr>
          <p:cNvPr id="74" name="Shape 71"/>
          <p:cNvSpPr/>
          <p:nvPr/>
        </p:nvSpPr>
        <p:spPr>
          <a:xfrm>
            <a:off x="6796278" y="5811012"/>
            <a:ext cx="68580" cy="68580"/>
          </a:xfrm>
          <a:prstGeom prst="ellipse">
            <a:avLst/>
          </a:prstGeom>
          <a:solidFill>
            <a:srgbClr val="007D34"/>
          </a:solidFill>
          <a:ln w="12700">
            <a:solidFill>
              <a:srgbClr val="007D34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75" name="Text 72"/>
          <p:cNvSpPr/>
          <p:nvPr/>
        </p:nvSpPr>
        <p:spPr>
          <a:xfrm>
            <a:off x="6933438" y="5735233"/>
            <a:ext cx="4514850" cy="23579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1F1F1F"/>
                </a:solidFill>
              </a:rPr>
              <a:t>Sulle istanze più grandi il compact può non certificare entro il time limit.</a:t>
            </a:r>
            <a:endParaRPr lang="en-US" sz="1200" dirty="0"/>
          </a:p>
        </p:txBody>
      </p:sp>
      <p:sp>
        <p:nvSpPr>
          <p:cNvPr id="76" name="Text 73"/>
          <p:cNvSpPr/>
          <p:nvPr/>
        </p:nvSpPr>
        <p:spPr>
          <a:xfrm>
            <a:off x="7909560" y="6547104"/>
            <a:ext cx="34290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80" dirty="0">
                <a:solidFill>
                  <a:srgbClr val="7F7F7F"/>
                </a:solidFill>
              </a:rPr>
              <a:t>AMOD · CMMOFLP Nuclear Siting</a:t>
            </a:r>
            <a:endParaRPr lang="en-US" sz="780" dirty="0"/>
          </a:p>
        </p:txBody>
      </p:sp>
      <p:sp>
        <p:nvSpPr>
          <p:cNvPr id="77" name="Text 74"/>
          <p:cNvSpPr/>
          <p:nvPr/>
        </p:nvSpPr>
        <p:spPr>
          <a:xfrm>
            <a:off x="11649456" y="6537960"/>
            <a:ext cx="20116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7F7F7F"/>
                </a:solidFill>
              </a:rPr>
              <a:t>12</a:t>
            </a:r>
            <a:endParaRPr lang="en-US" sz="800" dirty="0"/>
          </a:p>
        </p:txBody>
      </p:sp>
      <p:pic>
        <p:nvPicPr>
          <p:cNvPr id="79" name="Immagine 78">
            <a:extLst>
              <a:ext uri="{FF2B5EF4-FFF2-40B4-BE49-F238E27FC236}">
                <a16:creationId xmlns:a16="http://schemas.microsoft.com/office/drawing/2014/main" id="{9CD0FDF7-EF34-406E-37A6-0BAA42F0C2F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21424" y="2745619"/>
            <a:ext cx="4117835" cy="26652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493508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1408176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>
              <a:buNone/>
            </a:pPr>
            <a:r>
              <a:rPr lang="en-US" sz="3000" b="1" dirty="0">
                <a:solidFill>
                  <a:srgbClr val="007D34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Conclusioni: cosa abbiamo imparato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85800" y="1901952"/>
            <a:ext cx="8595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7F7F7F"/>
                </a:solidFill>
              </a:rPr>
              <a:t>Il progetto non si è limitato a “risolvere istanze”: ha costruito un percorso completo, dal modello alla verifica sperimentale.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9802368" y="1307592"/>
            <a:ext cx="1719072" cy="301752"/>
          </a:xfrm>
          <a:prstGeom prst="roundRect">
            <a:avLst>
              <a:gd name="adj" fmla="val 18182"/>
            </a:avLst>
          </a:prstGeom>
          <a:solidFill>
            <a:srgbClr val="E9F5EE"/>
          </a:solidFill>
          <a:ln w="12700">
            <a:solidFill>
              <a:srgbClr val="E9F5EE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5" name="Text 3"/>
          <p:cNvSpPr/>
          <p:nvPr/>
        </p:nvSpPr>
        <p:spPr>
          <a:xfrm>
            <a:off x="9875520" y="1406104"/>
            <a:ext cx="1572768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20" b="1" dirty="0">
                <a:solidFill>
                  <a:srgbClr val="007D34"/>
                </a:solidFill>
              </a:rPr>
              <a:t>CONCLUSIONI</a:t>
            </a:r>
            <a:endParaRPr lang="en-US" sz="920" dirty="0"/>
          </a:p>
        </p:txBody>
      </p:sp>
      <p:sp>
        <p:nvSpPr>
          <p:cNvPr id="7" name="Shape 5"/>
          <p:cNvSpPr/>
          <p:nvPr/>
        </p:nvSpPr>
        <p:spPr>
          <a:xfrm>
            <a:off x="2404872" y="3276660"/>
            <a:ext cx="502920" cy="0"/>
          </a:xfrm>
          <a:prstGeom prst="line">
            <a:avLst/>
          </a:prstGeom>
          <a:noFill/>
          <a:ln w="19050">
            <a:solidFill>
              <a:srgbClr val="BBD8C4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it-IT"/>
          </a:p>
        </p:txBody>
      </p:sp>
      <p:sp>
        <p:nvSpPr>
          <p:cNvPr id="8" name="Shape 6"/>
          <p:cNvSpPr/>
          <p:nvPr/>
        </p:nvSpPr>
        <p:spPr>
          <a:xfrm>
            <a:off x="5093208" y="3276660"/>
            <a:ext cx="502920" cy="0"/>
          </a:xfrm>
          <a:prstGeom prst="line">
            <a:avLst/>
          </a:prstGeom>
          <a:noFill/>
          <a:ln w="19050">
            <a:solidFill>
              <a:srgbClr val="BBD8C4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it-IT"/>
          </a:p>
        </p:txBody>
      </p:sp>
      <p:sp>
        <p:nvSpPr>
          <p:cNvPr id="9" name="Shape 7"/>
          <p:cNvSpPr/>
          <p:nvPr/>
        </p:nvSpPr>
        <p:spPr>
          <a:xfrm>
            <a:off x="7772400" y="3276660"/>
            <a:ext cx="502920" cy="0"/>
          </a:xfrm>
          <a:prstGeom prst="line">
            <a:avLst/>
          </a:prstGeom>
          <a:noFill/>
          <a:ln w="19050">
            <a:solidFill>
              <a:srgbClr val="BBD8C4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it-IT"/>
          </a:p>
        </p:txBody>
      </p:sp>
      <p:sp>
        <p:nvSpPr>
          <p:cNvPr id="10" name="Shape 8"/>
          <p:cNvSpPr/>
          <p:nvPr/>
        </p:nvSpPr>
        <p:spPr>
          <a:xfrm>
            <a:off x="658368" y="2490276"/>
            <a:ext cx="2395728" cy="192024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12700">
            <a:solidFill>
              <a:srgbClr val="BBD8C4">
                <a:alpha val="9000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1" name="Shape 9"/>
          <p:cNvSpPr/>
          <p:nvPr/>
        </p:nvSpPr>
        <p:spPr>
          <a:xfrm>
            <a:off x="804672" y="2654868"/>
            <a:ext cx="384048" cy="384048"/>
          </a:xfrm>
          <a:prstGeom prst="ellipse">
            <a:avLst/>
          </a:prstGeom>
          <a:solidFill>
            <a:srgbClr val="007D34"/>
          </a:solidFill>
          <a:ln w="12700">
            <a:solidFill>
              <a:srgbClr val="007D34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2" name="Text 10"/>
          <p:cNvSpPr/>
          <p:nvPr/>
        </p:nvSpPr>
        <p:spPr>
          <a:xfrm>
            <a:off x="941314" y="2798064"/>
            <a:ext cx="109728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1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1316736" y="2672120"/>
            <a:ext cx="1554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85000" lnSpcReduction="10000"/>
          </a:bodyPr>
          <a:lstStyle/>
          <a:p>
            <a:pPr marL="0" indent="0">
              <a:buNone/>
            </a:pPr>
            <a:r>
              <a:rPr lang="en-US" sz="1230" b="1" dirty="0">
                <a:solidFill>
                  <a:srgbClr val="1F1F1F"/>
                </a:solidFill>
              </a:rPr>
              <a:t>Modellare bene cambia tutto</a:t>
            </a:r>
            <a:endParaRPr lang="en-US" sz="1230" dirty="0"/>
          </a:p>
        </p:txBody>
      </p:sp>
      <p:sp>
        <p:nvSpPr>
          <p:cNvPr id="14" name="Text 12"/>
          <p:cNvSpPr/>
          <p:nvPr/>
        </p:nvSpPr>
        <p:spPr>
          <a:xfrm>
            <a:off x="1316736" y="2965764"/>
            <a:ext cx="1554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900" dirty="0">
                <a:solidFill>
                  <a:srgbClr val="5D6A62"/>
                </a:solidFill>
              </a:rPr>
              <a:t>Il caso reale viene tradotto in decisioni misurabili: siti aperti, comunità assegnate, capacità e distanza minima.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1316736" y="3715572"/>
            <a:ext cx="1554480" cy="384048"/>
          </a:xfrm>
          <a:prstGeom prst="roundRect">
            <a:avLst>
              <a:gd name="adj" fmla="val 9524"/>
            </a:avLst>
          </a:prstGeom>
          <a:solidFill>
            <a:srgbClr val="E9F5EE"/>
          </a:solidFill>
          <a:ln w="12700">
            <a:solidFill>
              <a:srgbClr val="DCEBE2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6" name="Text 14"/>
          <p:cNvSpPr/>
          <p:nvPr/>
        </p:nvSpPr>
        <p:spPr>
          <a:xfrm>
            <a:off x="1444752" y="3733861"/>
            <a:ext cx="1298448" cy="32918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20" b="1" dirty="0">
                <a:solidFill>
                  <a:srgbClr val="007D34"/>
                </a:solidFill>
              </a:rPr>
              <a:t>Output: una formulazione leggibile e verificabile</a:t>
            </a:r>
            <a:endParaRPr lang="en-US" sz="920" dirty="0"/>
          </a:p>
        </p:txBody>
      </p:sp>
      <p:sp>
        <p:nvSpPr>
          <p:cNvPr id="17" name="Shape 15"/>
          <p:cNvSpPr/>
          <p:nvPr/>
        </p:nvSpPr>
        <p:spPr>
          <a:xfrm>
            <a:off x="3364992" y="2490276"/>
            <a:ext cx="2395728" cy="1920240"/>
          </a:xfrm>
          <a:prstGeom prst="roundRect">
            <a:avLst>
              <a:gd name="adj" fmla="val 2857"/>
            </a:avLst>
          </a:prstGeom>
          <a:solidFill>
            <a:srgbClr val="F6FBF8"/>
          </a:solidFill>
          <a:ln w="12700">
            <a:solidFill>
              <a:srgbClr val="BBD8C4">
                <a:alpha val="9000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8" name="Shape 16"/>
          <p:cNvSpPr/>
          <p:nvPr/>
        </p:nvSpPr>
        <p:spPr>
          <a:xfrm>
            <a:off x="3511296" y="2654868"/>
            <a:ext cx="384048" cy="384048"/>
          </a:xfrm>
          <a:prstGeom prst="ellipse">
            <a:avLst/>
          </a:prstGeom>
          <a:solidFill>
            <a:srgbClr val="007D34"/>
          </a:solidFill>
          <a:ln w="12700">
            <a:solidFill>
              <a:srgbClr val="007D34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9" name="Text 17"/>
          <p:cNvSpPr/>
          <p:nvPr/>
        </p:nvSpPr>
        <p:spPr>
          <a:xfrm>
            <a:off x="3647938" y="2798064"/>
            <a:ext cx="109728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2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023360" y="2672120"/>
            <a:ext cx="1554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>
              <a:buNone/>
            </a:pPr>
            <a:r>
              <a:rPr lang="en-US" sz="1230" b="1" dirty="0">
                <a:solidFill>
                  <a:srgbClr val="1F1F1F"/>
                </a:solidFill>
              </a:rPr>
              <a:t>Gli esatti certificano</a:t>
            </a:r>
            <a:endParaRPr lang="en-US" sz="1230" dirty="0"/>
          </a:p>
        </p:txBody>
      </p:sp>
      <p:sp>
        <p:nvSpPr>
          <p:cNvPr id="21" name="Text 19"/>
          <p:cNvSpPr/>
          <p:nvPr/>
        </p:nvSpPr>
        <p:spPr>
          <a:xfrm>
            <a:off x="4023360" y="2965764"/>
            <a:ext cx="1554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/>
          </a:bodyPr>
          <a:lstStyle/>
          <a:p>
            <a:pPr marL="0" indent="0">
              <a:buNone/>
            </a:pPr>
            <a:r>
              <a:rPr lang="en-US" sz="900" dirty="0">
                <a:solidFill>
                  <a:srgbClr val="5D6A62"/>
                </a:solidFill>
              </a:rPr>
              <a:t>Compact e Threshold non servono solo a trovare soluzioni: danno il riferimento per dire quando una soluzione è davvero ottima.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4023360" y="3715572"/>
            <a:ext cx="1554480" cy="384048"/>
          </a:xfrm>
          <a:prstGeom prst="roundRect">
            <a:avLst>
              <a:gd name="adj" fmla="val 9524"/>
            </a:avLst>
          </a:prstGeom>
          <a:solidFill>
            <a:srgbClr val="E9F5EE"/>
          </a:solidFill>
          <a:ln w="12700">
            <a:solidFill>
              <a:srgbClr val="DCEBE2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3" name="Text 21"/>
          <p:cNvSpPr/>
          <p:nvPr/>
        </p:nvSpPr>
        <p:spPr>
          <a:xfrm>
            <a:off x="4151376" y="3733861"/>
            <a:ext cx="1298448" cy="36575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20" b="1" dirty="0">
                <a:solidFill>
                  <a:srgbClr val="007D34"/>
                </a:solidFill>
              </a:rPr>
              <a:t>Compact: 89/90 ottimi certificati</a:t>
            </a:r>
            <a:endParaRPr lang="en-US" sz="920" dirty="0"/>
          </a:p>
        </p:txBody>
      </p:sp>
      <p:sp>
        <p:nvSpPr>
          <p:cNvPr id="24" name="Shape 22"/>
          <p:cNvSpPr/>
          <p:nvPr/>
        </p:nvSpPr>
        <p:spPr>
          <a:xfrm>
            <a:off x="6053328" y="2490276"/>
            <a:ext cx="2395728" cy="192024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12700">
            <a:solidFill>
              <a:srgbClr val="BBD8C4">
                <a:alpha val="9000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5" name="Shape 23"/>
          <p:cNvSpPr/>
          <p:nvPr/>
        </p:nvSpPr>
        <p:spPr>
          <a:xfrm>
            <a:off x="6199632" y="2654868"/>
            <a:ext cx="384048" cy="384048"/>
          </a:xfrm>
          <a:prstGeom prst="ellipse">
            <a:avLst/>
          </a:prstGeom>
          <a:solidFill>
            <a:srgbClr val="007D34"/>
          </a:solidFill>
          <a:ln w="12700">
            <a:solidFill>
              <a:srgbClr val="007D34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6" name="Text 24"/>
          <p:cNvSpPr/>
          <p:nvPr/>
        </p:nvSpPr>
        <p:spPr>
          <a:xfrm>
            <a:off x="6344900" y="2798064"/>
            <a:ext cx="109728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3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6711696" y="2672120"/>
            <a:ext cx="1554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>
              <a:buNone/>
            </a:pPr>
            <a:r>
              <a:rPr lang="en-US" sz="1230" b="1" dirty="0">
                <a:solidFill>
                  <a:srgbClr val="1F1F1F"/>
                </a:solidFill>
              </a:rPr>
              <a:t>Le euristiche scalano</a:t>
            </a:r>
            <a:endParaRPr lang="en-US" sz="1230" dirty="0"/>
          </a:p>
        </p:txBody>
      </p:sp>
      <p:sp>
        <p:nvSpPr>
          <p:cNvPr id="28" name="Text 26"/>
          <p:cNvSpPr/>
          <p:nvPr/>
        </p:nvSpPr>
        <p:spPr>
          <a:xfrm>
            <a:off x="6711696" y="2965764"/>
            <a:ext cx="1554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900" dirty="0">
                <a:solidFill>
                  <a:srgbClr val="5D6A62"/>
                </a:solidFill>
              </a:rPr>
              <a:t>Greedy e 1-swap sono baseline; GRASP-VND aggiunge diversificazione, repair e ricerca locale VND.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6711696" y="3715572"/>
            <a:ext cx="1554480" cy="384048"/>
          </a:xfrm>
          <a:prstGeom prst="roundRect">
            <a:avLst>
              <a:gd name="adj" fmla="val 9524"/>
            </a:avLst>
          </a:prstGeom>
          <a:solidFill>
            <a:srgbClr val="E9F5EE"/>
          </a:solidFill>
          <a:ln w="12700">
            <a:solidFill>
              <a:srgbClr val="DCEBE2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0" name="Text 28"/>
          <p:cNvSpPr/>
          <p:nvPr/>
        </p:nvSpPr>
        <p:spPr>
          <a:xfrm>
            <a:off x="6839712" y="3733861"/>
            <a:ext cx="1298448" cy="36575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20000"/>
          </a:bodyPr>
          <a:lstStyle/>
          <a:p>
            <a:pPr marL="0" indent="0">
              <a:buNone/>
            </a:pPr>
            <a:r>
              <a:rPr lang="en-US" sz="920" b="1" dirty="0">
                <a:solidFill>
                  <a:srgbClr val="007D34"/>
                </a:solidFill>
              </a:rPr>
              <a:t>GRASP-VND: 90/90 ammissibili, 85/89 ottimi noti</a:t>
            </a:r>
            <a:endParaRPr lang="en-US" sz="920" dirty="0"/>
          </a:p>
        </p:txBody>
      </p:sp>
      <p:sp>
        <p:nvSpPr>
          <p:cNvPr id="31" name="Shape 29"/>
          <p:cNvSpPr/>
          <p:nvPr/>
        </p:nvSpPr>
        <p:spPr>
          <a:xfrm>
            <a:off x="8741664" y="2490276"/>
            <a:ext cx="2395728" cy="1920240"/>
          </a:xfrm>
          <a:prstGeom prst="roundRect">
            <a:avLst>
              <a:gd name="adj" fmla="val 2857"/>
            </a:avLst>
          </a:prstGeom>
          <a:solidFill>
            <a:srgbClr val="F6FBF8"/>
          </a:solidFill>
          <a:ln w="12700">
            <a:solidFill>
              <a:srgbClr val="BBD8C4">
                <a:alpha val="9000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2" name="Shape 30"/>
          <p:cNvSpPr/>
          <p:nvPr/>
        </p:nvSpPr>
        <p:spPr>
          <a:xfrm>
            <a:off x="8887968" y="2654868"/>
            <a:ext cx="384048" cy="384048"/>
          </a:xfrm>
          <a:prstGeom prst="ellipse">
            <a:avLst/>
          </a:prstGeom>
          <a:solidFill>
            <a:srgbClr val="007D34"/>
          </a:solidFill>
          <a:ln w="12700">
            <a:solidFill>
              <a:srgbClr val="007D34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3" name="Text 31"/>
          <p:cNvSpPr/>
          <p:nvPr/>
        </p:nvSpPr>
        <p:spPr>
          <a:xfrm>
            <a:off x="9024610" y="2798064"/>
            <a:ext cx="109728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4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9400032" y="2654868"/>
            <a:ext cx="1554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>
              <a:buNone/>
            </a:pPr>
            <a:r>
              <a:rPr lang="en-US" sz="1230" b="1" dirty="0">
                <a:solidFill>
                  <a:srgbClr val="1F1F1F"/>
                </a:solidFill>
              </a:rPr>
              <a:t>Gli esperimenti spiegano i limiti</a:t>
            </a:r>
            <a:endParaRPr lang="en-US" sz="1230" dirty="0"/>
          </a:p>
        </p:txBody>
      </p:sp>
      <p:sp>
        <p:nvSpPr>
          <p:cNvPr id="35" name="Text 33"/>
          <p:cNvSpPr/>
          <p:nvPr/>
        </p:nvSpPr>
        <p:spPr>
          <a:xfrm>
            <a:off x="9400032" y="2965764"/>
            <a:ext cx="1554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900" dirty="0">
                <a:solidFill>
                  <a:srgbClr val="5D6A62"/>
                </a:solidFill>
              </a:rPr>
              <a:t>Le classi tight e xlarge mostrano dove il problema diventa più difficile e dove la certificazione può mancare.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9400032" y="3715572"/>
            <a:ext cx="1554480" cy="384048"/>
          </a:xfrm>
          <a:prstGeom prst="roundRect">
            <a:avLst>
              <a:gd name="adj" fmla="val 9524"/>
            </a:avLst>
          </a:prstGeom>
          <a:solidFill>
            <a:srgbClr val="E9F5EE"/>
          </a:solidFill>
          <a:ln w="12700">
            <a:solidFill>
              <a:srgbClr val="DCEBE2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7" name="Text 35"/>
          <p:cNvSpPr/>
          <p:nvPr/>
        </p:nvSpPr>
        <p:spPr>
          <a:xfrm>
            <a:off x="9528048" y="3715572"/>
            <a:ext cx="12984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20" b="1" dirty="0">
                <a:solidFill>
                  <a:srgbClr val="007D34"/>
                </a:solidFill>
              </a:rPr>
              <a:t>Caso critico: xlarge_uniform_tight_004</a:t>
            </a:r>
            <a:endParaRPr lang="en-US" sz="920" dirty="0"/>
          </a:p>
        </p:txBody>
      </p:sp>
      <p:sp>
        <p:nvSpPr>
          <p:cNvPr id="38" name="Shape 36"/>
          <p:cNvSpPr/>
          <p:nvPr/>
        </p:nvSpPr>
        <p:spPr>
          <a:xfrm>
            <a:off x="658368" y="4849428"/>
            <a:ext cx="10844784" cy="1170432"/>
          </a:xfrm>
          <a:prstGeom prst="roundRect">
            <a:avLst>
              <a:gd name="adj" fmla="val 4688"/>
            </a:avLst>
          </a:prstGeom>
          <a:solidFill>
            <a:srgbClr val="F5F6F4"/>
          </a:solidFill>
          <a:ln w="12700">
            <a:solidFill>
              <a:srgbClr val="DCEBE2">
                <a:alpha val="9000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9" name="Shape 37"/>
          <p:cNvSpPr/>
          <p:nvPr/>
        </p:nvSpPr>
        <p:spPr>
          <a:xfrm>
            <a:off x="896112" y="5160324"/>
            <a:ext cx="438912" cy="438912"/>
          </a:xfrm>
          <a:prstGeom prst="ellipse">
            <a:avLst/>
          </a:prstGeom>
          <a:solidFill>
            <a:srgbClr val="007D34"/>
          </a:solidFill>
          <a:ln w="12700">
            <a:solidFill>
              <a:srgbClr val="007D34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40" name="Text 38"/>
          <p:cNvSpPr/>
          <p:nvPr/>
        </p:nvSpPr>
        <p:spPr>
          <a:xfrm>
            <a:off x="1023610" y="5319218"/>
            <a:ext cx="1828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→</a:t>
            </a:r>
            <a:endParaRPr lang="en-US" sz="1600" dirty="0"/>
          </a:p>
        </p:txBody>
      </p:sp>
      <p:sp>
        <p:nvSpPr>
          <p:cNvPr id="41" name="Text 39"/>
          <p:cNvSpPr/>
          <p:nvPr/>
        </p:nvSpPr>
        <p:spPr>
          <a:xfrm>
            <a:off x="1536192" y="5032308"/>
            <a:ext cx="15087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F1F1F"/>
                </a:solidFill>
              </a:rPr>
              <a:t>Takeaway finale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1536192" y="5324916"/>
            <a:ext cx="62636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1040" dirty="0">
                <a:solidFill>
                  <a:srgbClr val="5D6A62"/>
                </a:solidFill>
              </a:rPr>
              <a:t>Non abbiamo costruito un “decisore automatico”, ma un metodo trasparente: ogni scelta nasce da criteri espliciti, confronti riproducibili e risultati misurabili.</a:t>
            </a:r>
            <a:endParaRPr lang="en-US" sz="1040" dirty="0"/>
          </a:p>
        </p:txBody>
      </p:sp>
      <p:sp>
        <p:nvSpPr>
          <p:cNvPr id="43" name="Shape 41"/>
          <p:cNvSpPr/>
          <p:nvPr/>
        </p:nvSpPr>
        <p:spPr>
          <a:xfrm>
            <a:off x="8119872" y="5068884"/>
            <a:ext cx="0" cy="731520"/>
          </a:xfrm>
          <a:prstGeom prst="line">
            <a:avLst/>
          </a:prstGeom>
          <a:noFill/>
          <a:ln w="15240">
            <a:solidFill>
              <a:srgbClr val="BBD8C4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44" name="Text 42"/>
          <p:cNvSpPr/>
          <p:nvPr/>
        </p:nvSpPr>
        <p:spPr>
          <a:xfrm>
            <a:off x="8385048" y="5032308"/>
            <a:ext cx="20574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F1F1F"/>
                </a:solidFill>
              </a:rPr>
              <a:t>Prossimo passo naturale</a:t>
            </a:r>
            <a:endParaRPr lang="en-US" sz="1200" dirty="0"/>
          </a:p>
        </p:txBody>
      </p:sp>
      <p:sp>
        <p:nvSpPr>
          <p:cNvPr id="45" name="Text 43"/>
          <p:cNvSpPr/>
          <p:nvPr/>
        </p:nvSpPr>
        <p:spPr>
          <a:xfrm>
            <a:off x="8385048" y="5324916"/>
            <a:ext cx="26974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85000" lnSpcReduction="10000"/>
          </a:bodyPr>
          <a:lstStyle/>
          <a:p>
            <a:pPr marL="0" indent="0">
              <a:buNone/>
            </a:pPr>
            <a:r>
              <a:rPr lang="en-US" sz="980" dirty="0">
                <a:solidFill>
                  <a:srgbClr val="5D6A62"/>
                </a:solidFill>
              </a:rPr>
              <a:t>Passare da istanze sintetiche a istanze geo-realistiche, usando dati territoriali, vincoli normativi e scenari energetici reali.</a:t>
            </a:r>
            <a:endParaRPr lang="en-US" sz="980" dirty="0"/>
          </a:p>
        </p:txBody>
      </p:sp>
      <p:sp>
        <p:nvSpPr>
          <p:cNvPr id="46" name="Text 44"/>
          <p:cNvSpPr/>
          <p:nvPr/>
        </p:nvSpPr>
        <p:spPr>
          <a:xfrm>
            <a:off x="7909560" y="6547104"/>
            <a:ext cx="34290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80" dirty="0">
                <a:solidFill>
                  <a:srgbClr val="7F7F7F"/>
                </a:solidFill>
              </a:rPr>
              <a:t>AMOD · CMMOFLP Nuclear Siting</a:t>
            </a:r>
            <a:endParaRPr lang="en-US" sz="780" dirty="0"/>
          </a:p>
        </p:txBody>
      </p:sp>
      <p:sp>
        <p:nvSpPr>
          <p:cNvPr id="47" name="Text 45"/>
          <p:cNvSpPr/>
          <p:nvPr/>
        </p:nvSpPr>
        <p:spPr>
          <a:xfrm>
            <a:off x="11649456" y="6537960"/>
            <a:ext cx="20116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7F7F7F"/>
                </a:solidFill>
              </a:rPr>
              <a:t>13</a:t>
            </a:r>
            <a:endParaRPr lang="en-US" sz="800" dirty="0"/>
          </a:p>
        </p:txBody>
      </p:sp>
    </p:spTree>
    <p:extLst>
      <p:ext uri="{BB962C8B-B14F-4D97-AF65-F5344CB8AC3E}">
        <p14:creationId xmlns:p14="http://schemas.microsoft.com/office/powerpoint/2010/main" val="212619142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piè di pagina 1">
            <a:extLst>
              <a:ext uri="{FF2B5EF4-FFF2-40B4-BE49-F238E27FC236}">
                <a16:creationId xmlns:a16="http://schemas.microsoft.com/office/drawing/2014/main" id="{EBCF5E18-0526-3FB4-98A9-E1C9F75DDB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343243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PROD_NEXTUNIQUEID" val="10009"/>
  <p:tag name="MMPROD_UIDATA" val="&lt;database version=&quot;7.0&quot;&gt;&lt;object type=&quot;1&quot; unique_id=&quot;10001&quot;&gt;&lt;object type=&quot;8&quot; unique_id=&quot;10002&quot;&gt;&lt;/object&gt;&lt;object type=&quot;2&quot; unique_id=&quot;10003&quot;&gt;&lt;object type=&quot;3&quot; unique_id=&quot;10004&quot;&gt;&lt;property id=&quot;20148&quot; value=&quot;5&quot;/&gt;&lt;property id=&quot;20300&quot; value=&quot;Slide 1 - &amp;quot;A.A. 2015/2016&amp;quot;&quot;/&gt;&lt;property id=&quot;20307&quot; value=&quot;256&quot;/&gt;&lt;/object&gt;&lt;object type=&quot;3&quot; unique_id=&quot;10005&quot;&gt;&lt;property id=&quot;20148&quot; value=&quot;5&quot;/&gt;&lt;property id=&quot;20300&quot; value=&quot;Slide 2 - &amp;quot;Perché orientarsi&amp;quot;&quot;/&gt;&lt;property id=&quot;20307&quot; value=&quot;308&quot;/&gt;&lt;/object&gt;&lt;object type=&quot;3&quot; unique_id=&quot;10006&quot;&gt;&lt;property id=&quot;20148&quot; value=&quot;5&quot;/&gt;&lt;property id=&quot;20300&quot; value=&quot;Slide 3 - &amp;quot;Tor Vergata ieri&amp;quot;&quot;/&gt;&lt;property id=&quot;20307&quot; value=&quot;260&quot;/&gt;&lt;/object&gt;&lt;object type=&quot;3&quot; unique_id=&quot;10007&quot;&gt;&lt;property id=&quot;20148&quot; value=&quot;5&quot;/&gt;&lt;property id=&quot;20300&quot; value=&quot;Slide 4 - &amp;quot;Tor Vergata oggi&amp;quot;&quot;/&gt;&lt;property id=&quot;20307&quot; value=&quot;309&quot;/&gt;&lt;/object&gt;&lt;object type=&quot;3&quot; unique_id=&quot;10009&quot;&gt;&lt;property id=&quot;20148&quot; value=&quot;5&quot;/&gt;&lt;property id=&quot;20300&quot; value=&quot;Slide 5 - &amp;quot;Perché iscriversi a Tor Vergata?&amp;quot;&quot;/&gt;&lt;property id=&quot;20307&quot; value=&quot;312&quot;/&gt;&lt;/object&gt;&lt;object type=&quot;3&quot; unique_id=&quot;10042&quot;&gt;&lt;property id=&quot;20148&quot; value=&quot;5&quot;/&gt;&lt;property id=&quot;20300&quot; value=&quot;Slide 7 - &amp;quot;Capacità di inserimento occupazionale&amp;quot;&quot;/&gt;&lt;property id=&quot;20307&quot; value=&quot;314&quot;/&gt;&lt;/object&gt;&lt;object type=&quot;3&quot; unique_id=&quot;10566&quot;&gt;&lt;property id=&quot;20148&quot; value=&quot;5&quot;/&gt;&lt;property id=&quot;20300&quot; value=&quot;Slide 10 - &amp;quot;Chi sceglie Ingegneria&amp;quot;&quot;/&gt;&lt;property id=&quot;20307&quot; value=&quot;317&quot;/&gt;&lt;/object&gt;&lt;object type=&quot;3&quot; unique_id=&quot;10567&quot;&gt;&lt;property id=&quot;20148&quot; value=&quot;5&quot;/&gt;&lt;property id=&quot;20300&quot; value=&quot;Slide 11 - &amp;quot;Il ruolo dell’ingegnere&amp;quot;&quot;/&gt;&lt;property id=&quot;20307&quot; value=&quot;318&quot;/&gt;&lt;/object&gt;&lt;object type=&quot;3&quot; unique_id=&quot;10568&quot;&gt;&lt;property id=&quot;20148&quot; value=&quot;5&quot;/&gt;&lt;property id=&quot;20300&quot; value=&quot;Slide 12 - &amp;quot;La sede di Ingegneria&amp;quot;&quot;/&gt;&lt;property id=&quot;20307&quot; value=&quot;319&quot;/&gt;&lt;/object&gt;&lt;object type=&quot;3&quot; unique_id=&quot;10569&quot;&gt;&lt;property id=&quot;20148&quot; value=&quot;5&quot;/&gt;&lt;property id=&quot;20300&quot; value=&quot;Slide 13 - &amp;quot;La sede di Ingegneria&amp;quot;&quot;/&gt;&lt;property id=&quot;20307&quot; value=&quot;320&quot;/&gt;&lt;/object&gt;&lt;object type=&quot;3&quot; unique_id=&quot;10570&quot;&gt;&lt;property id=&quot;20148&quot; value=&quot;5&quot;/&gt;&lt;property id=&quot;20300&quot; value=&quot;Slide 14 - &amp;quot;La sede di Ingegneria&amp;quot;&quot;/&gt;&lt;property id=&quot;20307&quot; value=&quot;321&quot;/&gt;&lt;/object&gt;&lt;object type=&quot;3&quot; unique_id=&quot;10571&quot;&gt;&lt;property id=&quot;20148&quot; value=&quot;5&quot;/&gt;&lt;property id=&quot;20300&quot; value=&quot;Slide 15 - &amp;quot;I percorsi didattici&amp;quot;&quot;/&gt;&lt;property id=&quot;20307&quot; value=&quot;322&quot;/&gt;&lt;/object&gt;&lt;object type=&quot;3&quot; unique_id=&quot;10572&quot;&gt;&lt;property id=&quot;20148&quot; value=&quot;5&quot;/&gt;&lt;property id=&quot;20300&quot; value=&quot;Slide 16 - &amp;quot;L’offerta didattica (Lauree Triennali e a Ciclo Unico)&amp;quot;&quot;/&gt;&lt;property id=&quot;20307&quot; value=&quot;323&quot;/&gt;&lt;/object&gt;&lt;object type=&quot;3&quot; unique_id=&quot;10573&quot;&gt;&lt;property id=&quot;20148&quot; value=&quot;5&quot;/&gt;&lt;property id=&quot;20300&quot; value=&quot;Slide 17 - &amp;quot;L’offerta didattica (Lauree Magistrali)&amp;quot;&quot;/&gt;&lt;property id=&quot;20307&quot; value=&quot;324&quot;/&gt;&lt;/object&gt;&lt;object type=&quot;3&quot; unique_id=&quot;10578&quot;&gt;&lt;property id=&quot;20148&quot; value=&quot;5&quot;/&gt;&lt;property id=&quot;20300&quot; value=&quot;Slide 20 - &amp;quot;Test di ingresso per gli altri corsi di laurea&amp;quot;&quot;/&gt;&lt;property id=&quot;20307&quot; value=&quot;329&quot;/&gt;&lt;/object&gt;&lt;object type=&quot;3&quot; unique_id=&quot;10580&quot;&gt;&lt;property id=&quot;20148&quot; value=&quot;5&quot;/&gt;&lt;property id=&quot;20300&quot; value=&quot;Slide 21 - &amp;quot;Orientamento e Tutoraggio&amp;quot;&quot;/&gt;&lt;property id=&quot;20307&quot; value=&quot;331&quot;/&gt;&lt;/object&gt;&lt;object type=&quot;3&quot; unique_id=&quot;10584&quot;&gt;&lt;property id=&quot;20148&quot; value=&quot;5&quot;/&gt;&lt;property id=&quot;20300&quot; value=&quot;Slide 22 - &amp;quot;Le opinioni degli studenti&amp;quot;&quot;/&gt;&lt;property id=&quot;20307&quot; value=&quot;335&quot;/&gt;&lt;/object&gt;&lt;object type=&quot;3&quot; unique_id=&quot;10585&quot;&gt;&lt;property id=&quot;20148&quot; value=&quot;5&quot;/&gt;&lt;property id=&quot;20300&quot; value=&quot;Slide 23 - &amp;quot;Possibilità occupazionali&amp;quot;&quot;/&gt;&lt;property id=&quot;20307&quot; value=&quot;336&quot;/&gt;&lt;/object&gt;&lt;object type=&quot;3&quot; unique_id=&quot;10783&quot;&gt;&lt;property id=&quot;20148&quot; value=&quot;5&quot;/&gt;&lt;property id=&quot;20300&quot; value=&quot;Slide 6 - &amp;quot;Valutazione della ricerca&amp;quot;&quot;/&gt;&lt;property id=&quot;20307&quot; value=&quot;339&quot;/&gt;&lt;/object&gt;&lt;object type=&quot;3&quot; unique_id=&quot;10784&quot;&gt;&lt;property id=&quot;20148&quot; value=&quot;5&quot;/&gt;&lt;property id=&quot;20300&quot; value=&quot;Slide 8 - &amp;quot;Scegliere un percorso di studio&amp;quot;&quot;/&gt;&lt;property id=&quot;20307&quot; value=&quot;340&quot;/&gt;&lt;/object&gt;&lt;object type=&quot;3&quot; unique_id=&quot;10785&quot;&gt;&lt;property id=&quot;20148&quot; value=&quot;5&quot;/&gt;&lt;property id=&quot;20300&quot; value=&quot;Slide 9 - &amp;quot;Ingegneria&amp;quot;&quot;/&gt;&lt;property id=&quot;20307&quot; value=&quot;341&quot;/&gt;&lt;/object&gt;&lt;object type=&quot;3&quot; unique_id=&quot;10786&quot;&gt;&lt;property id=&quot;20148&quot; value=&quot;5&quot;/&gt;&lt;property id=&quot;20300&quot; value=&quot;Slide 24 - &amp;quot;Riferimenti&amp;quot;&quot;/&gt;&lt;property id=&quot;20307&quot; value=&quot;342&quot;/&gt;&lt;/object&gt;&lt;object type=&quot;3&quot; unique_id=&quot;10831&quot;&gt;&lt;property id=&quot;20148&quot; value=&quot;5&quot;/&gt;&lt;property id=&quot;20300&quot; value=&quot;Slide 19 - &amp;quot;Test di ingresso per Edile – Architettura&amp;quot;&quot;/&gt;&lt;property id=&quot;20307&quot; value=&quot;344&quot;/&gt;&lt;/object&gt;&lt;object type=&quot;3&quot; unique_id=&quot;11004&quot;&gt;&lt;property id=&quot;20148&quot; value=&quot;5&quot;/&gt;&lt;property id=&quot;20300&quot; value=&quot;Slide 18 - &amp;quot;Test di ingresso&amp;quot;&quot;/&gt;&lt;property id=&quot;20307&quot; value=&quot;345&quot;/&gt;&lt;/object&gt;&lt;/object&gt;&lt;/object&gt;&lt;/database&gt;"/>
  <p:tag name="SECTOMILLISECCONVERTED" val="1"/>
</p:tagLst>
</file>

<file path=ppt/theme/theme1.xml><?xml version="1.0" encoding="utf-8"?>
<a:theme xmlns:a="http://schemas.openxmlformats.org/drawingml/2006/main" name="Sfaccettatura">
  <a:themeElements>
    <a:clrScheme name="Colori Tor Vergata">
      <a:dk1>
        <a:srgbClr val="000000"/>
      </a:dk1>
      <a:lt1>
        <a:srgbClr val="FFFFFF"/>
      </a:lt1>
      <a:dk2>
        <a:srgbClr val="000000"/>
      </a:dk2>
      <a:lt2>
        <a:srgbClr val="7F7F7F"/>
      </a:lt2>
      <a:accent1>
        <a:srgbClr val="007D34"/>
      </a:accent1>
      <a:accent2>
        <a:srgbClr val="F98922"/>
      </a:accent2>
      <a:accent3>
        <a:srgbClr val="FFFFFF"/>
      </a:accent3>
      <a:accent4>
        <a:srgbClr val="000000"/>
      </a:accent4>
      <a:accent5>
        <a:srgbClr val="1D8BC2"/>
      </a:accent5>
      <a:accent6>
        <a:srgbClr val="7F7F7F"/>
      </a:accent6>
      <a:hlink>
        <a:srgbClr val="007D34"/>
      </a:hlink>
      <a:folHlink>
        <a:srgbClr val="7F7F7F"/>
      </a:folHlink>
    </a:clrScheme>
    <a:fontScheme name="Caratteri TorVergata">
      <a:majorFont>
        <a:latin typeface="Circe"/>
        <a:ea typeface=""/>
        <a:cs typeface=""/>
      </a:majorFont>
      <a:minorFont>
        <a:latin typeface="Circe"/>
        <a:ea typeface=""/>
        <a:cs typeface="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>
    <a:spDef>
      <a:spPr>
        <a:noFill/>
        <a:ln>
          <a:solidFill>
            <a:srgbClr val="898989"/>
          </a:solidFill>
        </a:ln>
      </a:spPr>
      <a:bodyPr rtlCol="0" anchor="ctr"/>
      <a:lstStyle>
        <a:defPPr algn="l">
          <a:defRPr sz="1400" smtClean="0">
            <a:solidFill>
              <a:schemeClr val="tx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ppt/theme/theme2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3CBD8E9BD231E8449C5B02FFFC904B17" ma:contentTypeVersion="17" ma:contentTypeDescription="Creare un nuovo documento." ma:contentTypeScope="" ma:versionID="26d9f487d3adf35548f1d603e8fb4818">
  <xsd:schema xmlns:xsd="http://www.w3.org/2001/XMLSchema" xmlns:xs="http://www.w3.org/2001/XMLSchema" xmlns:p="http://schemas.microsoft.com/office/2006/metadata/properties" xmlns:ns2="fc2c908a-a07d-4cac-8e16-b3afa39179c0" xmlns:ns3="af27f4f9-a966-402c-b167-42797591d91b" targetNamespace="http://schemas.microsoft.com/office/2006/metadata/properties" ma:root="true" ma:fieldsID="c61e30d12394cc81306abb7729ef1bd4" ns2:_="" ns3:_="">
    <xsd:import namespace="fc2c908a-a07d-4cac-8e16-b3afa39179c0"/>
    <xsd:import namespace="af27f4f9-a966-402c-b167-42797591d91b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Tags" minOccurs="0"/>
                <xsd:element ref="ns2:MediaServiceDateTaken" minOccurs="0"/>
                <xsd:element ref="ns2:MediaServiceOCR" minOccurs="0"/>
                <xsd:element ref="ns3:SharedWithUsers" minOccurs="0"/>
                <xsd:element ref="ns3:SharedWithDetails" minOccurs="0"/>
                <xsd:element ref="ns2:MediaServiceLocation" minOccurs="0"/>
                <xsd:element ref="ns2:MediaServiceGenerationTime" minOccurs="0"/>
                <xsd:element ref="ns2:MediaServiceEventHashCode" minOccurs="0"/>
                <xsd:element ref="ns2:MediaServiceAutoKeyPoints" minOccurs="0"/>
                <xsd:element ref="ns2:MediaServiceKeyPoints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c2c908a-a07d-4cac-8e16-b3afa39179c0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description="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description="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MediaServiceAutoTags" ma:description="" ma:internalName="MediaServiceAutoTags" ma:readOnly="true">
      <xsd:simpleType>
        <xsd:restriction base="dms:Text"/>
      </xsd:simpleType>
    </xsd:element>
    <xsd:element name="MediaServiceDateTaken" ma:index="11" nillable="true" ma:displayName="MediaServiceDateTaken" ma:description="" ma:hidden="true" ma:internalName="MediaServiceDateTaken" ma:readOnly="true">
      <xsd:simpleType>
        <xsd:restriction base="dms:Text"/>
      </xsd:simpleType>
    </xsd:element>
    <xsd:element name="MediaServiceOCR" ma:index="12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Location" ma:index="15" nillable="true" ma:displayName="Location" ma:internalName="MediaServiceLocation" ma:readOnly="true">
      <xsd:simpleType>
        <xsd:restriction base="dms:Text"/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AutoKeyPoints" ma:index="18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9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LengthInSeconds" ma:index="20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22" nillable="true" ma:taxonomy="true" ma:internalName="lcf76f155ced4ddcb4097134ff3c332f" ma:taxonomyFieldName="MediaServiceImageTags" ma:displayName="Tag immagine" ma:readOnly="false" ma:fieldId="{5cf76f15-5ced-4ddc-b409-7134ff3c332f}" ma:taxonomyMulti="true" ma:sspId="1013fbc9-b00e-4d37-9f0b-4b76e146b303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SearchProperties" ma:index="24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f27f4f9-a966-402c-b167-42797591d91b" elementFormDefault="qualified">
    <xsd:import namespace="http://schemas.microsoft.com/office/2006/documentManagement/types"/>
    <xsd:import namespace="http://schemas.microsoft.com/office/infopath/2007/PartnerControls"/>
    <xsd:element name="SharedWithUsers" ma:index="13" nillable="true" ma:displayName="Condiviso con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4" nillable="true" ma:displayName="Condiviso con dettagli" ma:internalName="SharedWithDetails" ma:readOnly="true">
      <xsd:simpleType>
        <xsd:restriction base="dms:Note">
          <xsd:maxLength value="255"/>
        </xsd:restriction>
      </xsd:simpleType>
    </xsd:element>
    <xsd:element name="TaxCatchAll" ma:index="23" nillable="true" ma:displayName="Taxonomy Catch All Column" ma:hidden="true" ma:list="{0ce19352-7865-43d1-b986-da73fd9cf04a}" ma:internalName="TaxCatchAll" ma:showField="CatchAllData" ma:web="af27f4f9-a966-402c-b167-42797591d91b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i contenuto"/>
        <xsd:element ref="dc:title" minOccurs="0" maxOccurs="1" ma:index="4" ma:displayName="Tito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fc2c908a-a07d-4cac-8e16-b3afa39179c0">
      <Terms xmlns="http://schemas.microsoft.com/office/infopath/2007/PartnerControls"/>
    </lcf76f155ced4ddcb4097134ff3c332f>
    <TaxCatchAll xmlns="af27f4f9-a966-402c-b167-42797591d91b" xsi:nil="true"/>
  </documentManagement>
</p:properties>
</file>

<file path=customXml/itemProps1.xml><?xml version="1.0" encoding="utf-8"?>
<ds:datastoreItem xmlns:ds="http://schemas.openxmlformats.org/officeDocument/2006/customXml" ds:itemID="{94DB6E06-4FEE-4D1B-BE36-EDB1131568BF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6A6CE3C0-022D-400F-8C28-A459E63F8F66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fc2c908a-a07d-4cac-8e16-b3afa39179c0"/>
    <ds:schemaRef ds:uri="af27f4f9-a966-402c-b167-42797591d91b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04B4B71D-2B27-406B-A849-6E7D458952C4}">
  <ds:schemaRefs>
    <ds:schemaRef ds:uri="fc2c908a-a07d-4cac-8e16-b3afa39179c0"/>
    <ds:schemaRef ds:uri="http://www.w3.org/XML/1998/namespace"/>
    <ds:schemaRef ds:uri="http://purl.org/dc/elements/1.1/"/>
    <ds:schemaRef ds:uri="http://schemas.microsoft.com/office/infopath/2007/PartnerControls"/>
    <ds:schemaRef ds:uri="http://purl.org/dc/dcmitype/"/>
    <ds:schemaRef ds:uri="http://schemas.microsoft.com/office/2006/metadata/properties"/>
    <ds:schemaRef ds:uri="http://schemas.microsoft.com/office/2006/documentManagement/types"/>
    <ds:schemaRef ds:uri="http://schemas.openxmlformats.org/package/2006/metadata/core-properties"/>
    <ds:schemaRef ds:uri="af27f4f9-a966-402c-b167-42797591d91b"/>
    <ds:schemaRef ds:uri="http://purl.org/dc/terms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25729</TotalTime>
  <Words>2285</Words>
  <Application>Microsoft Office PowerPoint</Application>
  <PresentationFormat>Widescreen</PresentationFormat>
  <Paragraphs>452</Paragraphs>
  <Slides>14</Slides>
  <Notes>13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6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14</vt:i4>
      </vt:variant>
    </vt:vector>
  </HeadingPairs>
  <TitlesOfParts>
    <vt:vector size="21" baseType="lpstr">
      <vt:lpstr>Circe</vt:lpstr>
      <vt:lpstr>Arial</vt:lpstr>
      <vt:lpstr>Aptos Display</vt:lpstr>
      <vt:lpstr>Cambria Math</vt:lpstr>
      <vt:lpstr>Aptos</vt:lpstr>
      <vt:lpstr>Wingdings 3</vt:lpstr>
      <vt:lpstr>Sfaccettatura</vt:lpstr>
      <vt:lpstr>CMMOFLP Nuclear Siting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</vt:vector>
  </TitlesOfParts>
  <Manager>Max.Schiraldi@uniroma2.eu</Manager>
  <Company>Università degli Studi di Roma Tor Vergata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Università degli Studi di Roma Tor Vergata</dc:title>
  <dc:subject>FORMAT; TEMPLATE; SCHEMA</dc:subject>
  <dc:creator>Max.Schiraldi@uniroma2.eu</dc:creator>
  <cp:keywords>Università degli Studi di Roma Tor Vergata</cp:keywords>
  <dc:description>Università degli Studi di Roma Tor Vergata</dc:description>
  <cp:lastModifiedBy>valerio torac</cp:lastModifiedBy>
  <cp:revision>374</cp:revision>
  <cp:lastPrinted>2026-07-20T14:50:39Z</cp:lastPrinted>
  <dcterms:created xsi:type="dcterms:W3CDTF">2014-06-03T13:46:59Z</dcterms:created>
  <dcterms:modified xsi:type="dcterms:W3CDTF">2026-07-21T17:34:33Z</dcterms:modified>
  <cp:category>FORMAT;TEMPLATE;SCHEMA</cp:category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0x0101003CBD8E9BD231E8449C5B02FFFC904B17</vt:lpwstr>
  </property>
  <property fmtid="{D5CDD505-2E9C-101B-9397-08002B2CF9AE}" pid="3" name="MediaServiceImageTags">
    <vt:lpwstr/>
  </property>
</Properties>
</file>